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"/>
  </p:notesMasterIdLst>
  <p:sldIdLst>
    <p:sldId id="286" r:id="rId2"/>
    <p:sldId id="322" r:id="rId3"/>
    <p:sldId id="351" r:id="rId4"/>
    <p:sldId id="352" r:id="rId5"/>
    <p:sldId id="361" r:id="rId6"/>
    <p:sldId id="353" r:id="rId7"/>
    <p:sldId id="362" r:id="rId8"/>
    <p:sldId id="354" r:id="rId9"/>
    <p:sldId id="355" r:id="rId10"/>
    <p:sldId id="356" r:id="rId11"/>
    <p:sldId id="357" r:id="rId12"/>
    <p:sldId id="358" r:id="rId13"/>
    <p:sldId id="299" r:id="rId14"/>
    <p:sldId id="304" r:id="rId15"/>
    <p:sldId id="3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9/21/2026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" y="64008"/>
            <a:ext cx="9011412" cy="5120639"/>
          </a:xfrm>
        </p:spPr>
        <p:txBody>
          <a:bodyPr>
            <a:normAutofit/>
          </a:bodyPr>
          <a:lstStyle>
            <a:lvl1pPr>
              <a:defRPr sz="825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102" y="5360878"/>
            <a:ext cx="7527798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0854" y="5749927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837593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090246"/>
            <a:ext cx="8130470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102" y="1880756"/>
            <a:ext cx="8130470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586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22530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886" y="4676177"/>
            <a:ext cx="812672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886" y="6065134"/>
            <a:ext cx="812672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5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9143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5715000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47944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411359"/>
            <a:ext cx="2802008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7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2" y="4403039"/>
            <a:ext cx="2797436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713339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6438900"/>
            <a:ext cx="1285726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38172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2823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169545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102" y="1090244"/>
            <a:ext cx="7527798" cy="5159257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5868"/>
            <a:ext cx="603146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134616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205" y="1088703"/>
            <a:ext cx="6359304" cy="1395553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2523" y="2484255"/>
            <a:ext cx="6350669" cy="353951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1500"/>
            </a:lvl1pPr>
            <a:lvl2pPr marL="514350" indent="-342900">
              <a:lnSpc>
                <a:spcPct val="100000"/>
              </a:lnSpc>
              <a:buFont typeface="+mj-lt"/>
              <a:buAutoNum type="arabicPeriod"/>
              <a:defRPr sz="1500"/>
            </a:lvl2pPr>
            <a:lvl3pPr marL="600075" indent="-257175">
              <a:lnSpc>
                <a:spcPct val="100000"/>
              </a:lnSpc>
              <a:buFont typeface="+mj-lt"/>
              <a:buAutoNum type="arabicPeriod"/>
              <a:defRPr sz="1500"/>
            </a:lvl3pPr>
            <a:lvl4pPr marL="771525" indent="-257175">
              <a:lnSpc>
                <a:spcPct val="100000"/>
              </a:lnSpc>
              <a:buFont typeface="+mj-lt"/>
              <a:buAutoNum type="arabicPeriod"/>
              <a:defRPr sz="1500"/>
            </a:lvl4pPr>
            <a:lvl5pPr marL="942975" indent="-257175">
              <a:lnSpc>
                <a:spcPct val="100000"/>
              </a:lnSpc>
              <a:buFont typeface="+mj-lt"/>
              <a:buAutoNum type="arabicPeriod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85808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102" y="1088136"/>
            <a:ext cx="4312044" cy="155448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6102" y="2651760"/>
            <a:ext cx="4312044" cy="3694176"/>
          </a:xfrm>
        </p:spPr>
        <p:txBody>
          <a:bodyPr>
            <a:normAutofit/>
          </a:bodyPr>
          <a:lstStyle>
            <a:lvl1pPr marL="257175" indent="-257175">
              <a:lnSpc>
                <a:spcPct val="100000"/>
              </a:lnSpc>
              <a:buFont typeface="System Font Regular"/>
              <a:buChar char="-"/>
              <a:defRPr sz="1500"/>
            </a:lvl1pPr>
            <a:lvl2pPr>
              <a:lnSpc>
                <a:spcPct val="100000"/>
              </a:lnSpc>
              <a:defRPr sz="1500"/>
            </a:lvl2pPr>
            <a:lvl3pPr>
              <a:lnSpc>
                <a:spcPct val="100000"/>
              </a:lnSpc>
              <a:defRPr sz="15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205" y="6438900"/>
            <a:ext cx="2936553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54758" y="6438900"/>
            <a:ext cx="84459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99348" y="6438900"/>
            <a:ext cx="528798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6400" y="0"/>
            <a:ext cx="36576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382602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58" y="1114856"/>
            <a:ext cx="2942591" cy="4083580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0959" y="1115290"/>
            <a:ext cx="4357285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42460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76" y="1114655"/>
            <a:ext cx="2078495" cy="3675552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00900" y="1129145"/>
            <a:ext cx="5845673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49602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341" y="1111101"/>
            <a:ext cx="4754559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" y="0"/>
            <a:ext cx="33799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89340" y="2402887"/>
            <a:ext cx="4754561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531710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341" y="6438900"/>
            <a:ext cx="3581177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38172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2823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41568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744" y="1112104"/>
            <a:ext cx="5491211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264482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832056" y="2187258"/>
            <a:ext cx="551184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531710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32057" y="6438900"/>
            <a:ext cx="4338461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38172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2823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808739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46" y="1112104"/>
            <a:ext cx="5507673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0045" y="2187258"/>
            <a:ext cx="5507674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2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0045" y="6438900"/>
            <a:ext cx="4334291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21991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6642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99170" y="0"/>
            <a:ext cx="264482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45653484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50" y="1115737"/>
            <a:ext cx="3553937" cy="1288169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144" y="2552124"/>
            <a:ext cx="3553838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050" y="6438900"/>
            <a:ext cx="2380549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64254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18905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4365666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797" y="1111102"/>
            <a:ext cx="2860384" cy="1493863"/>
          </a:xfrm>
        </p:spPr>
        <p:txBody>
          <a:bodyPr anchor="t">
            <a:no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3798" y="2700671"/>
            <a:ext cx="2860385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797" y="6438900"/>
            <a:ext cx="1687001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78453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3104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94174" y="0"/>
            <a:ext cx="524982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82794066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20656" y="1112432"/>
            <a:ext cx="2423245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" y="0"/>
            <a:ext cx="561133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25960" y="3133255"/>
            <a:ext cx="241794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171450" indent="0">
              <a:lnSpc>
                <a:spcPct val="100000"/>
              </a:lnSpc>
              <a:buNone/>
              <a:defRPr lang="en-US" dirty="0"/>
            </a:lvl2pPr>
            <a:lvl3pPr marL="342900" indent="0">
              <a:lnSpc>
                <a:spcPct val="100000"/>
              </a:lnSpc>
              <a:buNone/>
              <a:defRPr lang="en-US" dirty="0"/>
            </a:lvl3pPr>
            <a:lvl4pPr marL="514350" indent="0">
              <a:lnSpc>
                <a:spcPct val="100000"/>
              </a:lnSpc>
              <a:buNone/>
              <a:defRPr lang="en-US" dirty="0"/>
            </a:lvl4pPr>
            <a:lvl5pPr marL="6858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531710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20655" y="6438900"/>
            <a:ext cx="1249862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238172" y="6438900"/>
            <a:ext cx="648528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2823" y="6438900"/>
            <a:ext cx="451077" cy="419100"/>
          </a:xfrm>
        </p:spPr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420793"/>
      </p:ext>
    </p:extLst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93" y="3987803"/>
            <a:ext cx="2283716" cy="2309785"/>
          </a:xfrm>
        </p:spPr>
        <p:txBody>
          <a:bodyPr anchor="t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9144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91952" y="3987803"/>
            <a:ext cx="5595022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171450" indent="0">
              <a:lnSpc>
                <a:spcPct val="100000"/>
              </a:lnSpc>
              <a:buNone/>
              <a:defRPr lang="en-US" dirty="0"/>
            </a:lvl2pPr>
            <a:lvl3pPr marL="342900" indent="0">
              <a:lnSpc>
                <a:spcPct val="100000"/>
              </a:lnSpc>
              <a:buNone/>
              <a:defRPr lang="en-US" dirty="0"/>
            </a:lvl3pPr>
            <a:lvl4pPr marL="514350" indent="0">
              <a:lnSpc>
                <a:spcPct val="100000"/>
              </a:lnSpc>
              <a:buNone/>
              <a:defRPr lang="en-US" dirty="0"/>
            </a:lvl4pPr>
            <a:lvl5pPr marL="6858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4115092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959549"/>
      </p:ext>
    </p:extLst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205" y="1120990"/>
            <a:ext cx="7857990" cy="969264"/>
          </a:xfrm>
        </p:spPr>
        <p:txBody>
          <a:bodyPr anchor="t">
            <a:no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4572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809" y="2286008"/>
            <a:ext cx="3657386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018809" y="6438900"/>
            <a:ext cx="2219363" cy="4191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664441"/>
      </p:ext>
    </p:extLst>
  </p:cSld>
  <p:clrMapOvr>
    <a:masterClrMapping/>
  </p:clrMapOvr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206" y="1122201"/>
            <a:ext cx="2772644" cy="1505157"/>
          </a:xfrm>
        </p:spPr>
        <p:txBody>
          <a:bodyPr anchor="t">
            <a:no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5826" y="2840182"/>
            <a:ext cx="2705024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35255" y="1122201"/>
            <a:ext cx="4951718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482898"/>
      </p:ext>
    </p:extLst>
  </p:cSld>
  <p:clrMapOvr>
    <a:masterClrMapping/>
  </p:clrMapOvr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478" y="4757193"/>
            <a:ext cx="4858422" cy="1126554"/>
          </a:xfrm>
        </p:spPr>
        <p:txBody>
          <a:bodyPr anchor="b">
            <a:normAutofit/>
          </a:bodyPr>
          <a:lstStyle>
            <a:lvl1pPr algn="r">
              <a:defRPr sz="15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" y="64008"/>
            <a:ext cx="9020556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23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0854" y="5715000"/>
            <a:ext cx="603146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209931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286261"/>
            <a:ext cx="798957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6102" y="1039095"/>
            <a:ext cx="706374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4500" b="1"/>
            </a:lvl1pPr>
            <a:lvl2pPr marL="171450" indent="0">
              <a:lnSpc>
                <a:spcPct val="90000"/>
              </a:lnSpc>
              <a:buNone/>
              <a:defRPr sz="4500" b="1"/>
            </a:lvl2pPr>
            <a:lvl3pPr marL="342900" indent="0">
              <a:lnSpc>
                <a:spcPct val="90000"/>
              </a:lnSpc>
              <a:buNone/>
              <a:defRPr sz="450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5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48878"/>
      </p:ext>
    </p:extLst>
  </p:cSld>
  <p:clrMapOvr>
    <a:masterClrMapping/>
  </p:clrMapOvr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5418361"/>
            <a:ext cx="75438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15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438" y="63500"/>
            <a:ext cx="8983266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40854" y="5715292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502420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119132"/>
            <a:ext cx="7417550" cy="1204593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1639" y="2440568"/>
            <a:ext cx="3631129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440569"/>
            <a:ext cx="36045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B9629F-B0F8-4D9F-9141-82A53696BF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111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206" y="1115329"/>
            <a:ext cx="7462091" cy="838856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067" y="1923190"/>
            <a:ext cx="3612356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350" b="1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1612" y="1923190"/>
            <a:ext cx="361868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350" b="1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9067" y="2825792"/>
            <a:ext cx="3612356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1612" y="2825792"/>
            <a:ext cx="361868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40B97-C6A5-4BC4-8266-53C67604F3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464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104100"/>
            <a:ext cx="7442073" cy="1294228"/>
          </a:xfrm>
        </p:spPr>
        <p:txBody>
          <a:bodyPr>
            <a:normAutofit/>
          </a:bodyPr>
          <a:lstStyle>
            <a:lvl1pPr>
              <a:defRPr sz="27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D70BF8-D139-4659-89E5-5F851F75F5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918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564843"/>
      </p:ext>
    </p:extLst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088136"/>
            <a:ext cx="7970871" cy="2084551"/>
          </a:xfrm>
        </p:spPr>
        <p:txBody>
          <a:bodyPr anchor="t" anchorCtr="0">
            <a:noAutofit/>
          </a:bodyPr>
          <a:lstStyle>
            <a:lvl1pPr>
              <a:defRPr sz="45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6101" y="3276600"/>
            <a:ext cx="7970872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610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3" y="1088136"/>
            <a:ext cx="6323075" cy="1842020"/>
          </a:xfrm>
        </p:spPr>
        <p:txBody>
          <a:bodyPr anchor="t" anchorCtr="0">
            <a:noAutofit/>
          </a:bodyPr>
          <a:lstStyle>
            <a:lvl1pPr>
              <a:defRPr sz="45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910" y="4246692"/>
            <a:ext cx="632297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1pPr>
            <a:lvl2pPr marL="17145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2pPr>
            <a:lvl3pPr marL="34290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3pPr>
            <a:lvl4pPr marL="51435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4pPr>
            <a:lvl5pPr marL="685800" indent="0">
              <a:lnSpc>
                <a:spcPct val="100000"/>
              </a:lnSpc>
              <a:buNone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206128"/>
            <a:ext cx="60314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987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8575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090245"/>
            <a:ext cx="7442073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102" y="2119746"/>
            <a:ext cx="7442073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6102" y="6438900"/>
            <a:ext cx="642207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8172" y="6438900"/>
            <a:ext cx="648528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75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823" y="6438900"/>
            <a:ext cx="451077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575314D0-82D7-ACA2-6093-A3B0565A979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D84BA6E-2210-2B06-4941-39225C7E94C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B321F58-905E-60F0-37C1-42A8CA3E2A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21 September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B5566C1B-35CC-26FB-6C70-4D029DAEDA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90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p:hf sldNum="0" hdr="0" ft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7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71450" algn="l" defTabSz="6858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71450" algn="l" defTabSz="6858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71450" algn="l" defTabSz="6858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00189" cy="286232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>
                <a:latin typeface="+mj-lt"/>
              </a:rPr>
              <a:t>Dr.G.Pandiaraj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MSEC, Sivakasi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821531" y="620688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  <a:endParaRPr lang="en-US" alt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Traditional badminton training is </a:t>
            </a:r>
            <a:r>
              <a:rPr lang="en-US" altLang="en-US" u="sng" dirty="0">
                <a:latin typeface="+mj-lt"/>
              </a:rPr>
              <a:t>largely dependent on subjective coaching</a:t>
            </a:r>
            <a:r>
              <a:rPr lang="en-US" altLang="en-US" dirty="0">
                <a:latin typeface="+mj-lt"/>
              </a:rPr>
              <a:t> and visual observation, leading to inconsistent performance evaluation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There is a </a:t>
            </a:r>
            <a:r>
              <a:rPr lang="en-US" altLang="en-US" u="sng" dirty="0">
                <a:latin typeface="+mj-lt"/>
              </a:rPr>
              <a:t>lack of an intelligent and automated system</a:t>
            </a:r>
            <a:r>
              <a:rPr lang="en-US" altLang="en-US" dirty="0">
                <a:latin typeface="+mj-lt"/>
              </a:rPr>
              <a:t> to accurately analyze swing quality, stroke classification, and player efficiency in real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integrate embedded systems and machine learning </a:t>
            </a:r>
            <a:r>
              <a:rPr lang="en-US" dirty="0">
                <a:latin typeface="+mj-lt"/>
              </a:rPr>
              <a:t>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</a:t>
            </a:r>
            <a:r>
              <a:rPr lang="en-US" u="sng" dirty="0">
                <a:latin typeface="+mj-lt"/>
              </a:rPr>
              <a:t>for improving player technique and training efficiency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</a:t>
            </a:r>
            <a:r>
              <a:rPr lang="en-US" u="sng" dirty="0">
                <a:latin typeface="+mj-lt"/>
              </a:rPr>
              <a:t>detects and classifies badminton strokes</a:t>
            </a:r>
            <a:r>
              <a:rPr lang="en-US" dirty="0">
                <a:latin typeface="+mj-lt"/>
              </a:rPr>
              <a:t>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analyze player performance metrics </a:t>
            </a:r>
            <a:r>
              <a:rPr lang="en-US" dirty="0">
                <a:latin typeface="+mj-lt"/>
              </a:rPr>
              <a:t>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4" y="3598624"/>
            <a:ext cx="3448308" cy="25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5CF4-F935-F997-AE6B-6DC48D760E64}"/>
              </a:ext>
            </a:extLst>
          </p:cNvPr>
          <p:cNvSpPr txBox="1"/>
          <p:nvPr/>
        </p:nvSpPr>
        <p:spPr>
          <a:xfrm>
            <a:off x="3203848" y="44624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947EF-7CC9-B80D-6CCE-B380439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2696"/>
            <a:ext cx="914400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extracted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= 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= Impact / Duration 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4620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251520" y="836712"/>
            <a:ext cx="4572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Algorithm: Random Forest Classifier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Ensemble learning method using </a:t>
            </a:r>
            <a:r>
              <a:rPr lang="en-IN" sz="1600" b="1" dirty="0">
                <a:latin typeface="+mj-lt"/>
              </a:rPr>
              <a:t>multiple decision trees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Improves accuracy through </a:t>
            </a:r>
            <a:r>
              <a:rPr lang="en-IN" sz="1600" b="1" dirty="0">
                <a:latin typeface="+mj-lt"/>
              </a:rPr>
              <a:t>majority voting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Robust against </a:t>
            </a:r>
            <a:r>
              <a:rPr lang="en-IN" sz="1600" b="1" dirty="0">
                <a:latin typeface="+mj-lt"/>
              </a:rPr>
              <a:t>noise and overfitting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Swing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Speed, Impact, Power, Efficiency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Learns patterns in </a:t>
            </a:r>
            <a:r>
              <a:rPr lang="en-IN" sz="1600" b="1" dirty="0">
                <a:latin typeface="+mj-lt"/>
              </a:rPr>
              <a:t>swing strength and performance quality</a:t>
            </a:r>
            <a:r>
              <a:rPr lang="en-IN" sz="1600" dirty="0">
                <a:latin typeface="+mj-lt"/>
              </a:rPr>
              <a:t> </a:t>
            </a:r>
          </a:p>
          <a:p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Stroke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Acceleration magnitude, Gyro magnitude, Peak values, Energy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SMASH / DROP / CLEAR /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Identifies </a:t>
            </a:r>
            <a:r>
              <a:rPr lang="en-IN" sz="1600" b="1" dirty="0">
                <a:latin typeface="+mj-lt"/>
              </a:rPr>
              <a:t>type of badminton stroke based on motion patterns</a:t>
            </a:r>
            <a:endParaRPr lang="en-IN" sz="1600" dirty="0">
              <a:latin typeface="+mj-lt"/>
            </a:endParaRP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4103440" y="1400925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5292080" y="342900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C6FAFC-4D7E-EB7F-1728-F5BEC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5" y="4924501"/>
            <a:ext cx="9252520" cy="208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2286000" y="-895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64BA-359A-A6B2-FE03-2A139EAD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0"/>
            <a:ext cx="5446539" cy="233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6B7D7-98F1-F4FE-CB3C-7A10BF6CE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245" y="2648305"/>
            <a:ext cx="4165197" cy="27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F6-B6C3-84B9-170D-75228E28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2" y="2648305"/>
            <a:ext cx="5202905" cy="270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32370-83C4-FB21-B6CE-AEAB08ACF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539" y="310910"/>
            <a:ext cx="3697461" cy="24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815358" y="180306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Nurshazwani Wan Zakaria, and Mohd Razali Bin Md Tomari.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70CFF-BBA0-3FD6-E516-527A6B5E4AA7}"/>
              </a:ext>
            </a:extLst>
          </p:cNvPr>
          <p:cNvSpPr txBox="1"/>
          <p:nvPr/>
        </p:nvSpPr>
        <p:spPr>
          <a:xfrm>
            <a:off x="899592" y="1628800"/>
            <a:ext cx="3672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Detection: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 from MPU triggers when &gt; Tuned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mot_thr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mot_dur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real and dumb swing</a:t>
            </a:r>
          </a:p>
        </p:txBody>
      </p:sp>
    </p:spTree>
    <p:extLst>
      <p:ext uri="{BB962C8B-B14F-4D97-AF65-F5344CB8AC3E}">
        <p14:creationId xmlns:p14="http://schemas.microsoft.com/office/powerpoint/2010/main" val="18514124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7001</TotalTime>
  <Words>1126</Words>
  <Application>Microsoft Office PowerPoint</Application>
  <PresentationFormat>On-screen Show (4:3)</PresentationFormat>
  <Paragraphs>202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Neue Haas Grotesk Text Pro</vt:lpstr>
      <vt:lpstr>System Font Regular</vt:lpstr>
      <vt:lpstr>Times New Roman</vt:lpstr>
      <vt:lpstr>Verdana</vt:lpstr>
      <vt:lpstr>Wingdings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941</cp:revision>
  <dcterms:created xsi:type="dcterms:W3CDTF">2015-03-06T06:18:00Z</dcterms:created>
  <dcterms:modified xsi:type="dcterms:W3CDTF">2026-09-21T08:42:32Z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