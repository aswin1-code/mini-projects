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6" r:id="rId2"/>
    <p:sldId id="297" r:id="rId3"/>
    <p:sldId id="300" r:id="rId4"/>
    <p:sldId id="311" r:id="rId5"/>
    <p:sldId id="318" r:id="rId6"/>
    <p:sldId id="313" r:id="rId7"/>
    <p:sldId id="301" r:id="rId8"/>
    <p:sldId id="315" r:id="rId9"/>
    <p:sldId id="319" r:id="rId10"/>
    <p:sldId id="302" r:id="rId11"/>
    <p:sldId id="316" r:id="rId12"/>
    <p:sldId id="314" r:id="rId13"/>
    <p:sldId id="317" r:id="rId14"/>
    <p:sldId id="310" r:id="rId15"/>
    <p:sldId id="320" r:id="rId16"/>
    <p:sldId id="299" r:id="rId17"/>
    <p:sldId id="304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31D98"/>
    <a:srgbClr val="FFDA3F"/>
    <a:srgbClr val="FF0909"/>
    <a:srgbClr val="CB05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24" autoAdjust="0"/>
  </p:normalViewPr>
  <p:slideViewPr>
    <p:cSldViewPr>
      <p:cViewPr varScale="1">
        <p:scale>
          <a:sx n="110" d="100"/>
          <a:sy n="110" d="100"/>
        </p:scale>
        <p:origin x="706" y="62"/>
      </p:cViewPr>
      <p:guideLst>
        <p:guide orient="horz" pos="2160"/>
        <p:guide pos="2928"/>
      </p:guideLst>
    </p:cSldViewPr>
  </p:slideViewPr>
  <p:outlineViewPr>
    <p:cViewPr>
      <p:scale>
        <a:sx n="33" d="100"/>
        <a:sy n="33" d="100"/>
      </p:scale>
      <p:origin x="0" y="46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F7680E-169A-A704-87FE-4ADC0A5903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2A24E-CE6B-15F2-B907-C34DF809814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8AAC2CB-9909-4597-A297-626359C96841}" type="datetimeFigureOut">
              <a:rPr lang="en-US"/>
              <a:pPr>
                <a:defRPr/>
              </a:pPr>
              <a:t>5/8/2025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50453D9-7178-AE84-A41F-997C94023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CC655B9-77D0-4B47-3392-6D0863D75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EA624-C286-2413-5595-12355B7633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C0E5F-C13E-ABC7-EE67-6F693542E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6BBB4D-4916-494C-BF68-66BAB50853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25B34BBB-AC75-B6A5-988D-A7E2B5268E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id="{9325E3CB-FF91-56E2-F384-061C96C4A617}"/>
              </a:ext>
            </a:extLst>
          </p:cNvPr>
          <p:cNvSpPr>
            <a:spLocks noGrp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EC1899E-10C7-E286-7C5A-6193CDD464D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A9AE41-0D2A-8177-3552-2D65D02EB7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8EFA0-8B82-4E8F-83AB-751EC3FCF2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350699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70E70E-9F5C-F2B6-1AC3-41B5A78A30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6469CC-9E20-4468-066D-7A6ACC3C47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89518-C392-463E-AD8A-A8268765D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9642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197950C-C4BC-4E33-24BA-545FDA5B4F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46EB078-EF0D-EF8A-C7EA-B7798280E0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573971-39CA-46CF-A895-61FAB428F7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21949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FA8E5E-9CC8-1E02-4019-EA2D3352FA2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AFC90B-C151-9FFA-F2E1-FC5B78CA7C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B9629F-B0F8-4D9F-9141-82A53696BF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3971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83DA635-4A46-6AC2-B6EF-5BA02CCEF7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E200FD7-8D8B-70CB-2887-CD078F9B62D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40B97-C6A5-4BC4-8266-53C67604F3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890618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F3C5371-6321-CA22-9693-C9CB652798F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0C2B3D6-5B3A-7B95-9EF7-9F1B150327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70BF8-D139-4659-89E5-5F851F75F5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70496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5DBCD2E-B548-3100-B472-C43538D6E1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8449C9F-4F23-45D5-29A1-7E607AA6D9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9DF58-7ECB-44FF-9950-625F3172FF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28327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A58542-EB59-5CE2-F351-5C1A14692A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A5FA53-17C6-C86E-2617-1936235B2F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55833-97CF-48E6-BA91-773693F6C0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62974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C6BACE-9708-B7C3-652A-3EA7175488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A96E1D-9B83-9D09-72C7-9097C45DF27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AC6A0-C935-4611-B957-BD76BFBB1B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8292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38AF2D-8758-B239-FE6B-2198C009BE0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D493F2-BF53-D93F-F717-F1342F389A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0BA3C-B5B3-49B5-844D-83F2066BA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689717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BD9DBB6-2121-C3F1-CB6B-DE0E2D0845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BFF119-593A-FF7C-3E7C-73A01A466AC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AD8F4-1758-4CB0-A1B8-A47B84BBF7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20019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B8D885-228D-A51A-23CC-BC5022A98B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C8099FB-3C3C-3E67-0F7D-6A5B2F4F222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266424-2A66-4F3B-AFF3-B6811C4084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850375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0BFD69-F9D0-8156-7896-63E8213885F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1C937E-613D-ED9C-A42F-1E2C139D79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3D7BB-74AD-430A-B6C1-F79F4FF35A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00523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pic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D51F56E-8F12-41C3-094A-E072E899A34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6278CF-8470-37D3-7F78-99D5AB78AF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3C231-2E8B-4C9E-9FCF-D646EFC782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0509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5DA51F5-0CA2-5BFA-0DC0-4DD165D8A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76C1F61-F817-AE0F-CF82-2D7B8F4E5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40A0874-7104-AFBF-1116-69634E31CB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 sz="1400" b="0">
                <a:solidFill>
                  <a:srgbClr val="0000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18E478-B68F-C1E2-1935-6D6D4C42B0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3500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AAFF3DE-0B95-4689-9E52-034F7E7E02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Line 7">
            <a:extLst>
              <a:ext uri="{FF2B5EF4-FFF2-40B4-BE49-F238E27FC236}">
                <a16:creationId xmlns:a16="http://schemas.microsoft.com/office/drawing/2014/main" id="{DE25827C-87BA-3254-4AAA-16A930F4A2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990600"/>
            <a:ext cx="84582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031" name="Text Box 9">
            <a:extLst>
              <a:ext uri="{FF2B5EF4-FFF2-40B4-BE49-F238E27FC236}">
                <a16:creationId xmlns:a16="http://schemas.microsoft.com/office/drawing/2014/main" id="{F7D50A28-A522-6E34-2AF9-FF9F53F84D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14400" y="6248400"/>
            <a:ext cx="19812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sz="1200" dirty="0">
              <a:latin typeface="Verdana" panose="020B0604030504040204" pitchFamily="34" charset="0"/>
            </a:endParaRPr>
          </a:p>
        </p:txBody>
      </p:sp>
      <p:sp>
        <p:nvSpPr>
          <p:cNvPr id="1032" name="Text Box 10">
            <a:extLst>
              <a:ext uri="{FF2B5EF4-FFF2-40B4-BE49-F238E27FC236}">
                <a16:creationId xmlns:a16="http://schemas.microsoft.com/office/drawing/2014/main" id="{50122BE8-8277-CE9B-4B6F-0B13B8347B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6324600"/>
            <a:ext cx="28956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1D98EE8B-037D-4AA1-9C79-2D0BD37144CF}" type="datetime3">
              <a:rPr lang="en-US" sz="1200" smtClean="0">
                <a:solidFill>
                  <a:srgbClr val="0000FF"/>
                </a:solidFill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8 May 2025</a:t>
            </a:fld>
            <a:endParaRPr lang="en-US" sz="1200" dirty="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sp>
        <p:nvSpPr>
          <p:cNvPr id="1033" name="Text Box 11">
            <a:extLst>
              <a:ext uri="{FF2B5EF4-FFF2-40B4-BE49-F238E27FC236}">
                <a16:creationId xmlns:a16="http://schemas.microsoft.com/office/drawing/2014/main" id="{0498752C-4BA1-BFAA-57D0-32606EFF93F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88300" y="6583363"/>
            <a:ext cx="1155700" cy="274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03F5EF0B-FE30-4A8B-A3C8-A04FF47E8BDE}" type="slidenum">
              <a:rPr lang="en-US" altLang="en-US" sz="1200" smtClean="0"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en-US" sz="120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1">
            <a:extLst>
              <a:ext uri="{FF2B5EF4-FFF2-40B4-BE49-F238E27FC236}">
                <a16:creationId xmlns:a16="http://schemas.microsoft.com/office/drawing/2014/main" id="{05CD8D97-BCE2-C28E-EDCA-98AA6C981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642938"/>
            <a:ext cx="86106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br>
              <a:rPr lang="en-US" altLang="en-US"/>
            </a:br>
            <a:endParaRPr lang="en-US" altLang="en-US" b="1">
              <a:cs typeface="Times New Roman" panose="02020603050405020304" pitchFamily="18" charset="0"/>
            </a:endParaRPr>
          </a:p>
        </p:txBody>
      </p:sp>
      <p:sp>
        <p:nvSpPr>
          <p:cNvPr id="3075" name="TextBox 2">
            <a:extLst>
              <a:ext uri="{FF2B5EF4-FFF2-40B4-BE49-F238E27FC236}">
                <a16:creationId xmlns:a16="http://schemas.microsoft.com/office/drawing/2014/main" id="{CB1A0DFA-A208-FCD2-7BCA-ACAC53E51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76788"/>
            <a:ext cx="3508375" cy="18158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Times New Roman" panose="02020603050405020304" pitchFamily="18" charset="0"/>
              </a:rPr>
              <a:t>Team Members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Aswin Raaj .R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Mani Balaji .S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 err="1">
                <a:cs typeface="Times New Roman" panose="02020603050405020304" pitchFamily="18" charset="0"/>
              </a:rPr>
              <a:t>Tharun</a:t>
            </a:r>
            <a:r>
              <a:rPr lang="en-US" altLang="en-US" sz="2400" dirty="0">
                <a:cs typeface="Times New Roman" panose="02020603050405020304" pitchFamily="18" charset="0"/>
              </a:rPr>
              <a:t> .V.S</a:t>
            </a:r>
          </a:p>
        </p:txBody>
      </p:sp>
      <p:sp>
        <p:nvSpPr>
          <p:cNvPr id="3076" name="TextBox 3">
            <a:extLst>
              <a:ext uri="{FF2B5EF4-FFF2-40B4-BE49-F238E27FC236}">
                <a16:creationId xmlns:a16="http://schemas.microsoft.com/office/drawing/2014/main" id="{88701D58-5D33-1B3B-4DD4-4CC9BD059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225" y="3976688"/>
            <a:ext cx="4219575" cy="2492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Guided by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algn="just">
              <a:buFontTx/>
              <a:buNone/>
              <a:defRPr/>
            </a:pPr>
            <a:r>
              <a:rPr lang="en-US" sz="2000" b="1" dirty="0" err="1">
                <a:latin typeface="+mj-lt"/>
              </a:rPr>
              <a:t>Dr.G.Pandiaraj</a:t>
            </a:r>
            <a:endParaRPr lang="en-US" sz="2000" b="1" dirty="0">
              <a:latin typeface="+mj-lt"/>
            </a:endParaRP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Assistant Professor (Sl. Grade)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Electrical and Electronics Engineering</a:t>
            </a:r>
          </a:p>
          <a:p>
            <a:pPr eaLnBrk="1" hangingPunct="1">
              <a:buFontTx/>
              <a:buNone/>
              <a:defRPr/>
            </a:pPr>
            <a:endParaRPr lang="en-US" altLang="en-US" sz="2000" dirty="0"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A1A34-8A56-BFF5-690D-DE6E7D4010CC}"/>
              </a:ext>
            </a:extLst>
          </p:cNvPr>
          <p:cNvSpPr txBox="1"/>
          <p:nvPr/>
        </p:nvSpPr>
        <p:spPr>
          <a:xfrm>
            <a:off x="785813" y="476672"/>
            <a:ext cx="7500937" cy="25545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A low cost Automated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 Mosquito Trapping System 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using Arduino</a:t>
            </a:r>
          </a:p>
          <a:p>
            <a:pPr algn="ctr">
              <a:defRPr/>
            </a:pPr>
            <a:endParaRPr lang="en-US" sz="4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3FFABB-470E-81A4-E70A-275452C27EDB}"/>
              </a:ext>
            </a:extLst>
          </p:cNvPr>
          <p:cNvSpPr txBox="1"/>
          <p:nvPr/>
        </p:nvSpPr>
        <p:spPr>
          <a:xfrm>
            <a:off x="3779912" y="2855922"/>
            <a:ext cx="21367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IN" sz="3200" dirty="0">
                <a:latin typeface="+mj-lt"/>
              </a:rPr>
              <a:t>Batch – B2 </a:t>
            </a:r>
            <a:endParaRPr lang="en-US" sz="3200" dirty="0">
              <a:latin typeface="+mj-l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1">
            <a:extLst>
              <a:ext uri="{FF2B5EF4-FFF2-40B4-BE49-F238E27FC236}">
                <a16:creationId xmlns:a16="http://schemas.microsoft.com/office/drawing/2014/main" id="{A4D3D354-BD29-9814-6E9C-8E01ACA24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260350"/>
            <a:ext cx="68405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>
                <a:latin typeface="+mj-lt"/>
              </a:rPr>
              <a:t>   Objective</a:t>
            </a:r>
            <a:endParaRPr lang="en-IN" altLang="en-US" sz="36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1B7D32-07B4-358B-E886-2C2A0878529E}"/>
              </a:ext>
            </a:extLst>
          </p:cNvPr>
          <p:cNvSpPr txBox="1"/>
          <p:nvPr/>
        </p:nvSpPr>
        <p:spPr>
          <a:xfrm>
            <a:off x="827088" y="1557338"/>
            <a:ext cx="8208962" cy="3600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latin typeface="+mj-lt"/>
              </a:rPr>
              <a:t>To trap mosquitoes using frequencies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latin typeface="+mj-lt"/>
              </a:rPr>
              <a:t>To evaluate the effectiveness of frequencies in luring mosquitoes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latin typeface="+mj-lt"/>
              </a:rPr>
              <a:t>To mitigate mosquitoes without using chemicals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latin typeface="+mj-lt"/>
              </a:rPr>
              <a:t>To </a:t>
            </a:r>
            <a:r>
              <a:rPr lang="en-US" sz="2000" dirty="0">
                <a:solidFill>
                  <a:srgbClr val="09090B"/>
                </a:solidFill>
                <a:latin typeface="+mj-lt"/>
              </a:rPr>
              <a:t>Ensure a non-toxic approach that minimizes health risks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09090B"/>
                </a:solidFill>
                <a:latin typeface="+mj-lt"/>
              </a:rPr>
              <a:t>Achieve long-term savings by potentially reducing the need for frequent purchases of chemical sprays</a:t>
            </a:r>
            <a:endParaRPr lang="en-US" sz="2000" dirty="0">
              <a:latin typeface="+mj-lt"/>
            </a:endParaRPr>
          </a:p>
          <a:p>
            <a:pPr marL="285750" indent="-285750">
              <a:defRPr/>
            </a:pPr>
            <a:endParaRPr lang="en-IN" sz="2400" dirty="0">
              <a:latin typeface="+mj-lt"/>
            </a:endParaRPr>
          </a:p>
          <a:p>
            <a:pPr marL="285750" indent="-285750">
              <a:defRPr/>
            </a:pPr>
            <a:endParaRPr lang="en-IN" sz="2400" dirty="0">
              <a:latin typeface="+mj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E1624-B921-6892-D1DC-3535FEA0BE24}"/>
              </a:ext>
            </a:extLst>
          </p:cNvPr>
          <p:cNvSpPr txBox="1"/>
          <p:nvPr/>
        </p:nvSpPr>
        <p:spPr>
          <a:xfrm>
            <a:off x="755650" y="101600"/>
            <a:ext cx="8027988" cy="646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dirty="0">
                <a:latin typeface="+mj-lt"/>
              </a:rPr>
              <a:t>Motivation</a:t>
            </a:r>
            <a:endParaRPr lang="en-IN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493B89-40E5-D2F8-D24D-234FAA9637F9}"/>
              </a:ext>
            </a:extLst>
          </p:cNvPr>
          <p:cNvSpPr txBox="1"/>
          <p:nvPr/>
        </p:nvSpPr>
        <p:spPr>
          <a:xfrm>
            <a:off x="898526" y="1397674"/>
            <a:ext cx="7885112" cy="40626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09090B"/>
                </a:solidFill>
                <a:latin typeface="+mn-lt"/>
              </a:rPr>
              <a:t>Every year 360 million people get infected due to mosquito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09090B"/>
                </a:solidFill>
                <a:latin typeface="+mn-lt"/>
              </a:rPr>
              <a:t>To create innovative and effective mosquito control strategies using acoustic science 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000" dirty="0">
                <a:latin typeface="+mn-lt"/>
              </a:rPr>
              <a:t>To </a:t>
            </a:r>
            <a:r>
              <a:rPr lang="en-US" sz="2000" dirty="0">
                <a:solidFill>
                  <a:srgbClr val="09090B"/>
                </a:solidFill>
                <a:latin typeface="+mn-lt"/>
              </a:rPr>
              <a:t>address the need for eco-friendly pest control methods that do not harm non-target species</a:t>
            </a:r>
            <a:endParaRPr lang="en-IN" sz="2000" dirty="0">
              <a:latin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09090B"/>
                </a:solidFill>
                <a:latin typeface="+mn-lt"/>
              </a:rPr>
              <a:t>To provide a safer alternative without the toxic effects associated with chemicals.</a:t>
            </a:r>
          </a:p>
          <a:p>
            <a:pPr>
              <a:defRPr/>
            </a:pPr>
            <a:endParaRPr lang="en-IN" sz="2400" dirty="0">
              <a:latin typeface="+mj-lt"/>
            </a:endParaRPr>
          </a:p>
          <a:p>
            <a:pPr>
              <a:defRPr/>
            </a:pPr>
            <a:r>
              <a:rPr lang="en-IN" sz="2400" dirty="0">
                <a:latin typeface="+mj-lt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F26394-06B2-E9F3-1358-56B620AA38B1}"/>
              </a:ext>
            </a:extLst>
          </p:cNvPr>
          <p:cNvSpPr txBox="1"/>
          <p:nvPr/>
        </p:nvSpPr>
        <p:spPr>
          <a:xfrm>
            <a:off x="898526" y="5949280"/>
            <a:ext cx="802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https://www.worldmosquitoprogram.org/en/learn/mosquito-borne-diseases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E2060A-0F5F-E364-D8F4-92E67DAB8BF8}"/>
              </a:ext>
            </a:extLst>
          </p:cNvPr>
          <p:cNvSpPr txBox="1"/>
          <p:nvPr/>
        </p:nvSpPr>
        <p:spPr>
          <a:xfrm>
            <a:off x="2051720" y="318735"/>
            <a:ext cx="50405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+mj-lt"/>
              </a:rPr>
              <a:t>Behaviour of Mosquito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6E864-05FF-CAF2-679B-84225A10DEAA}"/>
              </a:ext>
            </a:extLst>
          </p:cNvPr>
          <p:cNvSpPr txBox="1"/>
          <p:nvPr/>
        </p:nvSpPr>
        <p:spPr>
          <a:xfrm>
            <a:off x="1043608" y="604872"/>
            <a:ext cx="70567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0" i="0" dirty="0">
              <a:solidFill>
                <a:srgbClr val="09090B"/>
              </a:solidFill>
              <a:effectLst/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09090B"/>
                </a:solidFill>
                <a:effectLst/>
                <a:latin typeface="+mj-lt"/>
              </a:rPr>
              <a:t>Female mosquitoes - attract to the sounds produced by wingbeats of male mosquitoes and other frequencies present in their environment(</a:t>
            </a:r>
            <a:r>
              <a:rPr lang="en-US" sz="2000" dirty="0">
                <a:solidFill>
                  <a:srgbClr val="09090B"/>
                </a:solidFill>
                <a:latin typeface="+mj-lt"/>
              </a:rPr>
              <a:t>250</a:t>
            </a:r>
            <a:r>
              <a:rPr lang="en-US" sz="2000" b="0" i="0" dirty="0">
                <a:solidFill>
                  <a:srgbClr val="09090B"/>
                </a:solidFill>
                <a:effectLst/>
                <a:latin typeface="+mj-lt"/>
              </a:rPr>
              <a:t>-650hz)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b="0" i="0" dirty="0">
              <a:solidFill>
                <a:srgbClr val="09090B"/>
              </a:solidFill>
              <a:effectLst/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rgbClr val="09090B"/>
                </a:solidFill>
                <a:effectLst/>
                <a:latin typeface="+mj-lt"/>
              </a:rPr>
              <a:t>Tympanal Organs</a:t>
            </a:r>
            <a:r>
              <a:rPr lang="en-IN" sz="2000" dirty="0">
                <a:solidFill>
                  <a:srgbClr val="09090B"/>
                </a:solidFill>
                <a:latin typeface="+mj-lt"/>
              </a:rPr>
              <a:t> acts </a:t>
            </a:r>
            <a:r>
              <a:rPr lang="en-US" sz="2000" b="0" i="0" dirty="0">
                <a:solidFill>
                  <a:srgbClr val="09090B"/>
                </a:solidFill>
                <a:effectLst/>
                <a:latin typeface="+mj-lt"/>
              </a:rPr>
              <a:t>similar</a:t>
            </a:r>
            <a:r>
              <a:rPr lang="en-US" sz="2000" dirty="0">
                <a:solidFill>
                  <a:srgbClr val="09090B"/>
                </a:solidFill>
                <a:latin typeface="+mj-lt"/>
              </a:rPr>
              <a:t> </a:t>
            </a:r>
            <a:r>
              <a:rPr lang="en-US" sz="2000" b="0" i="0" dirty="0">
                <a:solidFill>
                  <a:srgbClr val="09090B"/>
                </a:solidFill>
                <a:effectLst/>
                <a:latin typeface="+mj-lt"/>
              </a:rPr>
              <a:t>to ears and are sensitive to sound vibrations. </a:t>
            </a:r>
            <a:r>
              <a:rPr lang="en-US" sz="2000" i="1" dirty="0">
                <a:solidFill>
                  <a:srgbClr val="09090B"/>
                </a:solidFill>
                <a:latin typeface="+mj-lt"/>
              </a:rPr>
              <a:t>S</a:t>
            </a:r>
            <a:r>
              <a:rPr lang="en-US" sz="2000" b="0" i="1" dirty="0">
                <a:solidFill>
                  <a:srgbClr val="09090B"/>
                </a:solidFill>
                <a:effectLst/>
                <a:latin typeface="+mj-lt"/>
              </a:rPr>
              <a:t>ensilla </a:t>
            </a:r>
            <a:r>
              <a:rPr lang="en-US" sz="2000" b="0" i="0" dirty="0">
                <a:solidFill>
                  <a:srgbClr val="09090B"/>
                </a:solidFill>
                <a:effectLst/>
                <a:latin typeface="+mj-lt"/>
              </a:rPr>
              <a:t>can detect vibrations and sound waves, which are critical for locating potential hosts.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9090B"/>
              </a:solidFill>
              <a:latin typeface="+mj-lt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09090B"/>
                </a:solidFill>
                <a:effectLst/>
                <a:latin typeface="+mj-lt"/>
              </a:rPr>
              <a:t>In cooler conditions, mosquitoes may wander more as they search for warmer microhabitats or areas where hosts (e.g., humans or animals) are present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9090B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Study proved - mosquitoes can hear sound upto10 metres away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b="0" i="0" dirty="0">
              <a:solidFill>
                <a:srgbClr val="09090B"/>
              </a:solidFill>
              <a:effectLst/>
              <a:latin typeface="+mj-lt"/>
            </a:endParaRPr>
          </a:p>
          <a:p>
            <a:endParaRPr lang="en-US" b="0" i="0" dirty="0">
              <a:solidFill>
                <a:srgbClr val="09090B"/>
              </a:solidFill>
              <a:effectLst/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A8694C-CDA9-18E8-66B6-97A0A2EF0A7B}"/>
              </a:ext>
            </a:extLst>
          </p:cNvPr>
          <p:cNvSpPr txBox="1"/>
          <p:nvPr/>
        </p:nvSpPr>
        <p:spPr>
          <a:xfrm>
            <a:off x="899592" y="5998319"/>
            <a:ext cx="7056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https://news.cornell.edu/stories/2019/02/study-mosquitoes-can-hear-10-meters-away</a:t>
            </a:r>
          </a:p>
        </p:txBody>
      </p:sp>
    </p:spTree>
    <p:extLst>
      <p:ext uri="{BB962C8B-B14F-4D97-AF65-F5344CB8AC3E}">
        <p14:creationId xmlns:p14="http://schemas.microsoft.com/office/powerpoint/2010/main" val="263664379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DC236E-CDD9-AA23-E5B8-D1561FF1DAC7}"/>
              </a:ext>
            </a:extLst>
          </p:cNvPr>
          <p:cNvSpPr txBox="1"/>
          <p:nvPr/>
        </p:nvSpPr>
        <p:spPr>
          <a:xfrm>
            <a:off x="3275856" y="188640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+mj-lt"/>
              </a:rPr>
              <a:t>Mosquito species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7A6EC82-FA79-1D53-E31F-B8F559C6B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810574"/>
              </p:ext>
            </p:extLst>
          </p:nvPr>
        </p:nvGraphicFramePr>
        <p:xfrm>
          <a:off x="827584" y="1016576"/>
          <a:ext cx="7992888" cy="3708570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1254910">
                  <a:extLst>
                    <a:ext uri="{9D8B030D-6E8A-4147-A177-3AD203B41FA5}">
                      <a16:colId xmlns:a16="http://schemas.microsoft.com/office/drawing/2014/main" val="224893636"/>
                    </a:ext>
                  </a:extLst>
                </a:gridCol>
                <a:gridCol w="1616322">
                  <a:extLst>
                    <a:ext uri="{9D8B030D-6E8A-4147-A177-3AD203B41FA5}">
                      <a16:colId xmlns:a16="http://schemas.microsoft.com/office/drawing/2014/main" val="426266563"/>
                    </a:ext>
                  </a:extLst>
                </a:gridCol>
                <a:gridCol w="1752668">
                  <a:extLst>
                    <a:ext uri="{9D8B030D-6E8A-4147-A177-3AD203B41FA5}">
                      <a16:colId xmlns:a16="http://schemas.microsoft.com/office/drawing/2014/main" val="2792684403"/>
                    </a:ext>
                  </a:extLst>
                </a:gridCol>
                <a:gridCol w="1972174">
                  <a:extLst>
                    <a:ext uri="{9D8B030D-6E8A-4147-A177-3AD203B41FA5}">
                      <a16:colId xmlns:a16="http://schemas.microsoft.com/office/drawing/2014/main" val="3552854842"/>
                    </a:ext>
                  </a:extLst>
                </a:gridCol>
                <a:gridCol w="1396814">
                  <a:extLst>
                    <a:ext uri="{9D8B030D-6E8A-4147-A177-3AD203B41FA5}">
                      <a16:colId xmlns:a16="http://schemas.microsoft.com/office/drawing/2014/main" val="999313010"/>
                    </a:ext>
                  </a:extLst>
                </a:gridCol>
              </a:tblGrid>
              <a:tr h="673510">
                <a:tc>
                  <a:txBody>
                    <a:bodyPr/>
                    <a:lstStyle/>
                    <a:p>
                      <a:pPr marL="166370" indent="-16637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Mosquito Species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Diseases Transmitted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Attractants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Active Season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Frequency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2502565"/>
                  </a:ext>
                </a:extLst>
              </a:tr>
              <a:tr h="673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Aedes aegypti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- Dengue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- CO2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- Monsoon season (June to Nov)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300 – 600hz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63489786"/>
                  </a:ext>
                </a:extLst>
              </a:tr>
              <a:tr h="673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- Chikungunya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- Body Heat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- Throughout warmer months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66937777"/>
                  </a:ext>
                </a:extLst>
              </a:tr>
              <a:tr h="3410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- Zika Virus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- Lactic Acid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052775"/>
                  </a:ext>
                </a:extLst>
              </a:tr>
              <a:tr h="673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Anopheles stephensi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- Malaria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- CO2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- Throughout the year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 – 600hz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6232127"/>
                  </a:ext>
                </a:extLst>
              </a:tr>
              <a:tr h="673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1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1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- Body Heat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- Peaks during rainy season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18341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94A23FD-0682-253E-7EA8-B382F95BE9A1}"/>
              </a:ext>
            </a:extLst>
          </p:cNvPr>
          <p:cNvSpPr txBox="1"/>
          <p:nvPr/>
        </p:nvSpPr>
        <p:spPr>
          <a:xfrm>
            <a:off x="827584" y="4875973"/>
            <a:ext cx="7272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Table. Disease causing common mosquito species and their attracting frequency</a:t>
            </a:r>
          </a:p>
        </p:txBody>
      </p:sp>
    </p:spTree>
    <p:extLst>
      <p:ext uri="{BB962C8B-B14F-4D97-AF65-F5344CB8AC3E}">
        <p14:creationId xmlns:p14="http://schemas.microsoft.com/office/powerpoint/2010/main" val="318230871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61DEEC-D695-060C-82FC-F60F033C280B}"/>
              </a:ext>
            </a:extLst>
          </p:cNvPr>
          <p:cNvSpPr txBox="1"/>
          <p:nvPr/>
        </p:nvSpPr>
        <p:spPr>
          <a:xfrm>
            <a:off x="2915816" y="34684"/>
            <a:ext cx="29523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+mj-lt"/>
              </a:rPr>
              <a:t>Attractants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60F97-E315-F802-07E8-6A6393928AE8}"/>
              </a:ext>
            </a:extLst>
          </p:cNvPr>
          <p:cNvSpPr txBox="1"/>
          <p:nvPr/>
        </p:nvSpPr>
        <p:spPr>
          <a:xfrm>
            <a:off x="1043608" y="466547"/>
            <a:ext cx="6840760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Carbon dioxide- </a:t>
            </a:r>
            <a:r>
              <a:rPr lang="en-US" sz="2000" b="0" i="0" dirty="0">
                <a:solidFill>
                  <a:srgbClr val="09090B"/>
                </a:solidFill>
                <a:effectLst/>
                <a:latin typeface="+mj-lt"/>
              </a:rPr>
              <a:t>produced in higher concentrations near a host, detected by</a:t>
            </a:r>
            <a:r>
              <a:rPr lang="en-US" sz="2000" b="0" i="0" dirty="0">
                <a:effectLst/>
                <a:latin typeface="+mj-lt"/>
              </a:rPr>
              <a:t> nerve cells called </a:t>
            </a:r>
            <a:r>
              <a:rPr lang="en-US" sz="2000" b="0" i="0" dirty="0" err="1">
                <a:effectLst/>
                <a:latin typeface="+mj-lt"/>
              </a:rPr>
              <a:t>cpA</a:t>
            </a:r>
            <a:r>
              <a:rPr lang="en-US" sz="2000" b="0" i="0" dirty="0">
                <a:effectLst/>
                <a:latin typeface="+mj-lt"/>
              </a:rPr>
              <a:t> neurons </a:t>
            </a:r>
            <a:r>
              <a:rPr lang="en-US" sz="2000" b="0" i="0" dirty="0">
                <a:solidFill>
                  <a:srgbClr val="09090B"/>
                </a:solidFill>
                <a:effectLst/>
                <a:latin typeface="+mj-lt"/>
              </a:rPr>
              <a:t>present in antenna ,use this gas as a cue to locate potential hosts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2000" b="0" i="0" dirty="0">
              <a:solidFill>
                <a:srgbClr val="09090B"/>
              </a:solidFill>
              <a:effectLst/>
              <a:latin typeface="+mj-lt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9090B"/>
                </a:solidFill>
                <a:latin typeface="+mj-lt"/>
              </a:rPr>
              <a:t>Body heat -</a:t>
            </a:r>
            <a:r>
              <a:rPr lang="en-US" sz="2000" b="0" i="0" dirty="0">
                <a:solidFill>
                  <a:srgbClr val="09090B"/>
                </a:solidFill>
                <a:effectLst/>
                <a:latin typeface="+mj-lt"/>
              </a:rPr>
              <a:t> thermoreceptor on their antennae and mouthparts detect heat. The body temperature of mammals and birds is typically higher than the surrounding environment, making them easier targets.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b="0" i="0" dirty="0">
              <a:solidFill>
                <a:srgbClr val="09090B"/>
              </a:solidFill>
              <a:effectLst/>
              <a:latin typeface="+mj-lt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09090B"/>
                </a:solidFill>
                <a:effectLst/>
                <a:latin typeface="+mj-lt"/>
              </a:rPr>
              <a:t>Chemical attractants-</a:t>
            </a:r>
            <a:r>
              <a:rPr lang="en-US" sz="2000" dirty="0">
                <a:solidFill>
                  <a:srgbClr val="09090B"/>
                </a:solidFill>
                <a:latin typeface="+mj-lt"/>
              </a:rPr>
              <a:t> Lactic acid and octenol found in human sweat and breath respectively is more effective attractant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9090B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9090B"/>
                </a:solidFill>
                <a:latin typeface="+mj-lt"/>
              </a:rPr>
              <a:t>Colours</a:t>
            </a:r>
            <a:r>
              <a:rPr lang="en-US" sz="2000" dirty="0">
                <a:solidFill>
                  <a:srgbClr val="09090B"/>
                </a:solidFill>
                <a:latin typeface="+mj-lt"/>
              </a:rPr>
              <a:t> - dark </a:t>
            </a:r>
            <a:r>
              <a:rPr lang="en-US" sz="2000" dirty="0" err="1">
                <a:solidFill>
                  <a:srgbClr val="09090B"/>
                </a:solidFill>
                <a:latin typeface="+mj-lt"/>
              </a:rPr>
              <a:t>colours</a:t>
            </a:r>
            <a:r>
              <a:rPr lang="en-US" sz="2000" dirty="0">
                <a:solidFill>
                  <a:srgbClr val="09090B"/>
                </a:solidFill>
                <a:latin typeface="+mj-lt"/>
              </a:rPr>
              <a:t> in</a:t>
            </a:r>
            <a:r>
              <a:rPr lang="en-US" sz="2000" b="0" i="0" dirty="0">
                <a:solidFill>
                  <a:srgbClr val="09090B"/>
                </a:solidFill>
                <a:effectLst/>
                <a:latin typeface="+mj-lt"/>
              </a:rPr>
              <a:t> blue and purple spectrum attract mosquitoes.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0" i="0" dirty="0">
              <a:solidFill>
                <a:srgbClr val="09090B"/>
              </a:solidFill>
              <a:effectLst/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9090B"/>
                </a:solidFill>
                <a:latin typeface="+mj-lt"/>
              </a:rPr>
              <a:t>Sound - frequency in range 250 Hz to 650 Hz mimic male wing beats</a:t>
            </a:r>
          </a:p>
          <a:p>
            <a:endParaRPr lang="en-IN" sz="1400" dirty="0"/>
          </a:p>
          <a:p>
            <a:r>
              <a:rPr lang="en-IN" sz="1400" dirty="0"/>
              <a:t>https://news.cornell.edu/stories/2019/02/study-mosquitoes-can-hear-10-meters-away</a:t>
            </a:r>
          </a:p>
          <a:p>
            <a:endParaRPr lang="en-US" dirty="0">
              <a:solidFill>
                <a:srgbClr val="09090B"/>
              </a:solidFill>
              <a:latin typeface="__DM_Sans_05e5f9"/>
            </a:endParaRPr>
          </a:p>
          <a:p>
            <a:pPr>
              <a:buFont typeface="+mj-lt"/>
              <a:buAutoNum type="arabicPeriod"/>
            </a:pPr>
            <a:endParaRPr lang="en-US" b="0" i="0" dirty="0">
              <a:solidFill>
                <a:srgbClr val="09090B"/>
              </a:solidFill>
              <a:effectLst/>
              <a:latin typeface="__DM_Sans_05e5f9"/>
            </a:endParaRPr>
          </a:p>
          <a:p>
            <a:pPr algn="l">
              <a:buFont typeface="+mj-lt"/>
              <a:buAutoNum type="arabicPeriod"/>
            </a:pPr>
            <a:endParaRPr lang="en-US" dirty="0">
              <a:solidFill>
                <a:srgbClr val="09090B"/>
              </a:solidFill>
              <a:latin typeface="__DM_Sans_05e5f9"/>
            </a:endParaRPr>
          </a:p>
        </p:txBody>
      </p:sp>
    </p:spTree>
    <p:extLst>
      <p:ext uri="{BB962C8B-B14F-4D97-AF65-F5344CB8AC3E}">
        <p14:creationId xmlns:p14="http://schemas.microsoft.com/office/powerpoint/2010/main" val="387061053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9A2612-457C-C8F8-A5F3-A9C94AEBB106}"/>
              </a:ext>
            </a:extLst>
          </p:cNvPr>
          <p:cNvSpPr txBox="1"/>
          <p:nvPr/>
        </p:nvSpPr>
        <p:spPr>
          <a:xfrm>
            <a:off x="0" y="115888"/>
            <a:ext cx="9144000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atin typeface="+mj-lt"/>
              </a:rPr>
              <a:t>Tools Required</a:t>
            </a:r>
            <a:endParaRPr lang="en-IN" sz="4000" dirty="0">
              <a:latin typeface="+mj-lt"/>
            </a:endParaRPr>
          </a:p>
        </p:txBody>
      </p:sp>
      <p:sp>
        <p:nvSpPr>
          <p:cNvPr id="9219" name="TextBox 4">
            <a:extLst>
              <a:ext uri="{FF2B5EF4-FFF2-40B4-BE49-F238E27FC236}">
                <a16:creationId xmlns:a16="http://schemas.microsoft.com/office/drawing/2014/main" id="{CC155570-B0E6-5ADE-9079-F21AB07E1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124744"/>
            <a:ext cx="8388350" cy="39039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latin typeface="+mj-lt"/>
              </a:rPr>
              <a:t>Arduino Uno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latin typeface="+mj-lt"/>
              </a:rPr>
              <a:t>5V buzzer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latin typeface="+mj-lt"/>
              </a:rPr>
              <a:t>UV led light 5mm (365nm – 400nm)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latin typeface="+mj-lt"/>
                <a:ea typeface="Calibri" panose="020F0502020204030204" pitchFamily="34" charset="0"/>
              </a:rPr>
              <a:t>dc motor and fan</a:t>
            </a:r>
            <a:endParaRPr lang="en-US" altLang="en-US" sz="2400" dirty="0">
              <a:latin typeface="+mj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latin typeface="+mj-lt"/>
                <a:ea typeface="Calibri" panose="020F0502020204030204" pitchFamily="34" charset="0"/>
              </a:rPr>
              <a:t>Cardboard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latin typeface="+mj-lt"/>
                <a:ea typeface="Calibri" panose="020F0502020204030204" pitchFamily="34" charset="0"/>
              </a:rPr>
              <a:t>Connecting wires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/>
            </a:pPr>
            <a:endParaRPr lang="en-US" altLang="en-US" sz="2400" dirty="0">
              <a:latin typeface="+mj-lt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C17054F-4975-8424-B755-A9586606F26A}"/>
              </a:ext>
            </a:extLst>
          </p:cNvPr>
          <p:cNvSpPr/>
          <p:nvPr/>
        </p:nvSpPr>
        <p:spPr bwMode="auto">
          <a:xfrm rot="10800000">
            <a:off x="4111440" y="1741120"/>
            <a:ext cx="936104" cy="100811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2882B6-0A43-744C-6495-213B6F9762DF}"/>
              </a:ext>
            </a:extLst>
          </p:cNvPr>
          <p:cNvSpPr/>
          <p:nvPr/>
        </p:nvSpPr>
        <p:spPr bwMode="auto">
          <a:xfrm rot="10800000">
            <a:off x="2447763" y="1113244"/>
            <a:ext cx="4248472" cy="123342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3A8C28E-9069-C7F9-7468-9B8C3780205F}"/>
              </a:ext>
            </a:extLst>
          </p:cNvPr>
          <p:cNvSpPr/>
          <p:nvPr/>
        </p:nvSpPr>
        <p:spPr bwMode="auto">
          <a:xfrm rot="10800000">
            <a:off x="3765130" y="1503835"/>
            <a:ext cx="1618084" cy="47473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05C323E-ED53-B63D-2FD1-2F0466E5BAB2}"/>
              </a:ext>
            </a:extLst>
          </p:cNvPr>
          <p:cNvSpPr/>
          <p:nvPr/>
        </p:nvSpPr>
        <p:spPr bwMode="auto">
          <a:xfrm rot="10800000">
            <a:off x="3024811" y="1354305"/>
            <a:ext cx="3056148" cy="850569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2A58E9-2B2C-BA0A-B500-F39386E2EB3A}"/>
              </a:ext>
            </a:extLst>
          </p:cNvPr>
          <p:cNvSpPr txBox="1"/>
          <p:nvPr/>
        </p:nvSpPr>
        <p:spPr>
          <a:xfrm>
            <a:off x="4067944" y="2176223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Buzzer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04DE169-FB28-325E-5C2C-6284B7727128}"/>
              </a:ext>
            </a:extLst>
          </p:cNvPr>
          <p:cNvSpPr/>
          <p:nvPr/>
        </p:nvSpPr>
        <p:spPr bwMode="auto">
          <a:xfrm rot="10800000">
            <a:off x="2644673" y="1312127"/>
            <a:ext cx="3600400" cy="1233428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535511B-B02C-F552-9BD3-8FE33B3B5851}"/>
              </a:ext>
            </a:extLst>
          </p:cNvPr>
          <p:cNvSpPr/>
          <p:nvPr/>
        </p:nvSpPr>
        <p:spPr bwMode="auto">
          <a:xfrm rot="10800000">
            <a:off x="3449565" y="1390265"/>
            <a:ext cx="2316877" cy="732123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995963A-5D55-6AD4-7048-1126E08DF025}"/>
              </a:ext>
            </a:extLst>
          </p:cNvPr>
          <p:cNvSpPr/>
          <p:nvPr/>
        </p:nvSpPr>
        <p:spPr bwMode="auto">
          <a:xfrm>
            <a:off x="4444873" y="1672167"/>
            <a:ext cx="288032" cy="14401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34881BB5-ED54-4110-C505-AC1030E8125C}"/>
              </a:ext>
            </a:extLst>
          </p:cNvPr>
          <p:cNvSpPr/>
          <p:nvPr/>
        </p:nvSpPr>
        <p:spPr bwMode="auto">
          <a:xfrm>
            <a:off x="7236296" y="908720"/>
            <a:ext cx="51910" cy="72008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BA8663CE-BF20-1DC6-254D-6A6747D2B453}"/>
              </a:ext>
            </a:extLst>
          </p:cNvPr>
          <p:cNvSpPr/>
          <p:nvPr/>
        </p:nvSpPr>
        <p:spPr bwMode="auto">
          <a:xfrm flipH="1">
            <a:off x="7033831" y="2345391"/>
            <a:ext cx="51910" cy="80392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18E4AB79-A3C5-4E08-8F08-972B41357B13}"/>
              </a:ext>
            </a:extLst>
          </p:cNvPr>
          <p:cNvSpPr/>
          <p:nvPr/>
        </p:nvSpPr>
        <p:spPr bwMode="auto">
          <a:xfrm>
            <a:off x="4949053" y="688427"/>
            <a:ext cx="51910" cy="72008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C75C69B4-AAED-C6FC-F8E1-495EA074FE8B}"/>
              </a:ext>
            </a:extLst>
          </p:cNvPr>
          <p:cNvSpPr/>
          <p:nvPr/>
        </p:nvSpPr>
        <p:spPr bwMode="auto">
          <a:xfrm>
            <a:off x="1944691" y="2309387"/>
            <a:ext cx="51910" cy="72008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CAD58CBE-2905-29C0-5FE7-3D50631EDF68}"/>
              </a:ext>
            </a:extLst>
          </p:cNvPr>
          <p:cNvSpPr/>
          <p:nvPr/>
        </p:nvSpPr>
        <p:spPr bwMode="auto">
          <a:xfrm>
            <a:off x="1613936" y="1665974"/>
            <a:ext cx="51910" cy="72008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21AB63DF-C7D2-9A30-A96D-E944FC811BA8}"/>
              </a:ext>
            </a:extLst>
          </p:cNvPr>
          <p:cNvSpPr/>
          <p:nvPr/>
        </p:nvSpPr>
        <p:spPr bwMode="auto">
          <a:xfrm>
            <a:off x="8532440" y="602068"/>
            <a:ext cx="51910" cy="72008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62E832-743A-8A2E-B430-AD73C38EFEBB}"/>
              </a:ext>
            </a:extLst>
          </p:cNvPr>
          <p:cNvSpPr txBox="1"/>
          <p:nvPr/>
        </p:nvSpPr>
        <p:spPr>
          <a:xfrm>
            <a:off x="2561104" y="94791"/>
            <a:ext cx="4021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+mj-lt"/>
              </a:rPr>
              <a:t>How frequency attracts 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71EC1B-07C2-4183-85C5-E98AAEC962C6}"/>
              </a:ext>
            </a:extLst>
          </p:cNvPr>
          <p:cNvSpPr txBox="1"/>
          <p:nvPr/>
        </p:nvSpPr>
        <p:spPr>
          <a:xfrm>
            <a:off x="1259632" y="3318191"/>
            <a:ext cx="77768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Research shows 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- 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certain sound frequencies can significantly influence the movement patterns of mosquitoes, making sound - potentially effective tool for attraction</a:t>
            </a:r>
            <a:endParaRPr lang="en-IN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358194-1F14-83DF-6178-F0F35D622C55}"/>
              </a:ext>
            </a:extLst>
          </p:cNvPr>
          <p:cNvSpPr txBox="1"/>
          <p:nvPr/>
        </p:nvSpPr>
        <p:spPr>
          <a:xfrm>
            <a:off x="1115616" y="5734521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Belton, Peter. "Attraction of male mosquitoes to sound."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 Am Mosquito Control Assoc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10 (1994): 297-301.</a:t>
            </a:r>
            <a:endParaRPr lang="en-IN" sz="12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n-lt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68060665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BE6C1A-CF1A-906D-0133-B1FCA36F9FE3}"/>
              </a:ext>
            </a:extLst>
          </p:cNvPr>
          <p:cNvSpPr txBox="1"/>
          <p:nvPr/>
        </p:nvSpPr>
        <p:spPr>
          <a:xfrm>
            <a:off x="2510136" y="284221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How UV attracts 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27367C-2967-2A5E-7DF0-62B4B1987695}"/>
              </a:ext>
            </a:extLst>
          </p:cNvPr>
          <p:cNvSpPr/>
          <p:nvPr/>
        </p:nvSpPr>
        <p:spPr bwMode="auto">
          <a:xfrm>
            <a:off x="2123728" y="1124744"/>
            <a:ext cx="936104" cy="288032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2EB3E5B7-47F3-C2F6-A49B-223FB7C5D84C}"/>
              </a:ext>
            </a:extLst>
          </p:cNvPr>
          <p:cNvSpPr/>
          <p:nvPr/>
        </p:nvSpPr>
        <p:spPr bwMode="auto">
          <a:xfrm>
            <a:off x="2411760" y="1268760"/>
            <a:ext cx="432048" cy="28803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8F8B068-042C-E850-CF28-EF8ED9D3594C}"/>
              </a:ext>
            </a:extLst>
          </p:cNvPr>
          <p:cNvSpPr/>
          <p:nvPr/>
        </p:nvSpPr>
        <p:spPr bwMode="auto">
          <a:xfrm>
            <a:off x="2717321" y="1535502"/>
            <a:ext cx="189781" cy="1915064"/>
          </a:xfrm>
          <a:custGeom>
            <a:avLst/>
            <a:gdLst>
              <a:gd name="connsiteX0" fmla="*/ 0 w 189781"/>
              <a:gd name="connsiteY0" fmla="*/ 0 h 1915064"/>
              <a:gd name="connsiteX1" fmla="*/ 25879 w 189781"/>
              <a:gd name="connsiteY1" fmla="*/ 43132 h 1915064"/>
              <a:gd name="connsiteX2" fmla="*/ 43132 w 189781"/>
              <a:gd name="connsiteY2" fmla="*/ 103517 h 1915064"/>
              <a:gd name="connsiteX3" fmla="*/ 69011 w 189781"/>
              <a:gd name="connsiteY3" fmla="*/ 155275 h 1915064"/>
              <a:gd name="connsiteX4" fmla="*/ 77637 w 189781"/>
              <a:gd name="connsiteY4" fmla="*/ 189781 h 1915064"/>
              <a:gd name="connsiteX5" fmla="*/ 43132 w 189781"/>
              <a:gd name="connsiteY5" fmla="*/ 422694 h 1915064"/>
              <a:gd name="connsiteX6" fmla="*/ 69011 w 189781"/>
              <a:gd name="connsiteY6" fmla="*/ 646981 h 1915064"/>
              <a:gd name="connsiteX7" fmla="*/ 86264 w 189781"/>
              <a:gd name="connsiteY7" fmla="*/ 707366 h 1915064"/>
              <a:gd name="connsiteX8" fmla="*/ 112143 w 189781"/>
              <a:gd name="connsiteY8" fmla="*/ 862641 h 1915064"/>
              <a:gd name="connsiteX9" fmla="*/ 120770 w 189781"/>
              <a:gd name="connsiteY9" fmla="*/ 1086928 h 1915064"/>
              <a:gd name="connsiteX10" fmla="*/ 129396 w 189781"/>
              <a:gd name="connsiteY10" fmla="*/ 1130060 h 1915064"/>
              <a:gd name="connsiteX11" fmla="*/ 146649 w 189781"/>
              <a:gd name="connsiteY11" fmla="*/ 1526875 h 1915064"/>
              <a:gd name="connsiteX12" fmla="*/ 163902 w 189781"/>
              <a:gd name="connsiteY12" fmla="*/ 1595887 h 1915064"/>
              <a:gd name="connsiteX13" fmla="*/ 181154 w 189781"/>
              <a:gd name="connsiteY13" fmla="*/ 1673524 h 1915064"/>
              <a:gd name="connsiteX14" fmla="*/ 189781 w 189781"/>
              <a:gd name="connsiteY14" fmla="*/ 1915064 h 191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9781" h="1915064">
                <a:moveTo>
                  <a:pt x="0" y="0"/>
                </a:moveTo>
                <a:cubicBezTo>
                  <a:pt x="8626" y="14377"/>
                  <a:pt x="18381" y="28135"/>
                  <a:pt x="25879" y="43132"/>
                </a:cubicBezTo>
                <a:cubicBezTo>
                  <a:pt x="38422" y="68219"/>
                  <a:pt x="32080" y="75888"/>
                  <a:pt x="43132" y="103517"/>
                </a:cubicBezTo>
                <a:cubicBezTo>
                  <a:pt x="50296" y="121426"/>
                  <a:pt x="60385" y="138022"/>
                  <a:pt x="69011" y="155275"/>
                </a:cubicBezTo>
                <a:cubicBezTo>
                  <a:pt x="71886" y="166777"/>
                  <a:pt x="78513" y="177957"/>
                  <a:pt x="77637" y="189781"/>
                </a:cubicBezTo>
                <a:cubicBezTo>
                  <a:pt x="67057" y="332615"/>
                  <a:pt x="64942" y="335452"/>
                  <a:pt x="43132" y="422694"/>
                </a:cubicBezTo>
                <a:cubicBezTo>
                  <a:pt x="51758" y="497456"/>
                  <a:pt x="57737" y="572572"/>
                  <a:pt x="69011" y="646981"/>
                </a:cubicBezTo>
                <a:cubicBezTo>
                  <a:pt x="72147" y="667679"/>
                  <a:pt x="82347" y="686802"/>
                  <a:pt x="86264" y="707366"/>
                </a:cubicBezTo>
                <a:cubicBezTo>
                  <a:pt x="131698" y="945894"/>
                  <a:pt x="85927" y="757775"/>
                  <a:pt x="112143" y="862641"/>
                </a:cubicBezTo>
                <a:cubicBezTo>
                  <a:pt x="115019" y="937403"/>
                  <a:pt x="115953" y="1012266"/>
                  <a:pt x="120770" y="1086928"/>
                </a:cubicBezTo>
                <a:cubicBezTo>
                  <a:pt x="121714" y="1101560"/>
                  <a:pt x="128535" y="1115423"/>
                  <a:pt x="129396" y="1130060"/>
                </a:cubicBezTo>
                <a:cubicBezTo>
                  <a:pt x="137171" y="1262228"/>
                  <a:pt x="138874" y="1394707"/>
                  <a:pt x="146649" y="1526875"/>
                </a:cubicBezTo>
                <a:cubicBezTo>
                  <a:pt x="149095" y="1568461"/>
                  <a:pt x="155577" y="1562587"/>
                  <a:pt x="163902" y="1595887"/>
                </a:cubicBezTo>
                <a:cubicBezTo>
                  <a:pt x="170332" y="1621606"/>
                  <a:pt x="179012" y="1647100"/>
                  <a:pt x="181154" y="1673524"/>
                </a:cubicBezTo>
                <a:cubicBezTo>
                  <a:pt x="187665" y="1753825"/>
                  <a:pt x="186905" y="1834551"/>
                  <a:pt x="189781" y="1915064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8511FBF-0307-019E-00E3-A178F72B35C6}"/>
              </a:ext>
            </a:extLst>
          </p:cNvPr>
          <p:cNvSpPr/>
          <p:nvPr/>
        </p:nvSpPr>
        <p:spPr bwMode="auto">
          <a:xfrm>
            <a:off x="2613804" y="1535502"/>
            <a:ext cx="120770" cy="2147977"/>
          </a:xfrm>
          <a:custGeom>
            <a:avLst/>
            <a:gdLst>
              <a:gd name="connsiteX0" fmla="*/ 0 w 120770"/>
              <a:gd name="connsiteY0" fmla="*/ 0 h 2147977"/>
              <a:gd name="connsiteX1" fmla="*/ 51758 w 120770"/>
              <a:gd name="connsiteY1" fmla="*/ 112143 h 2147977"/>
              <a:gd name="connsiteX2" fmla="*/ 120770 w 120770"/>
              <a:gd name="connsiteY2" fmla="*/ 301924 h 2147977"/>
              <a:gd name="connsiteX3" fmla="*/ 112143 w 120770"/>
              <a:gd name="connsiteY3" fmla="*/ 465826 h 2147977"/>
              <a:gd name="connsiteX4" fmla="*/ 103517 w 120770"/>
              <a:gd name="connsiteY4" fmla="*/ 543464 h 2147977"/>
              <a:gd name="connsiteX5" fmla="*/ 77638 w 120770"/>
              <a:gd name="connsiteY5" fmla="*/ 948906 h 2147977"/>
              <a:gd name="connsiteX6" fmla="*/ 94890 w 120770"/>
              <a:gd name="connsiteY6" fmla="*/ 983411 h 2147977"/>
              <a:gd name="connsiteX7" fmla="*/ 94890 w 120770"/>
              <a:gd name="connsiteY7" fmla="*/ 1733909 h 2147977"/>
              <a:gd name="connsiteX8" fmla="*/ 86264 w 120770"/>
              <a:gd name="connsiteY8" fmla="*/ 2147977 h 2147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770" h="2147977">
                <a:moveTo>
                  <a:pt x="0" y="0"/>
                </a:moveTo>
                <a:cubicBezTo>
                  <a:pt x="17253" y="37381"/>
                  <a:pt x="36262" y="74000"/>
                  <a:pt x="51758" y="112143"/>
                </a:cubicBezTo>
                <a:cubicBezTo>
                  <a:pt x="85455" y="195089"/>
                  <a:pt x="98389" y="234785"/>
                  <a:pt x="120770" y="301924"/>
                </a:cubicBezTo>
                <a:cubicBezTo>
                  <a:pt x="117894" y="356558"/>
                  <a:pt x="116041" y="411255"/>
                  <a:pt x="112143" y="465826"/>
                </a:cubicBezTo>
                <a:cubicBezTo>
                  <a:pt x="110288" y="491798"/>
                  <a:pt x="105212" y="517481"/>
                  <a:pt x="103517" y="543464"/>
                </a:cubicBezTo>
                <a:cubicBezTo>
                  <a:pt x="73534" y="1003202"/>
                  <a:pt x="99895" y="726325"/>
                  <a:pt x="77638" y="948906"/>
                </a:cubicBezTo>
                <a:cubicBezTo>
                  <a:pt x="83389" y="960408"/>
                  <a:pt x="92100" y="970858"/>
                  <a:pt x="94890" y="983411"/>
                </a:cubicBezTo>
                <a:cubicBezTo>
                  <a:pt x="144603" y="1207122"/>
                  <a:pt x="98991" y="1605405"/>
                  <a:pt x="94890" y="1733909"/>
                </a:cubicBezTo>
                <a:cubicBezTo>
                  <a:pt x="82571" y="2119897"/>
                  <a:pt x="86264" y="1691146"/>
                  <a:pt x="86264" y="2147977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80E7E6D-F810-0889-99F9-11778464CD24}"/>
              </a:ext>
            </a:extLst>
          </p:cNvPr>
          <p:cNvSpPr/>
          <p:nvPr/>
        </p:nvSpPr>
        <p:spPr bwMode="auto">
          <a:xfrm>
            <a:off x="2139051" y="1526875"/>
            <a:ext cx="440247" cy="2501661"/>
          </a:xfrm>
          <a:custGeom>
            <a:avLst/>
            <a:gdLst>
              <a:gd name="connsiteX0" fmla="*/ 440247 w 440247"/>
              <a:gd name="connsiteY0" fmla="*/ 0 h 2501661"/>
              <a:gd name="connsiteX1" fmla="*/ 431621 w 440247"/>
              <a:gd name="connsiteY1" fmla="*/ 163902 h 2501661"/>
              <a:gd name="connsiteX2" fmla="*/ 414368 w 440247"/>
              <a:gd name="connsiteY2" fmla="*/ 517585 h 2501661"/>
              <a:gd name="connsiteX3" fmla="*/ 397115 w 440247"/>
              <a:gd name="connsiteY3" fmla="*/ 871268 h 2501661"/>
              <a:gd name="connsiteX4" fmla="*/ 379862 w 440247"/>
              <a:gd name="connsiteY4" fmla="*/ 940280 h 2501661"/>
              <a:gd name="connsiteX5" fmla="*/ 353983 w 440247"/>
              <a:gd name="connsiteY5" fmla="*/ 1035170 h 2501661"/>
              <a:gd name="connsiteX6" fmla="*/ 345357 w 440247"/>
              <a:gd name="connsiteY6" fmla="*/ 1095555 h 2501661"/>
              <a:gd name="connsiteX7" fmla="*/ 328104 w 440247"/>
              <a:gd name="connsiteY7" fmla="*/ 1138687 h 2501661"/>
              <a:gd name="connsiteX8" fmla="*/ 302224 w 440247"/>
              <a:gd name="connsiteY8" fmla="*/ 1224951 h 2501661"/>
              <a:gd name="connsiteX9" fmla="*/ 310851 w 440247"/>
              <a:gd name="connsiteY9" fmla="*/ 1604514 h 2501661"/>
              <a:gd name="connsiteX10" fmla="*/ 293598 w 440247"/>
              <a:gd name="connsiteY10" fmla="*/ 1656272 h 2501661"/>
              <a:gd name="connsiteX11" fmla="*/ 259092 w 440247"/>
              <a:gd name="connsiteY11" fmla="*/ 1742536 h 2501661"/>
              <a:gd name="connsiteX12" fmla="*/ 259092 w 440247"/>
              <a:gd name="connsiteY12" fmla="*/ 1923691 h 2501661"/>
              <a:gd name="connsiteX13" fmla="*/ 276345 w 440247"/>
              <a:gd name="connsiteY13" fmla="*/ 1992702 h 2501661"/>
              <a:gd name="connsiteX14" fmla="*/ 284972 w 440247"/>
              <a:gd name="connsiteY14" fmla="*/ 2044461 h 2501661"/>
              <a:gd name="connsiteX15" fmla="*/ 250466 w 440247"/>
              <a:gd name="connsiteY15" fmla="*/ 2182483 h 2501661"/>
              <a:gd name="connsiteX16" fmla="*/ 129696 w 440247"/>
              <a:gd name="connsiteY16" fmla="*/ 2286000 h 2501661"/>
              <a:gd name="connsiteX17" fmla="*/ 43432 w 440247"/>
              <a:gd name="connsiteY17" fmla="*/ 2346385 h 2501661"/>
              <a:gd name="connsiteX18" fmla="*/ 8926 w 440247"/>
              <a:gd name="connsiteY18" fmla="*/ 2432650 h 2501661"/>
              <a:gd name="connsiteX19" fmla="*/ 300 w 440247"/>
              <a:gd name="connsiteY19" fmla="*/ 2501661 h 2501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40247" h="2501661">
                <a:moveTo>
                  <a:pt x="440247" y="0"/>
                </a:moveTo>
                <a:cubicBezTo>
                  <a:pt x="437372" y="54634"/>
                  <a:pt x="433684" y="109231"/>
                  <a:pt x="431621" y="163902"/>
                </a:cubicBezTo>
                <a:cubicBezTo>
                  <a:pt x="418849" y="502355"/>
                  <a:pt x="437563" y="355213"/>
                  <a:pt x="414368" y="517585"/>
                </a:cubicBezTo>
                <a:cubicBezTo>
                  <a:pt x="408617" y="635479"/>
                  <a:pt x="406719" y="753625"/>
                  <a:pt x="397115" y="871268"/>
                </a:cubicBezTo>
                <a:cubicBezTo>
                  <a:pt x="395186" y="894901"/>
                  <a:pt x="384512" y="917028"/>
                  <a:pt x="379862" y="940280"/>
                </a:cubicBezTo>
                <a:cubicBezTo>
                  <a:pt x="362454" y="1027322"/>
                  <a:pt x="384733" y="973671"/>
                  <a:pt x="353983" y="1035170"/>
                </a:cubicBezTo>
                <a:cubicBezTo>
                  <a:pt x="351108" y="1055298"/>
                  <a:pt x="350288" y="1075829"/>
                  <a:pt x="345357" y="1095555"/>
                </a:cubicBezTo>
                <a:cubicBezTo>
                  <a:pt x="341601" y="1110578"/>
                  <a:pt x="333396" y="1124134"/>
                  <a:pt x="328104" y="1138687"/>
                </a:cubicBezTo>
                <a:cubicBezTo>
                  <a:pt x="311304" y="1184888"/>
                  <a:pt x="312523" y="1183759"/>
                  <a:pt x="302224" y="1224951"/>
                </a:cubicBezTo>
                <a:cubicBezTo>
                  <a:pt x="327228" y="1399980"/>
                  <a:pt x="330288" y="1371270"/>
                  <a:pt x="310851" y="1604514"/>
                </a:cubicBezTo>
                <a:cubicBezTo>
                  <a:pt x="309341" y="1622637"/>
                  <a:pt x="299984" y="1639244"/>
                  <a:pt x="293598" y="1656272"/>
                </a:cubicBezTo>
                <a:cubicBezTo>
                  <a:pt x="282724" y="1685270"/>
                  <a:pt x="259092" y="1742536"/>
                  <a:pt x="259092" y="1742536"/>
                </a:cubicBezTo>
                <a:cubicBezTo>
                  <a:pt x="247119" y="1826348"/>
                  <a:pt x="244331" y="1815445"/>
                  <a:pt x="259092" y="1923691"/>
                </a:cubicBezTo>
                <a:cubicBezTo>
                  <a:pt x="262296" y="1947185"/>
                  <a:pt x="271377" y="1969517"/>
                  <a:pt x="276345" y="1992702"/>
                </a:cubicBezTo>
                <a:cubicBezTo>
                  <a:pt x="280010" y="2009805"/>
                  <a:pt x="282096" y="2027208"/>
                  <a:pt x="284972" y="2044461"/>
                </a:cubicBezTo>
                <a:cubicBezTo>
                  <a:pt x="273470" y="2090468"/>
                  <a:pt x="276111" y="2142592"/>
                  <a:pt x="250466" y="2182483"/>
                </a:cubicBezTo>
                <a:cubicBezTo>
                  <a:pt x="221794" y="2227083"/>
                  <a:pt x="170095" y="2251661"/>
                  <a:pt x="129696" y="2286000"/>
                </a:cubicBezTo>
                <a:cubicBezTo>
                  <a:pt x="70991" y="2335900"/>
                  <a:pt x="96347" y="2319929"/>
                  <a:pt x="43432" y="2346385"/>
                </a:cubicBezTo>
                <a:cubicBezTo>
                  <a:pt x="23740" y="2425156"/>
                  <a:pt x="50501" y="2328714"/>
                  <a:pt x="8926" y="2432650"/>
                </a:cubicBezTo>
                <a:cubicBezTo>
                  <a:pt x="-2490" y="2461189"/>
                  <a:pt x="300" y="2471914"/>
                  <a:pt x="300" y="250166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45E6B7-9B5C-AFA3-ACAB-653171DC3530}"/>
              </a:ext>
            </a:extLst>
          </p:cNvPr>
          <p:cNvSpPr/>
          <p:nvPr/>
        </p:nvSpPr>
        <p:spPr bwMode="auto">
          <a:xfrm>
            <a:off x="1164507" y="1526875"/>
            <a:ext cx="1311274" cy="1708031"/>
          </a:xfrm>
          <a:custGeom>
            <a:avLst/>
            <a:gdLst>
              <a:gd name="connsiteX0" fmla="*/ 1311274 w 1311274"/>
              <a:gd name="connsiteY0" fmla="*/ 0 h 1708031"/>
              <a:gd name="connsiteX1" fmla="*/ 1207757 w 1311274"/>
              <a:gd name="connsiteY1" fmla="*/ 34506 h 1708031"/>
              <a:gd name="connsiteX2" fmla="*/ 1173251 w 1311274"/>
              <a:gd name="connsiteY2" fmla="*/ 69012 h 1708031"/>
              <a:gd name="connsiteX3" fmla="*/ 1138746 w 1311274"/>
              <a:gd name="connsiteY3" fmla="*/ 86265 h 1708031"/>
              <a:gd name="connsiteX4" fmla="*/ 1095614 w 1311274"/>
              <a:gd name="connsiteY4" fmla="*/ 112144 h 1708031"/>
              <a:gd name="connsiteX5" fmla="*/ 992097 w 1311274"/>
              <a:gd name="connsiteY5" fmla="*/ 189782 h 1708031"/>
              <a:gd name="connsiteX6" fmla="*/ 819568 w 1311274"/>
              <a:gd name="connsiteY6" fmla="*/ 284672 h 1708031"/>
              <a:gd name="connsiteX7" fmla="*/ 733304 w 1311274"/>
              <a:gd name="connsiteY7" fmla="*/ 431321 h 1708031"/>
              <a:gd name="connsiteX8" fmla="*/ 716051 w 1311274"/>
              <a:gd name="connsiteY8" fmla="*/ 552091 h 1708031"/>
              <a:gd name="connsiteX9" fmla="*/ 655667 w 1311274"/>
              <a:gd name="connsiteY9" fmla="*/ 638355 h 1708031"/>
              <a:gd name="connsiteX10" fmla="*/ 629787 w 1311274"/>
              <a:gd name="connsiteY10" fmla="*/ 681487 h 1708031"/>
              <a:gd name="connsiteX11" fmla="*/ 586655 w 1311274"/>
              <a:gd name="connsiteY11" fmla="*/ 724619 h 1708031"/>
              <a:gd name="connsiteX12" fmla="*/ 560776 w 1311274"/>
              <a:gd name="connsiteY12" fmla="*/ 767751 h 1708031"/>
              <a:gd name="connsiteX13" fmla="*/ 517644 w 1311274"/>
              <a:gd name="connsiteY13" fmla="*/ 810883 h 1708031"/>
              <a:gd name="connsiteX14" fmla="*/ 500391 w 1311274"/>
              <a:gd name="connsiteY14" fmla="*/ 845389 h 1708031"/>
              <a:gd name="connsiteX15" fmla="*/ 396874 w 1311274"/>
              <a:gd name="connsiteY15" fmla="*/ 983412 h 1708031"/>
              <a:gd name="connsiteX16" fmla="*/ 370995 w 1311274"/>
              <a:gd name="connsiteY16" fmla="*/ 1035170 h 1708031"/>
              <a:gd name="connsiteX17" fmla="*/ 362368 w 1311274"/>
              <a:gd name="connsiteY17" fmla="*/ 1061050 h 1708031"/>
              <a:gd name="connsiteX18" fmla="*/ 319236 w 1311274"/>
              <a:gd name="connsiteY18" fmla="*/ 1121434 h 1708031"/>
              <a:gd name="connsiteX19" fmla="*/ 284731 w 1311274"/>
              <a:gd name="connsiteY19" fmla="*/ 1233578 h 1708031"/>
              <a:gd name="connsiteX20" fmla="*/ 258851 w 1311274"/>
              <a:gd name="connsiteY20" fmla="*/ 1268083 h 1708031"/>
              <a:gd name="connsiteX21" fmla="*/ 172587 w 1311274"/>
              <a:gd name="connsiteY21" fmla="*/ 1388853 h 1708031"/>
              <a:gd name="connsiteX22" fmla="*/ 129455 w 1311274"/>
              <a:gd name="connsiteY22" fmla="*/ 1406106 h 1708031"/>
              <a:gd name="connsiteX23" fmla="*/ 103576 w 1311274"/>
              <a:gd name="connsiteY23" fmla="*/ 1431985 h 1708031"/>
              <a:gd name="connsiteX24" fmla="*/ 25938 w 1311274"/>
              <a:gd name="connsiteY24" fmla="*/ 1466491 h 1708031"/>
              <a:gd name="connsiteX25" fmla="*/ 59 w 1311274"/>
              <a:gd name="connsiteY25" fmla="*/ 1708031 h 1708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311274" h="1708031">
                <a:moveTo>
                  <a:pt x="1311274" y="0"/>
                </a:moveTo>
                <a:cubicBezTo>
                  <a:pt x="1263410" y="7978"/>
                  <a:pt x="1249883" y="5018"/>
                  <a:pt x="1207757" y="34506"/>
                </a:cubicBezTo>
                <a:cubicBezTo>
                  <a:pt x="1194431" y="43834"/>
                  <a:pt x="1186264" y="59252"/>
                  <a:pt x="1173251" y="69012"/>
                </a:cubicBezTo>
                <a:cubicBezTo>
                  <a:pt x="1162964" y="76728"/>
                  <a:pt x="1149987" y="80020"/>
                  <a:pt x="1138746" y="86265"/>
                </a:cubicBezTo>
                <a:cubicBezTo>
                  <a:pt x="1124089" y="94408"/>
                  <a:pt x="1109312" y="102475"/>
                  <a:pt x="1095614" y="112144"/>
                </a:cubicBezTo>
                <a:cubicBezTo>
                  <a:pt x="1060376" y="137018"/>
                  <a:pt x="1028197" y="166178"/>
                  <a:pt x="992097" y="189782"/>
                </a:cubicBezTo>
                <a:cubicBezTo>
                  <a:pt x="928248" y="231530"/>
                  <a:pt x="882150" y="253382"/>
                  <a:pt x="819568" y="284672"/>
                </a:cubicBezTo>
                <a:cubicBezTo>
                  <a:pt x="750421" y="353820"/>
                  <a:pt x="754217" y="330939"/>
                  <a:pt x="733304" y="431321"/>
                </a:cubicBezTo>
                <a:cubicBezTo>
                  <a:pt x="725010" y="471132"/>
                  <a:pt x="739371" y="518776"/>
                  <a:pt x="716051" y="552091"/>
                </a:cubicBezTo>
                <a:cubicBezTo>
                  <a:pt x="695923" y="580846"/>
                  <a:pt x="675137" y="609151"/>
                  <a:pt x="655667" y="638355"/>
                </a:cubicBezTo>
                <a:cubicBezTo>
                  <a:pt x="646366" y="652306"/>
                  <a:pt x="640261" y="668394"/>
                  <a:pt x="629787" y="681487"/>
                </a:cubicBezTo>
                <a:cubicBezTo>
                  <a:pt x="617085" y="697364"/>
                  <a:pt x="599357" y="708742"/>
                  <a:pt x="586655" y="724619"/>
                </a:cubicBezTo>
                <a:cubicBezTo>
                  <a:pt x="576181" y="737712"/>
                  <a:pt x="571250" y="754658"/>
                  <a:pt x="560776" y="767751"/>
                </a:cubicBezTo>
                <a:cubicBezTo>
                  <a:pt x="548074" y="783628"/>
                  <a:pt x="530127" y="794833"/>
                  <a:pt x="517644" y="810883"/>
                </a:cubicBezTo>
                <a:cubicBezTo>
                  <a:pt x="509749" y="821034"/>
                  <a:pt x="507765" y="834854"/>
                  <a:pt x="500391" y="845389"/>
                </a:cubicBezTo>
                <a:cubicBezTo>
                  <a:pt x="467412" y="892503"/>
                  <a:pt x="422593" y="931974"/>
                  <a:pt x="396874" y="983412"/>
                </a:cubicBezTo>
                <a:cubicBezTo>
                  <a:pt x="388248" y="1000665"/>
                  <a:pt x="378829" y="1017543"/>
                  <a:pt x="370995" y="1035170"/>
                </a:cubicBezTo>
                <a:cubicBezTo>
                  <a:pt x="367302" y="1043480"/>
                  <a:pt x="367047" y="1053253"/>
                  <a:pt x="362368" y="1061050"/>
                </a:cubicBezTo>
                <a:cubicBezTo>
                  <a:pt x="349642" y="1082260"/>
                  <a:pt x="333613" y="1101306"/>
                  <a:pt x="319236" y="1121434"/>
                </a:cubicBezTo>
                <a:cubicBezTo>
                  <a:pt x="310924" y="1154683"/>
                  <a:pt x="302500" y="1201596"/>
                  <a:pt x="284731" y="1233578"/>
                </a:cubicBezTo>
                <a:cubicBezTo>
                  <a:pt x="277749" y="1246146"/>
                  <a:pt x="266095" y="1255664"/>
                  <a:pt x="258851" y="1268083"/>
                </a:cubicBezTo>
                <a:cubicBezTo>
                  <a:pt x="220657" y="1333559"/>
                  <a:pt x="235681" y="1342967"/>
                  <a:pt x="172587" y="1388853"/>
                </a:cubicBezTo>
                <a:cubicBezTo>
                  <a:pt x="160064" y="1397961"/>
                  <a:pt x="143832" y="1400355"/>
                  <a:pt x="129455" y="1406106"/>
                </a:cubicBezTo>
                <a:cubicBezTo>
                  <a:pt x="120829" y="1414732"/>
                  <a:pt x="114114" y="1425838"/>
                  <a:pt x="103576" y="1431985"/>
                </a:cubicBezTo>
                <a:cubicBezTo>
                  <a:pt x="79114" y="1446255"/>
                  <a:pt x="35882" y="1439974"/>
                  <a:pt x="25938" y="1466491"/>
                </a:cubicBezTo>
                <a:cubicBezTo>
                  <a:pt x="-2494" y="1542309"/>
                  <a:pt x="59" y="1708031"/>
                  <a:pt x="59" y="170803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48AC800-4991-BF85-4D84-806301AE49A4}"/>
              </a:ext>
            </a:extLst>
          </p:cNvPr>
          <p:cNvSpPr/>
          <p:nvPr/>
        </p:nvSpPr>
        <p:spPr bwMode="auto">
          <a:xfrm>
            <a:off x="1742518" y="1483743"/>
            <a:ext cx="828154" cy="2260121"/>
          </a:xfrm>
          <a:custGeom>
            <a:avLst/>
            <a:gdLst>
              <a:gd name="connsiteX0" fmla="*/ 828154 w 828154"/>
              <a:gd name="connsiteY0" fmla="*/ 0 h 2260121"/>
              <a:gd name="connsiteX1" fmla="*/ 750516 w 828154"/>
              <a:gd name="connsiteY1" fmla="*/ 146649 h 2260121"/>
              <a:gd name="connsiteX2" fmla="*/ 716010 w 828154"/>
              <a:gd name="connsiteY2" fmla="*/ 172529 h 2260121"/>
              <a:gd name="connsiteX3" fmla="*/ 672878 w 828154"/>
              <a:gd name="connsiteY3" fmla="*/ 310551 h 2260121"/>
              <a:gd name="connsiteX4" fmla="*/ 655625 w 828154"/>
              <a:gd name="connsiteY4" fmla="*/ 379563 h 2260121"/>
              <a:gd name="connsiteX5" fmla="*/ 603867 w 828154"/>
              <a:gd name="connsiteY5" fmla="*/ 448574 h 2260121"/>
              <a:gd name="connsiteX6" fmla="*/ 612493 w 828154"/>
              <a:gd name="connsiteY6" fmla="*/ 621102 h 2260121"/>
              <a:gd name="connsiteX7" fmla="*/ 603867 w 828154"/>
              <a:gd name="connsiteY7" fmla="*/ 923027 h 2260121"/>
              <a:gd name="connsiteX8" fmla="*/ 552108 w 828154"/>
              <a:gd name="connsiteY8" fmla="*/ 1026544 h 2260121"/>
              <a:gd name="connsiteX9" fmla="*/ 526229 w 828154"/>
              <a:gd name="connsiteY9" fmla="*/ 1043797 h 2260121"/>
              <a:gd name="connsiteX10" fmla="*/ 491724 w 828154"/>
              <a:gd name="connsiteY10" fmla="*/ 1147314 h 2260121"/>
              <a:gd name="connsiteX11" fmla="*/ 483097 w 828154"/>
              <a:gd name="connsiteY11" fmla="*/ 1190446 h 2260121"/>
              <a:gd name="connsiteX12" fmla="*/ 465844 w 828154"/>
              <a:gd name="connsiteY12" fmla="*/ 1423359 h 2260121"/>
              <a:gd name="connsiteX13" fmla="*/ 439965 w 828154"/>
              <a:gd name="connsiteY13" fmla="*/ 1552755 h 2260121"/>
              <a:gd name="connsiteX14" fmla="*/ 336448 w 828154"/>
              <a:gd name="connsiteY14" fmla="*/ 1656272 h 2260121"/>
              <a:gd name="connsiteX15" fmla="*/ 258810 w 828154"/>
              <a:gd name="connsiteY15" fmla="*/ 1742536 h 2260121"/>
              <a:gd name="connsiteX16" fmla="*/ 232931 w 828154"/>
              <a:gd name="connsiteY16" fmla="*/ 1811548 h 2260121"/>
              <a:gd name="connsiteX17" fmla="*/ 181173 w 828154"/>
              <a:gd name="connsiteY17" fmla="*/ 1863306 h 2260121"/>
              <a:gd name="connsiteX18" fmla="*/ 163920 w 828154"/>
              <a:gd name="connsiteY18" fmla="*/ 2035834 h 2260121"/>
              <a:gd name="connsiteX19" fmla="*/ 146667 w 828154"/>
              <a:gd name="connsiteY19" fmla="*/ 2096219 h 2260121"/>
              <a:gd name="connsiteX20" fmla="*/ 138040 w 828154"/>
              <a:gd name="connsiteY20" fmla="*/ 2122099 h 2260121"/>
              <a:gd name="connsiteX21" fmla="*/ 86282 w 828154"/>
              <a:gd name="connsiteY21" fmla="*/ 2165231 h 2260121"/>
              <a:gd name="connsiteX22" fmla="*/ 43150 w 828154"/>
              <a:gd name="connsiteY22" fmla="*/ 2216989 h 2260121"/>
              <a:gd name="connsiteX23" fmla="*/ 18 w 828154"/>
              <a:gd name="connsiteY23" fmla="*/ 2260121 h 2260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28154" h="2260121">
                <a:moveTo>
                  <a:pt x="828154" y="0"/>
                </a:moveTo>
                <a:cubicBezTo>
                  <a:pt x="791340" y="85899"/>
                  <a:pt x="801864" y="102636"/>
                  <a:pt x="750516" y="146649"/>
                </a:cubicBezTo>
                <a:cubicBezTo>
                  <a:pt x="739600" y="156006"/>
                  <a:pt x="727512" y="163902"/>
                  <a:pt x="716010" y="172529"/>
                </a:cubicBezTo>
                <a:cubicBezTo>
                  <a:pt x="697637" y="227648"/>
                  <a:pt x="690161" y="248334"/>
                  <a:pt x="672878" y="310551"/>
                </a:cubicBezTo>
                <a:cubicBezTo>
                  <a:pt x="666532" y="333398"/>
                  <a:pt x="666229" y="358354"/>
                  <a:pt x="655625" y="379563"/>
                </a:cubicBezTo>
                <a:cubicBezTo>
                  <a:pt x="642766" y="405282"/>
                  <a:pt x="621120" y="425570"/>
                  <a:pt x="603867" y="448574"/>
                </a:cubicBezTo>
                <a:cubicBezTo>
                  <a:pt x="582075" y="579316"/>
                  <a:pt x="607830" y="392641"/>
                  <a:pt x="612493" y="621102"/>
                </a:cubicBezTo>
                <a:cubicBezTo>
                  <a:pt x="614547" y="721764"/>
                  <a:pt x="611040" y="822600"/>
                  <a:pt x="603867" y="923027"/>
                </a:cubicBezTo>
                <a:cubicBezTo>
                  <a:pt x="600617" y="968530"/>
                  <a:pt x="582926" y="995726"/>
                  <a:pt x="552108" y="1026544"/>
                </a:cubicBezTo>
                <a:cubicBezTo>
                  <a:pt x="544777" y="1033875"/>
                  <a:pt x="534855" y="1038046"/>
                  <a:pt x="526229" y="1043797"/>
                </a:cubicBezTo>
                <a:cubicBezTo>
                  <a:pt x="514727" y="1078303"/>
                  <a:pt x="501987" y="1112420"/>
                  <a:pt x="491724" y="1147314"/>
                </a:cubicBezTo>
                <a:cubicBezTo>
                  <a:pt x="487587" y="1161380"/>
                  <a:pt x="484466" y="1175848"/>
                  <a:pt x="483097" y="1190446"/>
                </a:cubicBezTo>
                <a:cubicBezTo>
                  <a:pt x="475830" y="1267956"/>
                  <a:pt x="475047" y="1346054"/>
                  <a:pt x="465844" y="1423359"/>
                </a:cubicBezTo>
                <a:cubicBezTo>
                  <a:pt x="460644" y="1467037"/>
                  <a:pt x="461327" y="1514304"/>
                  <a:pt x="439965" y="1552755"/>
                </a:cubicBezTo>
                <a:cubicBezTo>
                  <a:pt x="416266" y="1595412"/>
                  <a:pt x="370142" y="1620973"/>
                  <a:pt x="336448" y="1656272"/>
                </a:cubicBezTo>
                <a:cubicBezTo>
                  <a:pt x="309737" y="1684255"/>
                  <a:pt x="284689" y="1713781"/>
                  <a:pt x="258810" y="1742536"/>
                </a:cubicBezTo>
                <a:cubicBezTo>
                  <a:pt x="252736" y="1766833"/>
                  <a:pt x="249335" y="1791043"/>
                  <a:pt x="232931" y="1811548"/>
                </a:cubicBezTo>
                <a:cubicBezTo>
                  <a:pt x="217689" y="1830600"/>
                  <a:pt x="198426" y="1846053"/>
                  <a:pt x="181173" y="1863306"/>
                </a:cubicBezTo>
                <a:cubicBezTo>
                  <a:pt x="155891" y="1964429"/>
                  <a:pt x="194571" y="1800843"/>
                  <a:pt x="163920" y="2035834"/>
                </a:cubicBezTo>
                <a:cubicBezTo>
                  <a:pt x="161212" y="2056592"/>
                  <a:pt x="152682" y="2076168"/>
                  <a:pt x="146667" y="2096219"/>
                </a:cubicBezTo>
                <a:cubicBezTo>
                  <a:pt x="144054" y="2104929"/>
                  <a:pt x="144028" y="2115256"/>
                  <a:pt x="138040" y="2122099"/>
                </a:cubicBezTo>
                <a:cubicBezTo>
                  <a:pt x="123251" y="2139000"/>
                  <a:pt x="102162" y="2149351"/>
                  <a:pt x="86282" y="2165231"/>
                </a:cubicBezTo>
                <a:cubicBezTo>
                  <a:pt x="70402" y="2181111"/>
                  <a:pt x="59030" y="2201109"/>
                  <a:pt x="43150" y="2216989"/>
                </a:cubicBezTo>
                <a:cubicBezTo>
                  <a:pt x="-2227" y="2262366"/>
                  <a:pt x="18" y="2231666"/>
                  <a:pt x="18" y="2260121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3558859-C728-247C-D4DF-2E2289FF35E8}"/>
              </a:ext>
            </a:extLst>
          </p:cNvPr>
          <p:cNvSpPr/>
          <p:nvPr/>
        </p:nvSpPr>
        <p:spPr bwMode="auto">
          <a:xfrm>
            <a:off x="2786332" y="1518249"/>
            <a:ext cx="527268" cy="2206910"/>
          </a:xfrm>
          <a:custGeom>
            <a:avLst/>
            <a:gdLst>
              <a:gd name="connsiteX0" fmla="*/ 0 w 527268"/>
              <a:gd name="connsiteY0" fmla="*/ 0 h 2206910"/>
              <a:gd name="connsiteX1" fmla="*/ 34506 w 527268"/>
              <a:gd name="connsiteY1" fmla="*/ 51759 h 2206910"/>
              <a:gd name="connsiteX2" fmla="*/ 172528 w 527268"/>
              <a:gd name="connsiteY2" fmla="*/ 353683 h 2206910"/>
              <a:gd name="connsiteX3" fmla="*/ 189781 w 527268"/>
              <a:gd name="connsiteY3" fmla="*/ 396815 h 2206910"/>
              <a:gd name="connsiteX4" fmla="*/ 224287 w 527268"/>
              <a:gd name="connsiteY4" fmla="*/ 457200 h 2206910"/>
              <a:gd name="connsiteX5" fmla="*/ 207034 w 527268"/>
              <a:gd name="connsiteY5" fmla="*/ 715993 h 2206910"/>
              <a:gd name="connsiteX6" fmla="*/ 198408 w 527268"/>
              <a:gd name="connsiteY6" fmla="*/ 750498 h 2206910"/>
              <a:gd name="connsiteX7" fmla="*/ 232913 w 527268"/>
              <a:gd name="connsiteY7" fmla="*/ 879894 h 2206910"/>
              <a:gd name="connsiteX8" fmla="*/ 258793 w 527268"/>
              <a:gd name="connsiteY8" fmla="*/ 1035170 h 2206910"/>
              <a:gd name="connsiteX9" fmla="*/ 267419 w 527268"/>
              <a:gd name="connsiteY9" fmla="*/ 1130060 h 2206910"/>
              <a:gd name="connsiteX10" fmla="*/ 301925 w 527268"/>
              <a:gd name="connsiteY10" fmla="*/ 1293962 h 2206910"/>
              <a:gd name="connsiteX11" fmla="*/ 310551 w 527268"/>
              <a:gd name="connsiteY11" fmla="*/ 1328468 h 2206910"/>
              <a:gd name="connsiteX12" fmla="*/ 336430 w 527268"/>
              <a:gd name="connsiteY12" fmla="*/ 1397479 h 2206910"/>
              <a:gd name="connsiteX13" fmla="*/ 345057 w 527268"/>
              <a:gd name="connsiteY13" fmla="*/ 1587260 h 2206910"/>
              <a:gd name="connsiteX14" fmla="*/ 370936 w 527268"/>
              <a:gd name="connsiteY14" fmla="*/ 1690777 h 2206910"/>
              <a:gd name="connsiteX15" fmla="*/ 388189 w 527268"/>
              <a:gd name="connsiteY15" fmla="*/ 1768415 h 2206910"/>
              <a:gd name="connsiteX16" fmla="*/ 414068 w 527268"/>
              <a:gd name="connsiteY16" fmla="*/ 1837426 h 2206910"/>
              <a:gd name="connsiteX17" fmla="*/ 439947 w 527268"/>
              <a:gd name="connsiteY17" fmla="*/ 1915064 h 2206910"/>
              <a:gd name="connsiteX18" fmla="*/ 448574 w 527268"/>
              <a:gd name="connsiteY18" fmla="*/ 2001328 h 2206910"/>
              <a:gd name="connsiteX19" fmla="*/ 491706 w 527268"/>
              <a:gd name="connsiteY19" fmla="*/ 2104845 h 2206910"/>
              <a:gd name="connsiteX20" fmla="*/ 508959 w 527268"/>
              <a:gd name="connsiteY20" fmla="*/ 2191109 h 220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7268" h="2206910">
                <a:moveTo>
                  <a:pt x="0" y="0"/>
                </a:moveTo>
                <a:cubicBezTo>
                  <a:pt x="11502" y="17253"/>
                  <a:pt x="25415" y="33123"/>
                  <a:pt x="34506" y="51759"/>
                </a:cubicBezTo>
                <a:cubicBezTo>
                  <a:pt x="83021" y="151216"/>
                  <a:pt x="131430" y="250939"/>
                  <a:pt x="172528" y="353683"/>
                </a:cubicBezTo>
                <a:cubicBezTo>
                  <a:pt x="178279" y="368060"/>
                  <a:pt x="182856" y="382965"/>
                  <a:pt x="189781" y="396815"/>
                </a:cubicBezTo>
                <a:cubicBezTo>
                  <a:pt x="200149" y="417550"/>
                  <a:pt x="212785" y="437072"/>
                  <a:pt x="224287" y="457200"/>
                </a:cubicBezTo>
                <a:cubicBezTo>
                  <a:pt x="218536" y="543464"/>
                  <a:pt x="214633" y="629872"/>
                  <a:pt x="207034" y="715993"/>
                </a:cubicBezTo>
                <a:cubicBezTo>
                  <a:pt x="205992" y="727803"/>
                  <a:pt x="197619" y="738669"/>
                  <a:pt x="198408" y="750498"/>
                </a:cubicBezTo>
                <a:cubicBezTo>
                  <a:pt x="203672" y="829466"/>
                  <a:pt x="206997" y="828064"/>
                  <a:pt x="232913" y="879894"/>
                </a:cubicBezTo>
                <a:cubicBezTo>
                  <a:pt x="265361" y="1171910"/>
                  <a:pt x="214619" y="740675"/>
                  <a:pt x="258793" y="1035170"/>
                </a:cubicBezTo>
                <a:cubicBezTo>
                  <a:pt x="263504" y="1066579"/>
                  <a:pt x="264983" y="1098393"/>
                  <a:pt x="267419" y="1130060"/>
                </a:cubicBezTo>
                <a:cubicBezTo>
                  <a:pt x="278644" y="1275993"/>
                  <a:pt x="249561" y="1224147"/>
                  <a:pt x="301925" y="1293962"/>
                </a:cubicBezTo>
                <a:cubicBezTo>
                  <a:pt x="304800" y="1305464"/>
                  <a:pt x="306802" y="1317220"/>
                  <a:pt x="310551" y="1328468"/>
                </a:cubicBezTo>
                <a:cubicBezTo>
                  <a:pt x="318320" y="1351775"/>
                  <a:pt x="333183" y="1373127"/>
                  <a:pt x="336430" y="1397479"/>
                </a:cubicBezTo>
                <a:cubicBezTo>
                  <a:pt x="344799" y="1460249"/>
                  <a:pt x="337658" y="1524368"/>
                  <a:pt x="345057" y="1587260"/>
                </a:cubicBezTo>
                <a:cubicBezTo>
                  <a:pt x="349213" y="1622584"/>
                  <a:pt x="362698" y="1656177"/>
                  <a:pt x="370936" y="1690777"/>
                </a:cubicBezTo>
                <a:cubicBezTo>
                  <a:pt x="377076" y="1716567"/>
                  <a:pt x="380709" y="1742982"/>
                  <a:pt x="388189" y="1768415"/>
                </a:cubicBezTo>
                <a:cubicBezTo>
                  <a:pt x="395121" y="1791985"/>
                  <a:pt x="406299" y="1814119"/>
                  <a:pt x="414068" y="1837426"/>
                </a:cubicBezTo>
                <a:cubicBezTo>
                  <a:pt x="451212" y="1948861"/>
                  <a:pt x="385948" y="1780069"/>
                  <a:pt x="439947" y="1915064"/>
                </a:cubicBezTo>
                <a:cubicBezTo>
                  <a:pt x="442823" y="1943819"/>
                  <a:pt x="443248" y="1972925"/>
                  <a:pt x="448574" y="2001328"/>
                </a:cubicBezTo>
                <a:cubicBezTo>
                  <a:pt x="460822" y="2066653"/>
                  <a:pt x="469469" y="2041842"/>
                  <a:pt x="491706" y="2104845"/>
                </a:cubicBezTo>
                <a:cubicBezTo>
                  <a:pt x="530907" y="2215912"/>
                  <a:pt x="539247" y="2221400"/>
                  <a:pt x="508959" y="2191109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8EC70103-EC99-966A-6772-D90984CCF4B6}"/>
              </a:ext>
            </a:extLst>
          </p:cNvPr>
          <p:cNvSpPr/>
          <p:nvPr/>
        </p:nvSpPr>
        <p:spPr bwMode="auto">
          <a:xfrm>
            <a:off x="828136" y="1431985"/>
            <a:ext cx="1595887" cy="1086928"/>
          </a:xfrm>
          <a:custGeom>
            <a:avLst/>
            <a:gdLst>
              <a:gd name="connsiteX0" fmla="*/ 1595887 w 1595887"/>
              <a:gd name="connsiteY0" fmla="*/ 0 h 1086928"/>
              <a:gd name="connsiteX1" fmla="*/ 1535502 w 1595887"/>
              <a:gd name="connsiteY1" fmla="*/ 43132 h 1086928"/>
              <a:gd name="connsiteX2" fmla="*/ 1431985 w 1595887"/>
              <a:gd name="connsiteY2" fmla="*/ 129396 h 1086928"/>
              <a:gd name="connsiteX3" fmla="*/ 1388853 w 1595887"/>
              <a:gd name="connsiteY3" fmla="*/ 138023 h 1086928"/>
              <a:gd name="connsiteX4" fmla="*/ 1319841 w 1595887"/>
              <a:gd name="connsiteY4" fmla="*/ 198407 h 1086928"/>
              <a:gd name="connsiteX5" fmla="*/ 1276709 w 1595887"/>
              <a:gd name="connsiteY5" fmla="*/ 207034 h 1086928"/>
              <a:gd name="connsiteX6" fmla="*/ 1181819 w 1595887"/>
              <a:gd name="connsiteY6" fmla="*/ 215660 h 1086928"/>
              <a:gd name="connsiteX7" fmla="*/ 1017917 w 1595887"/>
              <a:gd name="connsiteY7" fmla="*/ 241540 h 1086928"/>
              <a:gd name="connsiteX8" fmla="*/ 948906 w 1595887"/>
              <a:gd name="connsiteY8" fmla="*/ 258792 h 1086928"/>
              <a:gd name="connsiteX9" fmla="*/ 897147 w 1595887"/>
              <a:gd name="connsiteY9" fmla="*/ 293298 h 1086928"/>
              <a:gd name="connsiteX10" fmla="*/ 819509 w 1595887"/>
              <a:gd name="connsiteY10" fmla="*/ 370936 h 1086928"/>
              <a:gd name="connsiteX11" fmla="*/ 785004 w 1595887"/>
              <a:gd name="connsiteY11" fmla="*/ 414068 h 1086928"/>
              <a:gd name="connsiteX12" fmla="*/ 733245 w 1595887"/>
              <a:gd name="connsiteY12" fmla="*/ 474453 h 1086928"/>
              <a:gd name="connsiteX13" fmla="*/ 664234 w 1595887"/>
              <a:gd name="connsiteY13" fmla="*/ 508958 h 1086928"/>
              <a:gd name="connsiteX14" fmla="*/ 612475 w 1595887"/>
              <a:gd name="connsiteY14" fmla="*/ 560717 h 1086928"/>
              <a:gd name="connsiteX15" fmla="*/ 552090 w 1595887"/>
              <a:gd name="connsiteY15" fmla="*/ 603849 h 1086928"/>
              <a:gd name="connsiteX16" fmla="*/ 500332 w 1595887"/>
              <a:gd name="connsiteY16" fmla="*/ 655607 h 1086928"/>
              <a:gd name="connsiteX17" fmla="*/ 439947 w 1595887"/>
              <a:gd name="connsiteY17" fmla="*/ 707366 h 1086928"/>
              <a:gd name="connsiteX18" fmla="*/ 396815 w 1595887"/>
              <a:gd name="connsiteY18" fmla="*/ 793630 h 1086928"/>
              <a:gd name="connsiteX19" fmla="*/ 319177 w 1595887"/>
              <a:gd name="connsiteY19" fmla="*/ 879894 h 1086928"/>
              <a:gd name="connsiteX20" fmla="*/ 112143 w 1595887"/>
              <a:gd name="connsiteY20" fmla="*/ 966158 h 1086928"/>
              <a:gd name="connsiteX21" fmla="*/ 17253 w 1595887"/>
              <a:gd name="connsiteY21" fmla="*/ 1052423 h 1086928"/>
              <a:gd name="connsiteX22" fmla="*/ 0 w 1595887"/>
              <a:gd name="connsiteY22" fmla="*/ 1086928 h 108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595887" h="1086928">
                <a:moveTo>
                  <a:pt x="1595887" y="0"/>
                </a:moveTo>
                <a:cubicBezTo>
                  <a:pt x="1575759" y="14377"/>
                  <a:pt x="1554505" y="27297"/>
                  <a:pt x="1535502" y="43132"/>
                </a:cubicBezTo>
                <a:cubicBezTo>
                  <a:pt x="1485218" y="85035"/>
                  <a:pt x="1496337" y="97219"/>
                  <a:pt x="1431985" y="129396"/>
                </a:cubicBezTo>
                <a:cubicBezTo>
                  <a:pt x="1418871" y="135953"/>
                  <a:pt x="1403230" y="135147"/>
                  <a:pt x="1388853" y="138023"/>
                </a:cubicBezTo>
                <a:cubicBezTo>
                  <a:pt x="1370889" y="155986"/>
                  <a:pt x="1340903" y="187876"/>
                  <a:pt x="1319841" y="198407"/>
                </a:cubicBezTo>
                <a:cubicBezTo>
                  <a:pt x="1306727" y="204964"/>
                  <a:pt x="1291258" y="205215"/>
                  <a:pt x="1276709" y="207034"/>
                </a:cubicBezTo>
                <a:cubicBezTo>
                  <a:pt x="1245194" y="210973"/>
                  <a:pt x="1213301" y="211462"/>
                  <a:pt x="1181819" y="215660"/>
                </a:cubicBezTo>
                <a:cubicBezTo>
                  <a:pt x="1126993" y="222970"/>
                  <a:pt x="1071577" y="228126"/>
                  <a:pt x="1017917" y="241540"/>
                </a:cubicBezTo>
                <a:lnTo>
                  <a:pt x="948906" y="258792"/>
                </a:lnTo>
                <a:cubicBezTo>
                  <a:pt x="931653" y="270294"/>
                  <a:pt x="912817" y="279718"/>
                  <a:pt x="897147" y="293298"/>
                </a:cubicBezTo>
                <a:cubicBezTo>
                  <a:pt x="869490" y="317268"/>
                  <a:pt x="819509" y="370936"/>
                  <a:pt x="819509" y="370936"/>
                </a:cubicBezTo>
                <a:cubicBezTo>
                  <a:pt x="802716" y="421316"/>
                  <a:pt x="824022" y="375050"/>
                  <a:pt x="785004" y="414068"/>
                </a:cubicBezTo>
                <a:cubicBezTo>
                  <a:pt x="745982" y="453090"/>
                  <a:pt x="795079" y="433230"/>
                  <a:pt x="733245" y="474453"/>
                </a:cubicBezTo>
                <a:cubicBezTo>
                  <a:pt x="711846" y="488719"/>
                  <a:pt x="686449" y="495999"/>
                  <a:pt x="664234" y="508958"/>
                </a:cubicBezTo>
                <a:cubicBezTo>
                  <a:pt x="574810" y="561122"/>
                  <a:pt x="671323" y="508408"/>
                  <a:pt x="612475" y="560717"/>
                </a:cubicBezTo>
                <a:cubicBezTo>
                  <a:pt x="593987" y="577150"/>
                  <a:pt x="570973" y="587871"/>
                  <a:pt x="552090" y="603849"/>
                </a:cubicBezTo>
                <a:cubicBezTo>
                  <a:pt x="533464" y="619609"/>
                  <a:pt x="518468" y="639285"/>
                  <a:pt x="500332" y="655607"/>
                </a:cubicBezTo>
                <a:cubicBezTo>
                  <a:pt x="462255" y="689877"/>
                  <a:pt x="470742" y="670413"/>
                  <a:pt x="439947" y="707366"/>
                </a:cubicBezTo>
                <a:cubicBezTo>
                  <a:pt x="391236" y="765819"/>
                  <a:pt x="467566" y="693399"/>
                  <a:pt x="396815" y="793630"/>
                </a:cubicBezTo>
                <a:cubicBezTo>
                  <a:pt x="374506" y="825235"/>
                  <a:pt x="352261" y="859843"/>
                  <a:pt x="319177" y="879894"/>
                </a:cubicBezTo>
                <a:cubicBezTo>
                  <a:pt x="255240" y="918643"/>
                  <a:pt x="174349" y="924687"/>
                  <a:pt x="112143" y="966158"/>
                </a:cubicBezTo>
                <a:cubicBezTo>
                  <a:pt x="57321" y="1002706"/>
                  <a:pt x="56738" y="996015"/>
                  <a:pt x="17253" y="1052423"/>
                </a:cubicBezTo>
                <a:cubicBezTo>
                  <a:pt x="9879" y="1062958"/>
                  <a:pt x="0" y="1086928"/>
                  <a:pt x="0" y="1086928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463CC2C-899B-4C1C-23DA-DCFA6C70B99B}"/>
              </a:ext>
            </a:extLst>
          </p:cNvPr>
          <p:cNvSpPr/>
          <p:nvPr/>
        </p:nvSpPr>
        <p:spPr bwMode="auto">
          <a:xfrm>
            <a:off x="2838091" y="1492370"/>
            <a:ext cx="1181918" cy="1837426"/>
          </a:xfrm>
          <a:custGeom>
            <a:avLst/>
            <a:gdLst>
              <a:gd name="connsiteX0" fmla="*/ 0 w 1181918"/>
              <a:gd name="connsiteY0" fmla="*/ 0 h 1837426"/>
              <a:gd name="connsiteX1" fmla="*/ 60384 w 1181918"/>
              <a:gd name="connsiteY1" fmla="*/ 43132 h 1837426"/>
              <a:gd name="connsiteX2" fmla="*/ 172528 w 1181918"/>
              <a:gd name="connsiteY2" fmla="*/ 51758 h 1837426"/>
              <a:gd name="connsiteX3" fmla="*/ 207034 w 1181918"/>
              <a:gd name="connsiteY3" fmla="*/ 120770 h 1837426"/>
              <a:gd name="connsiteX4" fmla="*/ 215660 w 1181918"/>
              <a:gd name="connsiteY4" fmla="*/ 181155 h 1837426"/>
              <a:gd name="connsiteX5" fmla="*/ 284671 w 1181918"/>
              <a:gd name="connsiteY5" fmla="*/ 232913 h 1837426"/>
              <a:gd name="connsiteX6" fmla="*/ 319177 w 1181918"/>
              <a:gd name="connsiteY6" fmla="*/ 267419 h 1837426"/>
              <a:gd name="connsiteX7" fmla="*/ 353683 w 1181918"/>
              <a:gd name="connsiteY7" fmla="*/ 276045 h 1837426"/>
              <a:gd name="connsiteX8" fmla="*/ 422694 w 1181918"/>
              <a:gd name="connsiteY8" fmla="*/ 284672 h 1837426"/>
              <a:gd name="connsiteX9" fmla="*/ 483079 w 1181918"/>
              <a:gd name="connsiteY9" fmla="*/ 353683 h 1837426"/>
              <a:gd name="connsiteX10" fmla="*/ 543464 w 1181918"/>
              <a:gd name="connsiteY10" fmla="*/ 405441 h 1837426"/>
              <a:gd name="connsiteX11" fmla="*/ 569343 w 1181918"/>
              <a:gd name="connsiteY11" fmla="*/ 646981 h 1837426"/>
              <a:gd name="connsiteX12" fmla="*/ 603849 w 1181918"/>
              <a:gd name="connsiteY12" fmla="*/ 698739 h 1837426"/>
              <a:gd name="connsiteX13" fmla="*/ 629728 w 1181918"/>
              <a:gd name="connsiteY13" fmla="*/ 715992 h 1837426"/>
              <a:gd name="connsiteX14" fmla="*/ 646981 w 1181918"/>
              <a:gd name="connsiteY14" fmla="*/ 776377 h 1837426"/>
              <a:gd name="connsiteX15" fmla="*/ 664234 w 1181918"/>
              <a:gd name="connsiteY15" fmla="*/ 802256 h 1837426"/>
              <a:gd name="connsiteX16" fmla="*/ 672860 w 1181918"/>
              <a:gd name="connsiteY16" fmla="*/ 845388 h 1837426"/>
              <a:gd name="connsiteX17" fmla="*/ 681486 w 1181918"/>
              <a:gd name="connsiteY17" fmla="*/ 897147 h 1837426"/>
              <a:gd name="connsiteX18" fmla="*/ 707366 w 1181918"/>
              <a:gd name="connsiteY18" fmla="*/ 940279 h 1837426"/>
              <a:gd name="connsiteX19" fmla="*/ 741871 w 1181918"/>
              <a:gd name="connsiteY19" fmla="*/ 1035170 h 1837426"/>
              <a:gd name="connsiteX20" fmla="*/ 759124 w 1181918"/>
              <a:gd name="connsiteY20" fmla="*/ 1095555 h 1837426"/>
              <a:gd name="connsiteX21" fmla="*/ 767751 w 1181918"/>
              <a:gd name="connsiteY21" fmla="*/ 1138687 h 1837426"/>
              <a:gd name="connsiteX22" fmla="*/ 828135 w 1181918"/>
              <a:gd name="connsiteY22" fmla="*/ 1199072 h 1837426"/>
              <a:gd name="connsiteX23" fmla="*/ 871267 w 1181918"/>
              <a:gd name="connsiteY23" fmla="*/ 1250830 h 1837426"/>
              <a:gd name="connsiteX24" fmla="*/ 931652 w 1181918"/>
              <a:gd name="connsiteY24" fmla="*/ 1285336 h 1837426"/>
              <a:gd name="connsiteX25" fmla="*/ 974784 w 1181918"/>
              <a:gd name="connsiteY25" fmla="*/ 1328468 h 1837426"/>
              <a:gd name="connsiteX26" fmla="*/ 1052422 w 1181918"/>
              <a:gd name="connsiteY26" fmla="*/ 1388853 h 1837426"/>
              <a:gd name="connsiteX27" fmla="*/ 1086928 w 1181918"/>
              <a:gd name="connsiteY27" fmla="*/ 1466490 h 1837426"/>
              <a:gd name="connsiteX28" fmla="*/ 1095554 w 1181918"/>
              <a:gd name="connsiteY28" fmla="*/ 1500996 h 1837426"/>
              <a:gd name="connsiteX29" fmla="*/ 1104181 w 1181918"/>
              <a:gd name="connsiteY29" fmla="*/ 1716656 h 1837426"/>
              <a:gd name="connsiteX30" fmla="*/ 1130060 w 1181918"/>
              <a:gd name="connsiteY30" fmla="*/ 1733909 h 1837426"/>
              <a:gd name="connsiteX31" fmla="*/ 1181818 w 1181918"/>
              <a:gd name="connsiteY31" fmla="*/ 1837426 h 183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181918" h="1837426">
                <a:moveTo>
                  <a:pt x="0" y="0"/>
                </a:moveTo>
                <a:cubicBezTo>
                  <a:pt x="20128" y="14377"/>
                  <a:pt x="36692" y="36024"/>
                  <a:pt x="60384" y="43132"/>
                </a:cubicBezTo>
                <a:cubicBezTo>
                  <a:pt x="96295" y="53905"/>
                  <a:pt x="139393" y="34216"/>
                  <a:pt x="172528" y="51758"/>
                </a:cubicBezTo>
                <a:cubicBezTo>
                  <a:pt x="195258" y="63792"/>
                  <a:pt x="195532" y="97766"/>
                  <a:pt x="207034" y="120770"/>
                </a:cubicBezTo>
                <a:cubicBezTo>
                  <a:pt x="209909" y="140898"/>
                  <a:pt x="209817" y="161680"/>
                  <a:pt x="215660" y="181155"/>
                </a:cubicBezTo>
                <a:cubicBezTo>
                  <a:pt x="226643" y="217765"/>
                  <a:pt x="255212" y="212292"/>
                  <a:pt x="284671" y="232913"/>
                </a:cubicBezTo>
                <a:cubicBezTo>
                  <a:pt x="297997" y="242241"/>
                  <a:pt x="305383" y="258798"/>
                  <a:pt x="319177" y="267419"/>
                </a:cubicBezTo>
                <a:cubicBezTo>
                  <a:pt x="329231" y="273703"/>
                  <a:pt x="341988" y="274096"/>
                  <a:pt x="353683" y="276045"/>
                </a:cubicBezTo>
                <a:cubicBezTo>
                  <a:pt x="376550" y="279856"/>
                  <a:pt x="399690" y="281796"/>
                  <a:pt x="422694" y="284672"/>
                </a:cubicBezTo>
                <a:cubicBezTo>
                  <a:pt x="442822" y="307676"/>
                  <a:pt x="460462" y="333122"/>
                  <a:pt x="483079" y="353683"/>
                </a:cubicBezTo>
                <a:cubicBezTo>
                  <a:pt x="576122" y="438268"/>
                  <a:pt x="458797" y="292557"/>
                  <a:pt x="543464" y="405441"/>
                </a:cubicBezTo>
                <a:cubicBezTo>
                  <a:pt x="547129" y="489751"/>
                  <a:pt x="528822" y="572694"/>
                  <a:pt x="569343" y="646981"/>
                </a:cubicBezTo>
                <a:cubicBezTo>
                  <a:pt x="579272" y="665184"/>
                  <a:pt x="586596" y="687237"/>
                  <a:pt x="603849" y="698739"/>
                </a:cubicBezTo>
                <a:lnTo>
                  <a:pt x="629728" y="715992"/>
                </a:lnTo>
                <a:cubicBezTo>
                  <a:pt x="632493" y="727054"/>
                  <a:pt x="640791" y="763997"/>
                  <a:pt x="646981" y="776377"/>
                </a:cubicBezTo>
                <a:cubicBezTo>
                  <a:pt x="651618" y="785650"/>
                  <a:pt x="658483" y="793630"/>
                  <a:pt x="664234" y="802256"/>
                </a:cubicBezTo>
                <a:cubicBezTo>
                  <a:pt x="667109" y="816633"/>
                  <a:pt x="670237" y="830962"/>
                  <a:pt x="672860" y="845388"/>
                </a:cubicBezTo>
                <a:cubicBezTo>
                  <a:pt x="675989" y="862597"/>
                  <a:pt x="675509" y="880709"/>
                  <a:pt x="681486" y="897147"/>
                </a:cubicBezTo>
                <a:cubicBezTo>
                  <a:pt x="687216" y="912904"/>
                  <a:pt x="698739" y="925902"/>
                  <a:pt x="707366" y="940279"/>
                </a:cubicBezTo>
                <a:cubicBezTo>
                  <a:pt x="725938" y="1033142"/>
                  <a:pt x="701327" y="929755"/>
                  <a:pt x="741871" y="1035170"/>
                </a:cubicBezTo>
                <a:cubicBezTo>
                  <a:pt x="749386" y="1054708"/>
                  <a:pt x="754047" y="1075246"/>
                  <a:pt x="759124" y="1095555"/>
                </a:cubicBezTo>
                <a:cubicBezTo>
                  <a:pt x="762680" y="1109779"/>
                  <a:pt x="761194" y="1125573"/>
                  <a:pt x="767751" y="1138687"/>
                </a:cubicBezTo>
                <a:cubicBezTo>
                  <a:pt x="785681" y="1174547"/>
                  <a:pt x="799917" y="1180260"/>
                  <a:pt x="828135" y="1199072"/>
                </a:cubicBezTo>
                <a:cubicBezTo>
                  <a:pt x="841571" y="1219226"/>
                  <a:pt x="850511" y="1236301"/>
                  <a:pt x="871267" y="1250830"/>
                </a:cubicBezTo>
                <a:cubicBezTo>
                  <a:pt x="890259" y="1264125"/>
                  <a:pt x="913106" y="1271426"/>
                  <a:pt x="931652" y="1285336"/>
                </a:cubicBezTo>
                <a:cubicBezTo>
                  <a:pt x="947918" y="1297536"/>
                  <a:pt x="958907" y="1315766"/>
                  <a:pt x="974784" y="1328468"/>
                </a:cubicBezTo>
                <a:cubicBezTo>
                  <a:pt x="1088937" y="1419789"/>
                  <a:pt x="950695" y="1287123"/>
                  <a:pt x="1052422" y="1388853"/>
                </a:cubicBezTo>
                <a:cubicBezTo>
                  <a:pt x="1072655" y="1469780"/>
                  <a:pt x="1044287" y="1370545"/>
                  <a:pt x="1086928" y="1466490"/>
                </a:cubicBezTo>
                <a:cubicBezTo>
                  <a:pt x="1091743" y="1477324"/>
                  <a:pt x="1092679" y="1489494"/>
                  <a:pt x="1095554" y="1500996"/>
                </a:cubicBezTo>
                <a:cubicBezTo>
                  <a:pt x="1098430" y="1572883"/>
                  <a:pt x="1093638" y="1645489"/>
                  <a:pt x="1104181" y="1716656"/>
                </a:cubicBezTo>
                <a:cubicBezTo>
                  <a:pt x="1105700" y="1726912"/>
                  <a:pt x="1123495" y="1725885"/>
                  <a:pt x="1130060" y="1733909"/>
                </a:cubicBezTo>
                <a:cubicBezTo>
                  <a:pt x="1186603" y="1803018"/>
                  <a:pt x="1181818" y="1784800"/>
                  <a:pt x="1181818" y="1837426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6543EC2-A51F-1547-A769-C2FE72928983}"/>
              </a:ext>
            </a:extLst>
          </p:cNvPr>
          <p:cNvSpPr/>
          <p:nvPr/>
        </p:nvSpPr>
        <p:spPr bwMode="auto">
          <a:xfrm>
            <a:off x="2803585" y="1466491"/>
            <a:ext cx="802257" cy="2079621"/>
          </a:xfrm>
          <a:custGeom>
            <a:avLst/>
            <a:gdLst>
              <a:gd name="connsiteX0" fmla="*/ 0 w 802257"/>
              <a:gd name="connsiteY0" fmla="*/ 0 h 2079621"/>
              <a:gd name="connsiteX1" fmla="*/ 34506 w 802257"/>
              <a:gd name="connsiteY1" fmla="*/ 43132 h 2079621"/>
              <a:gd name="connsiteX2" fmla="*/ 103517 w 802257"/>
              <a:gd name="connsiteY2" fmla="*/ 172528 h 2079621"/>
              <a:gd name="connsiteX3" fmla="*/ 129396 w 802257"/>
              <a:gd name="connsiteY3" fmla="*/ 232913 h 2079621"/>
              <a:gd name="connsiteX4" fmla="*/ 155275 w 802257"/>
              <a:gd name="connsiteY4" fmla="*/ 345056 h 2079621"/>
              <a:gd name="connsiteX5" fmla="*/ 181155 w 802257"/>
              <a:gd name="connsiteY5" fmla="*/ 439947 h 2079621"/>
              <a:gd name="connsiteX6" fmla="*/ 215660 w 802257"/>
              <a:gd name="connsiteY6" fmla="*/ 474452 h 2079621"/>
              <a:gd name="connsiteX7" fmla="*/ 232913 w 802257"/>
              <a:gd name="connsiteY7" fmla="*/ 508958 h 2079621"/>
              <a:gd name="connsiteX8" fmla="*/ 258792 w 802257"/>
              <a:gd name="connsiteY8" fmla="*/ 543464 h 2079621"/>
              <a:gd name="connsiteX9" fmla="*/ 310551 w 802257"/>
              <a:gd name="connsiteY9" fmla="*/ 621101 h 2079621"/>
              <a:gd name="connsiteX10" fmla="*/ 405441 w 802257"/>
              <a:gd name="connsiteY10" fmla="*/ 698739 h 2079621"/>
              <a:gd name="connsiteX11" fmla="*/ 422694 w 802257"/>
              <a:gd name="connsiteY11" fmla="*/ 733245 h 2079621"/>
              <a:gd name="connsiteX12" fmla="*/ 431321 w 802257"/>
              <a:gd name="connsiteY12" fmla="*/ 776377 h 2079621"/>
              <a:gd name="connsiteX13" fmla="*/ 457200 w 802257"/>
              <a:gd name="connsiteY13" fmla="*/ 819509 h 2079621"/>
              <a:gd name="connsiteX14" fmla="*/ 465826 w 802257"/>
              <a:gd name="connsiteY14" fmla="*/ 940279 h 2079621"/>
              <a:gd name="connsiteX15" fmla="*/ 508958 w 802257"/>
              <a:gd name="connsiteY15" fmla="*/ 1104181 h 2079621"/>
              <a:gd name="connsiteX16" fmla="*/ 526211 w 802257"/>
              <a:gd name="connsiteY16" fmla="*/ 1181818 h 2079621"/>
              <a:gd name="connsiteX17" fmla="*/ 534838 w 802257"/>
              <a:gd name="connsiteY17" fmla="*/ 1302588 h 2079621"/>
              <a:gd name="connsiteX18" fmla="*/ 552090 w 802257"/>
              <a:gd name="connsiteY18" fmla="*/ 1699403 h 2079621"/>
              <a:gd name="connsiteX19" fmla="*/ 569343 w 802257"/>
              <a:gd name="connsiteY19" fmla="*/ 1768415 h 2079621"/>
              <a:gd name="connsiteX20" fmla="*/ 655607 w 802257"/>
              <a:gd name="connsiteY20" fmla="*/ 1863305 h 2079621"/>
              <a:gd name="connsiteX21" fmla="*/ 715992 w 802257"/>
              <a:gd name="connsiteY21" fmla="*/ 1958196 h 2079621"/>
              <a:gd name="connsiteX22" fmla="*/ 733245 w 802257"/>
              <a:gd name="connsiteY22" fmla="*/ 2001328 h 2079621"/>
              <a:gd name="connsiteX23" fmla="*/ 750498 w 802257"/>
              <a:gd name="connsiteY23" fmla="*/ 2035834 h 2079621"/>
              <a:gd name="connsiteX24" fmla="*/ 802257 w 802257"/>
              <a:gd name="connsiteY24" fmla="*/ 2035834 h 207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02257" h="2079621">
                <a:moveTo>
                  <a:pt x="0" y="0"/>
                </a:moveTo>
                <a:cubicBezTo>
                  <a:pt x="11502" y="14377"/>
                  <a:pt x="24293" y="27812"/>
                  <a:pt x="34506" y="43132"/>
                </a:cubicBezTo>
                <a:cubicBezTo>
                  <a:pt x="54397" y="72969"/>
                  <a:pt x="89011" y="141445"/>
                  <a:pt x="103517" y="172528"/>
                </a:cubicBezTo>
                <a:cubicBezTo>
                  <a:pt x="112778" y="192372"/>
                  <a:pt x="122471" y="212138"/>
                  <a:pt x="129396" y="232913"/>
                </a:cubicBezTo>
                <a:cubicBezTo>
                  <a:pt x="150873" y="297344"/>
                  <a:pt x="141586" y="290300"/>
                  <a:pt x="155275" y="345056"/>
                </a:cubicBezTo>
                <a:cubicBezTo>
                  <a:pt x="163227" y="376863"/>
                  <a:pt x="167290" y="410237"/>
                  <a:pt x="181155" y="439947"/>
                </a:cubicBezTo>
                <a:cubicBezTo>
                  <a:pt x="188034" y="454687"/>
                  <a:pt x="205901" y="461439"/>
                  <a:pt x="215660" y="474452"/>
                </a:cubicBezTo>
                <a:cubicBezTo>
                  <a:pt x="223376" y="484740"/>
                  <a:pt x="226097" y="498053"/>
                  <a:pt x="232913" y="508958"/>
                </a:cubicBezTo>
                <a:cubicBezTo>
                  <a:pt x="240533" y="521150"/>
                  <a:pt x="251172" y="531272"/>
                  <a:pt x="258792" y="543464"/>
                </a:cubicBezTo>
                <a:cubicBezTo>
                  <a:pt x="284705" y="584924"/>
                  <a:pt x="267403" y="581548"/>
                  <a:pt x="310551" y="621101"/>
                </a:cubicBezTo>
                <a:cubicBezTo>
                  <a:pt x="326338" y="635573"/>
                  <a:pt x="385951" y="671452"/>
                  <a:pt x="405441" y="698739"/>
                </a:cubicBezTo>
                <a:cubicBezTo>
                  <a:pt x="412915" y="709203"/>
                  <a:pt x="416943" y="721743"/>
                  <a:pt x="422694" y="733245"/>
                </a:cubicBezTo>
                <a:cubicBezTo>
                  <a:pt x="425570" y="747622"/>
                  <a:pt x="425876" y="762764"/>
                  <a:pt x="431321" y="776377"/>
                </a:cubicBezTo>
                <a:cubicBezTo>
                  <a:pt x="437548" y="791944"/>
                  <a:pt x="453746" y="803102"/>
                  <a:pt x="457200" y="819509"/>
                </a:cubicBezTo>
                <a:cubicBezTo>
                  <a:pt x="465514" y="859003"/>
                  <a:pt x="458606" y="900571"/>
                  <a:pt x="465826" y="940279"/>
                </a:cubicBezTo>
                <a:cubicBezTo>
                  <a:pt x="475932" y="995862"/>
                  <a:pt x="496702" y="1049032"/>
                  <a:pt x="508958" y="1104181"/>
                </a:cubicBezTo>
                <a:lnTo>
                  <a:pt x="526211" y="1181818"/>
                </a:lnTo>
                <a:cubicBezTo>
                  <a:pt x="529087" y="1222075"/>
                  <a:pt x="532823" y="1262279"/>
                  <a:pt x="534838" y="1302588"/>
                </a:cubicBezTo>
                <a:cubicBezTo>
                  <a:pt x="541450" y="1434819"/>
                  <a:pt x="544315" y="1567235"/>
                  <a:pt x="552090" y="1699403"/>
                </a:cubicBezTo>
                <a:cubicBezTo>
                  <a:pt x="552217" y="1701567"/>
                  <a:pt x="562458" y="1759563"/>
                  <a:pt x="569343" y="1768415"/>
                </a:cubicBezTo>
                <a:cubicBezTo>
                  <a:pt x="749127" y="1999566"/>
                  <a:pt x="519076" y="1675573"/>
                  <a:pt x="655607" y="1863305"/>
                </a:cubicBezTo>
                <a:cubicBezTo>
                  <a:pt x="666548" y="1878348"/>
                  <a:pt x="706020" y="1938252"/>
                  <a:pt x="715992" y="1958196"/>
                </a:cubicBezTo>
                <a:cubicBezTo>
                  <a:pt x="722917" y="1972046"/>
                  <a:pt x="726956" y="1987178"/>
                  <a:pt x="733245" y="2001328"/>
                </a:cubicBezTo>
                <a:cubicBezTo>
                  <a:pt x="738468" y="2013079"/>
                  <a:pt x="744747" y="2024332"/>
                  <a:pt x="750498" y="2035834"/>
                </a:cubicBezTo>
                <a:cubicBezTo>
                  <a:pt x="763111" y="2098904"/>
                  <a:pt x="748756" y="2089334"/>
                  <a:pt x="802257" y="2035834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9DC0AFF-C26E-A8BF-F48E-52AE486F4A03}"/>
              </a:ext>
            </a:extLst>
          </p:cNvPr>
          <p:cNvSpPr/>
          <p:nvPr/>
        </p:nvSpPr>
        <p:spPr bwMode="auto">
          <a:xfrm>
            <a:off x="1500977" y="1535502"/>
            <a:ext cx="1026563" cy="1863306"/>
          </a:xfrm>
          <a:custGeom>
            <a:avLst/>
            <a:gdLst>
              <a:gd name="connsiteX0" fmla="*/ 1026563 w 1026563"/>
              <a:gd name="connsiteY0" fmla="*/ 0 h 1863306"/>
              <a:gd name="connsiteX1" fmla="*/ 948925 w 1026563"/>
              <a:gd name="connsiteY1" fmla="*/ 77638 h 1863306"/>
              <a:gd name="connsiteX2" fmla="*/ 879914 w 1026563"/>
              <a:gd name="connsiteY2" fmla="*/ 138023 h 1863306"/>
              <a:gd name="connsiteX3" fmla="*/ 862661 w 1026563"/>
              <a:gd name="connsiteY3" fmla="*/ 207034 h 1863306"/>
              <a:gd name="connsiteX4" fmla="*/ 793649 w 1026563"/>
              <a:gd name="connsiteY4" fmla="*/ 284672 h 1863306"/>
              <a:gd name="connsiteX5" fmla="*/ 741891 w 1026563"/>
              <a:gd name="connsiteY5" fmla="*/ 353683 h 1863306"/>
              <a:gd name="connsiteX6" fmla="*/ 638374 w 1026563"/>
              <a:gd name="connsiteY6" fmla="*/ 457200 h 1863306"/>
              <a:gd name="connsiteX7" fmla="*/ 595242 w 1026563"/>
              <a:gd name="connsiteY7" fmla="*/ 612475 h 1863306"/>
              <a:gd name="connsiteX8" fmla="*/ 577989 w 1026563"/>
              <a:gd name="connsiteY8" fmla="*/ 707366 h 1863306"/>
              <a:gd name="connsiteX9" fmla="*/ 560736 w 1026563"/>
              <a:gd name="connsiteY9" fmla="*/ 914400 h 1863306"/>
              <a:gd name="connsiteX10" fmla="*/ 414087 w 1026563"/>
              <a:gd name="connsiteY10" fmla="*/ 1112807 h 1863306"/>
              <a:gd name="connsiteX11" fmla="*/ 370955 w 1026563"/>
              <a:gd name="connsiteY11" fmla="*/ 1199072 h 1863306"/>
              <a:gd name="connsiteX12" fmla="*/ 327823 w 1026563"/>
              <a:gd name="connsiteY12" fmla="*/ 1259456 h 1863306"/>
              <a:gd name="connsiteX13" fmla="*/ 301944 w 1026563"/>
              <a:gd name="connsiteY13" fmla="*/ 1311215 h 1863306"/>
              <a:gd name="connsiteX14" fmla="*/ 293317 w 1026563"/>
              <a:gd name="connsiteY14" fmla="*/ 1397479 h 1863306"/>
              <a:gd name="connsiteX15" fmla="*/ 103536 w 1026563"/>
              <a:gd name="connsiteY15" fmla="*/ 1630392 h 1863306"/>
              <a:gd name="connsiteX16" fmla="*/ 69031 w 1026563"/>
              <a:gd name="connsiteY16" fmla="*/ 1716656 h 1863306"/>
              <a:gd name="connsiteX17" fmla="*/ 25898 w 1026563"/>
              <a:gd name="connsiteY17" fmla="*/ 1777041 h 1863306"/>
              <a:gd name="connsiteX18" fmla="*/ 17272 w 1026563"/>
              <a:gd name="connsiteY18" fmla="*/ 1820173 h 1863306"/>
              <a:gd name="connsiteX19" fmla="*/ 19 w 1026563"/>
              <a:gd name="connsiteY19" fmla="*/ 1863306 h 186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26563" h="1863306">
                <a:moveTo>
                  <a:pt x="1026563" y="0"/>
                </a:moveTo>
                <a:cubicBezTo>
                  <a:pt x="899513" y="84700"/>
                  <a:pt x="1035072" y="-16341"/>
                  <a:pt x="948925" y="77638"/>
                </a:cubicBezTo>
                <a:cubicBezTo>
                  <a:pt x="928270" y="100170"/>
                  <a:pt x="902918" y="117895"/>
                  <a:pt x="879914" y="138023"/>
                </a:cubicBezTo>
                <a:cubicBezTo>
                  <a:pt x="874163" y="161027"/>
                  <a:pt x="874683" y="186596"/>
                  <a:pt x="862661" y="207034"/>
                </a:cubicBezTo>
                <a:cubicBezTo>
                  <a:pt x="845105" y="236879"/>
                  <a:pt x="815661" y="257944"/>
                  <a:pt x="793649" y="284672"/>
                </a:cubicBezTo>
                <a:cubicBezTo>
                  <a:pt x="775370" y="306868"/>
                  <a:pt x="761511" y="332662"/>
                  <a:pt x="741891" y="353683"/>
                </a:cubicBezTo>
                <a:cubicBezTo>
                  <a:pt x="567859" y="540146"/>
                  <a:pt x="746888" y="321558"/>
                  <a:pt x="638374" y="457200"/>
                </a:cubicBezTo>
                <a:cubicBezTo>
                  <a:pt x="618735" y="614317"/>
                  <a:pt x="647938" y="428039"/>
                  <a:pt x="595242" y="612475"/>
                </a:cubicBezTo>
                <a:cubicBezTo>
                  <a:pt x="586410" y="643387"/>
                  <a:pt x="583740" y="675736"/>
                  <a:pt x="577989" y="707366"/>
                </a:cubicBezTo>
                <a:cubicBezTo>
                  <a:pt x="572238" y="776377"/>
                  <a:pt x="586690" y="850197"/>
                  <a:pt x="560736" y="914400"/>
                </a:cubicBezTo>
                <a:cubicBezTo>
                  <a:pt x="529913" y="990646"/>
                  <a:pt x="444630" y="1036449"/>
                  <a:pt x="414087" y="1112807"/>
                </a:cubicBezTo>
                <a:cubicBezTo>
                  <a:pt x="395817" y="1158482"/>
                  <a:pt x="399160" y="1156765"/>
                  <a:pt x="370955" y="1199072"/>
                </a:cubicBezTo>
                <a:cubicBezTo>
                  <a:pt x="357234" y="1219653"/>
                  <a:pt x="340787" y="1238390"/>
                  <a:pt x="327823" y="1259456"/>
                </a:cubicBezTo>
                <a:cubicBezTo>
                  <a:pt x="317714" y="1275884"/>
                  <a:pt x="310570" y="1293962"/>
                  <a:pt x="301944" y="1311215"/>
                </a:cubicBezTo>
                <a:cubicBezTo>
                  <a:pt x="299068" y="1339970"/>
                  <a:pt x="307414" y="1372253"/>
                  <a:pt x="293317" y="1397479"/>
                </a:cubicBezTo>
                <a:cubicBezTo>
                  <a:pt x="201337" y="1562075"/>
                  <a:pt x="195067" y="1561745"/>
                  <a:pt x="103536" y="1630392"/>
                </a:cubicBezTo>
                <a:cubicBezTo>
                  <a:pt x="92034" y="1659147"/>
                  <a:pt x="82009" y="1688537"/>
                  <a:pt x="69031" y="1716656"/>
                </a:cubicBezTo>
                <a:cubicBezTo>
                  <a:pt x="63983" y="1727593"/>
                  <a:pt x="30015" y="1771552"/>
                  <a:pt x="25898" y="1777041"/>
                </a:cubicBezTo>
                <a:cubicBezTo>
                  <a:pt x="23023" y="1791418"/>
                  <a:pt x="21908" y="1806263"/>
                  <a:pt x="17272" y="1820173"/>
                </a:cubicBezTo>
                <a:cubicBezTo>
                  <a:pt x="-1267" y="1875791"/>
                  <a:pt x="19" y="1837674"/>
                  <a:pt x="19" y="1863306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6C15A196-95DE-FBC8-7E89-3D1A7180E714}"/>
              </a:ext>
            </a:extLst>
          </p:cNvPr>
          <p:cNvSpPr/>
          <p:nvPr/>
        </p:nvSpPr>
        <p:spPr bwMode="auto">
          <a:xfrm>
            <a:off x="3553932" y="1345721"/>
            <a:ext cx="51910" cy="72008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C6B6A1D8-1D3E-B58C-C297-98480167BB31}"/>
              </a:ext>
            </a:extLst>
          </p:cNvPr>
          <p:cNvSpPr/>
          <p:nvPr/>
        </p:nvSpPr>
        <p:spPr bwMode="auto">
          <a:xfrm>
            <a:off x="5220072" y="686309"/>
            <a:ext cx="51910" cy="72008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7056EA14-969F-F9AE-E096-958413995AD0}"/>
              </a:ext>
            </a:extLst>
          </p:cNvPr>
          <p:cNvSpPr/>
          <p:nvPr/>
        </p:nvSpPr>
        <p:spPr bwMode="auto">
          <a:xfrm>
            <a:off x="4504931" y="1700808"/>
            <a:ext cx="51910" cy="72008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00453CD7-6B76-3317-33FB-7457EBF25576}"/>
              </a:ext>
            </a:extLst>
          </p:cNvPr>
          <p:cNvSpPr/>
          <p:nvPr/>
        </p:nvSpPr>
        <p:spPr bwMode="auto">
          <a:xfrm>
            <a:off x="1132307" y="1443426"/>
            <a:ext cx="51910" cy="72008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011EA8AE-6F09-31F5-0F18-704982CFA0A6}"/>
              </a:ext>
            </a:extLst>
          </p:cNvPr>
          <p:cNvSpPr/>
          <p:nvPr/>
        </p:nvSpPr>
        <p:spPr bwMode="auto">
          <a:xfrm>
            <a:off x="5724128" y="1903441"/>
            <a:ext cx="51910" cy="72008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C40F42-B95E-3811-39FB-6047BEA5FE62}"/>
              </a:ext>
            </a:extLst>
          </p:cNvPr>
          <p:cNvSpPr txBox="1"/>
          <p:nvPr/>
        </p:nvSpPr>
        <p:spPr>
          <a:xfrm>
            <a:off x="1186464" y="4151262"/>
            <a:ext cx="70515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Normally mosquitoes are attracted for any light in dark place. The lights in blue and violet spectrum will attract mosquito more effectively.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UV light generally produces warmth – primary attractant - mosquito</a:t>
            </a: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1E5D3189-DE66-14C7-A41E-DDC3F91E7961}"/>
              </a:ext>
            </a:extLst>
          </p:cNvPr>
          <p:cNvSpPr/>
          <p:nvPr/>
        </p:nvSpPr>
        <p:spPr bwMode="auto">
          <a:xfrm>
            <a:off x="4087794" y="2540872"/>
            <a:ext cx="51910" cy="72008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F755F601-1DF0-55BA-D7D5-EFF39D9D36FA}"/>
              </a:ext>
            </a:extLst>
          </p:cNvPr>
          <p:cNvSpPr/>
          <p:nvPr/>
        </p:nvSpPr>
        <p:spPr bwMode="auto">
          <a:xfrm>
            <a:off x="4932040" y="1187343"/>
            <a:ext cx="51910" cy="72008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47689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59709457-9709-BAB9-C419-A8E5E4D53CDA}"/>
              </a:ext>
            </a:extLst>
          </p:cNvPr>
          <p:cNvSpPr/>
          <p:nvPr/>
        </p:nvSpPr>
        <p:spPr bwMode="auto">
          <a:xfrm>
            <a:off x="2267744" y="4793356"/>
            <a:ext cx="2088232" cy="1008112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705D4A-6026-F6A7-0069-94C537899C01}"/>
              </a:ext>
            </a:extLst>
          </p:cNvPr>
          <p:cNvSpPr txBox="1"/>
          <p:nvPr/>
        </p:nvSpPr>
        <p:spPr>
          <a:xfrm>
            <a:off x="2447764" y="4920637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Arduino UNO</a:t>
            </a:r>
          </a:p>
          <a:p>
            <a:r>
              <a:rPr lang="en-IN" dirty="0">
                <a:latin typeface="+mj-lt"/>
              </a:rPr>
              <a:t>microcontroller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2BFF13-16D8-066E-7D24-9A2B867FEB6D}"/>
              </a:ext>
            </a:extLst>
          </p:cNvPr>
          <p:cNvSpPr/>
          <p:nvPr/>
        </p:nvSpPr>
        <p:spPr bwMode="auto">
          <a:xfrm>
            <a:off x="1547664" y="908720"/>
            <a:ext cx="2232248" cy="1584176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B1B014-7EB7-3948-3D49-FBC2E46D7888}"/>
              </a:ext>
            </a:extLst>
          </p:cNvPr>
          <p:cNvSpPr/>
          <p:nvPr/>
        </p:nvSpPr>
        <p:spPr bwMode="auto">
          <a:xfrm>
            <a:off x="1907704" y="1017681"/>
            <a:ext cx="1512168" cy="1440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EA91F2-4484-CB39-C229-777793F0F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014" y="1291032"/>
            <a:ext cx="1511939" cy="1402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9BFE2D-807C-FC33-C7BF-9E3931EDC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933" y="1560588"/>
            <a:ext cx="1511939" cy="140220"/>
          </a:xfrm>
          <a:prstGeom prst="rect">
            <a:avLst/>
          </a:prstGeom>
        </p:spPr>
      </p:pic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4C8BB171-B9E4-82C6-77AB-412CCFD4F3A8}"/>
              </a:ext>
            </a:extLst>
          </p:cNvPr>
          <p:cNvSpPr/>
          <p:nvPr/>
        </p:nvSpPr>
        <p:spPr bwMode="auto">
          <a:xfrm>
            <a:off x="2150888" y="2008497"/>
            <a:ext cx="1008112" cy="291828"/>
          </a:xfrm>
          <a:prstGeom prst="flowChartMagneticDisk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chemeClr val="tx2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ADD91C-F2CA-7651-9D5E-A4D05B446290}"/>
              </a:ext>
            </a:extLst>
          </p:cNvPr>
          <p:cNvSpPr txBox="1"/>
          <p:nvPr/>
        </p:nvSpPr>
        <p:spPr>
          <a:xfrm>
            <a:off x="2282044" y="198383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Speaker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4D4365-DD3A-C950-29D0-C7A265BC285E}"/>
              </a:ext>
            </a:extLst>
          </p:cNvPr>
          <p:cNvSpPr txBox="1"/>
          <p:nvPr/>
        </p:nvSpPr>
        <p:spPr>
          <a:xfrm>
            <a:off x="2159732" y="908720"/>
            <a:ext cx="1296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+mj-lt"/>
              </a:rPr>
              <a:t>UV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99851-CFBE-660D-2229-B09967C73C08}"/>
              </a:ext>
            </a:extLst>
          </p:cNvPr>
          <p:cNvSpPr/>
          <p:nvPr/>
        </p:nvSpPr>
        <p:spPr bwMode="auto">
          <a:xfrm>
            <a:off x="4067944" y="1431251"/>
            <a:ext cx="1469854" cy="619355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3F4AA3-F336-4091-FD46-C035FE0BAABA}"/>
              </a:ext>
            </a:extLst>
          </p:cNvPr>
          <p:cNvSpPr txBox="1"/>
          <p:nvPr/>
        </p:nvSpPr>
        <p:spPr>
          <a:xfrm>
            <a:off x="4067944" y="1516142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Suction Unit</a:t>
            </a:r>
          </a:p>
        </p:txBody>
      </p:sp>
      <p:sp>
        <p:nvSpPr>
          <p:cNvPr id="13" name="Diagonal Stripe 12">
            <a:extLst>
              <a:ext uri="{FF2B5EF4-FFF2-40B4-BE49-F238E27FC236}">
                <a16:creationId xmlns:a16="http://schemas.microsoft.com/office/drawing/2014/main" id="{75C338A9-6B5F-DD85-D075-F97492B435E0}"/>
              </a:ext>
            </a:extLst>
          </p:cNvPr>
          <p:cNvSpPr/>
          <p:nvPr/>
        </p:nvSpPr>
        <p:spPr bwMode="auto">
          <a:xfrm rot="18789315">
            <a:off x="3651215" y="1333714"/>
            <a:ext cx="866054" cy="812007"/>
          </a:xfrm>
          <a:prstGeom prst="diagStrip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BEC2A20-C0D3-D18E-69FB-E675777D2B06}"/>
              </a:ext>
            </a:extLst>
          </p:cNvPr>
          <p:cNvSpPr/>
          <p:nvPr/>
        </p:nvSpPr>
        <p:spPr bwMode="auto">
          <a:xfrm>
            <a:off x="2663788" y="2201068"/>
            <a:ext cx="914400" cy="9144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D69C183-E398-DA84-E1FC-FB619F4F37A7}"/>
              </a:ext>
            </a:extLst>
          </p:cNvPr>
          <p:cNvSpPr/>
          <p:nvPr/>
        </p:nvSpPr>
        <p:spPr bwMode="auto">
          <a:xfrm>
            <a:off x="7162894" y="2281132"/>
            <a:ext cx="1368152" cy="808638"/>
          </a:xfrm>
          <a:prstGeom prst="round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A6AC65-436E-B932-A982-D3AF1D9E3CB4}"/>
              </a:ext>
            </a:extLst>
          </p:cNvPr>
          <p:cNvSpPr txBox="1"/>
          <p:nvPr/>
        </p:nvSpPr>
        <p:spPr>
          <a:xfrm>
            <a:off x="7236296" y="247360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9V battery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54D3DC-3054-F35D-CCCA-673185F93E39}"/>
              </a:ext>
            </a:extLst>
          </p:cNvPr>
          <p:cNvSpPr/>
          <p:nvPr/>
        </p:nvSpPr>
        <p:spPr bwMode="auto">
          <a:xfrm>
            <a:off x="7164288" y="4118274"/>
            <a:ext cx="1584176" cy="1080120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2867FF-B1F7-B50A-AE63-45E63441CF3D}"/>
              </a:ext>
            </a:extLst>
          </p:cNvPr>
          <p:cNvSpPr txBox="1"/>
          <p:nvPr/>
        </p:nvSpPr>
        <p:spPr>
          <a:xfrm>
            <a:off x="7333024" y="4409680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5v Supply</a:t>
            </a:r>
            <a:endParaRPr lang="en-IN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9C6964D-1642-9CE3-BFA7-BF63717C4A51}"/>
              </a:ext>
            </a:extLst>
          </p:cNvPr>
          <p:cNvCxnSpPr>
            <a:stCxn id="8" idx="1"/>
            <a:endCxn id="40" idx="3"/>
          </p:cNvCxnSpPr>
          <p:nvPr/>
        </p:nvCxnSpPr>
        <p:spPr bwMode="auto">
          <a:xfrm rot="10800000" flipV="1">
            <a:off x="4355976" y="4658334"/>
            <a:ext cx="2808312" cy="639078"/>
          </a:xfrm>
          <a:prstGeom prst="bentConnector3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4038556-6028-66E7-61B5-41606B7F0BF3}"/>
              </a:ext>
            </a:extLst>
          </p:cNvPr>
          <p:cNvCxnSpPr>
            <a:cxnSpLocks/>
            <a:stCxn id="40" idx="1"/>
          </p:cNvCxnSpPr>
          <p:nvPr/>
        </p:nvCxnSpPr>
        <p:spPr bwMode="auto">
          <a:xfrm rot="10800000" flipH="1">
            <a:off x="2267744" y="2492896"/>
            <a:ext cx="504056" cy="2804516"/>
          </a:xfrm>
          <a:prstGeom prst="bentConnector4">
            <a:avLst>
              <a:gd name="adj1" fmla="val -45352"/>
              <a:gd name="adj2" fmla="val 58987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554D746-EEF1-79FF-A646-C8C3CE05F09D}"/>
              </a:ext>
            </a:extLst>
          </p:cNvPr>
          <p:cNvCxnSpPr>
            <a:cxnSpLocks/>
            <a:stCxn id="20" idx="1"/>
            <a:endCxn id="12" idx="3"/>
          </p:cNvCxnSpPr>
          <p:nvPr/>
        </p:nvCxnSpPr>
        <p:spPr bwMode="auto">
          <a:xfrm rot="10800000">
            <a:off x="5580112" y="1700809"/>
            <a:ext cx="1582782" cy="984643"/>
          </a:xfrm>
          <a:prstGeom prst="bentConnector3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290AB82-4A92-6236-CBC1-060866298E59}"/>
              </a:ext>
            </a:extLst>
          </p:cNvPr>
          <p:cNvSpPr txBox="1"/>
          <p:nvPr/>
        </p:nvSpPr>
        <p:spPr>
          <a:xfrm>
            <a:off x="3275856" y="151228"/>
            <a:ext cx="29523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+mj-lt"/>
              </a:rPr>
              <a:t>Block Diagram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BD94D17-CF2A-36F5-AAD4-8480058DE0A4}"/>
              </a:ext>
            </a:extLst>
          </p:cNvPr>
          <p:cNvCxnSpPr>
            <a:cxnSpLocks/>
            <a:endCxn id="10" idx="0"/>
          </p:cNvCxnSpPr>
          <p:nvPr/>
        </p:nvCxnSpPr>
        <p:spPr bwMode="auto">
          <a:xfrm rot="5400000" flipH="1" flipV="1">
            <a:off x="306011" y="3259475"/>
            <a:ext cx="4852548" cy="151038"/>
          </a:xfrm>
          <a:prstGeom prst="bentConnector5">
            <a:avLst>
              <a:gd name="adj1" fmla="val -5849"/>
              <a:gd name="adj2" fmla="val -817404"/>
              <a:gd name="adj3" fmla="val 104711"/>
            </a:avLst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B96DB9-97CD-79FC-5661-3FC4DD250F52}"/>
              </a:ext>
            </a:extLst>
          </p:cNvPr>
          <p:cNvSpPr txBox="1"/>
          <p:nvPr/>
        </p:nvSpPr>
        <p:spPr>
          <a:xfrm>
            <a:off x="3203848" y="188640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Arduino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02C72B-53C1-DC52-686C-3F76E1669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153" y="956917"/>
            <a:ext cx="6039693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63229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1FF8B6-CD18-B858-FC94-84F69A2B1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864" y="590154"/>
            <a:ext cx="6411170" cy="53591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EA2512-9D58-B3CD-3A70-F4FCF3F75B23}"/>
              </a:ext>
            </a:extLst>
          </p:cNvPr>
          <p:cNvSpPr txBox="1"/>
          <p:nvPr/>
        </p:nvSpPr>
        <p:spPr>
          <a:xfrm>
            <a:off x="3059832" y="62796"/>
            <a:ext cx="30243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+mn-lt"/>
              </a:rPr>
              <a:t>Prototype Design</a:t>
            </a:r>
          </a:p>
        </p:txBody>
      </p:sp>
    </p:spTree>
    <p:extLst>
      <p:ext uri="{BB962C8B-B14F-4D97-AF65-F5344CB8AC3E}">
        <p14:creationId xmlns:p14="http://schemas.microsoft.com/office/powerpoint/2010/main" val="289421153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F35774-78C9-4251-7F30-A23F8EE0DDD9}"/>
              </a:ext>
            </a:extLst>
          </p:cNvPr>
          <p:cNvSpPr txBox="1"/>
          <p:nvPr/>
        </p:nvSpPr>
        <p:spPr>
          <a:xfrm>
            <a:off x="3095836" y="188640"/>
            <a:ext cx="2952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+mj-lt"/>
              </a:rPr>
              <a:t>Prototype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79BD8C-1BFE-CB99-E579-4ED14B992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38" y="836712"/>
            <a:ext cx="3671863" cy="54564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D9518E-5DE3-9842-42F9-DD9B11A03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836712"/>
            <a:ext cx="3790950" cy="34956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07BA8B-7E39-3F52-8DB8-CEA57D294365}"/>
              </a:ext>
            </a:extLst>
          </p:cNvPr>
          <p:cNvSpPr txBox="1"/>
          <p:nvPr/>
        </p:nvSpPr>
        <p:spPr>
          <a:xfrm>
            <a:off x="4860032" y="4518794"/>
            <a:ext cx="244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Fig. Suction and frequency emitting unit</a:t>
            </a:r>
          </a:p>
        </p:txBody>
      </p:sp>
    </p:spTree>
    <p:extLst>
      <p:ext uri="{BB962C8B-B14F-4D97-AF65-F5344CB8AC3E}">
        <p14:creationId xmlns:p14="http://schemas.microsoft.com/office/powerpoint/2010/main" val="321144679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5CB69B-6FBA-DC96-343D-FEB6E7691CF1}"/>
              </a:ext>
            </a:extLst>
          </p:cNvPr>
          <p:cNvSpPr txBox="1"/>
          <p:nvPr/>
        </p:nvSpPr>
        <p:spPr>
          <a:xfrm>
            <a:off x="2916238" y="333375"/>
            <a:ext cx="3024187" cy="7064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4000" dirty="0">
                <a:latin typeface="+mn-lt"/>
              </a:rPr>
              <a:t>Advantages</a:t>
            </a:r>
            <a:endParaRPr lang="en-IN" sz="360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0DF97-8DB4-35E7-EFBF-1A90754889DA}"/>
              </a:ext>
            </a:extLst>
          </p:cNvPr>
          <p:cNvSpPr txBox="1"/>
          <p:nvPr/>
        </p:nvSpPr>
        <p:spPr>
          <a:xfrm>
            <a:off x="1079500" y="1268760"/>
            <a:ext cx="6985000" cy="434990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 effective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 maintenance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Health protection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Targeted attraction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Eco-Friendly solution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Reduced chemical exposure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User-Friendly technology              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IN" sz="20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B9151D-EA3D-D571-0F8E-B76AC72F2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44" y="907257"/>
            <a:ext cx="7021513" cy="5043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843E8C-6B3E-C421-04A1-9A1D4E8BE806}"/>
              </a:ext>
            </a:extLst>
          </p:cNvPr>
          <p:cNvSpPr txBox="1"/>
          <p:nvPr/>
        </p:nvSpPr>
        <p:spPr>
          <a:xfrm>
            <a:off x="3131840" y="18864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Gantt Chart</a:t>
            </a:r>
          </a:p>
        </p:txBody>
      </p:sp>
    </p:spTree>
    <p:extLst>
      <p:ext uri="{BB962C8B-B14F-4D97-AF65-F5344CB8AC3E}">
        <p14:creationId xmlns:p14="http://schemas.microsoft.com/office/powerpoint/2010/main" val="196251282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03A873-16C4-007F-30B8-7C0FD5C53DD4}"/>
              </a:ext>
            </a:extLst>
          </p:cNvPr>
          <p:cNvSpPr txBox="1"/>
          <p:nvPr/>
        </p:nvSpPr>
        <p:spPr>
          <a:xfrm>
            <a:off x="744538" y="115888"/>
            <a:ext cx="8101012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atin typeface="+mj-lt"/>
              </a:rPr>
              <a:t>References</a:t>
            </a:r>
            <a:endParaRPr lang="en-IN" sz="44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0CF68E-40DA-7389-D1F7-46091E4E47EC}"/>
              </a:ext>
            </a:extLst>
          </p:cNvPr>
          <p:cNvSpPr txBox="1"/>
          <p:nvPr/>
        </p:nvSpPr>
        <p:spPr>
          <a:xfrm>
            <a:off x="744538" y="981075"/>
            <a:ext cx="8388350" cy="443230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defRPr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Kellogg, FE T., and R. H. Wright. "The guidance of flying insects. V. Mosquito attraction."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Canadian Entomologist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94.10 (1962): 1009-1016.</a:t>
            </a:r>
            <a:endParaRPr lang="en-IN" sz="2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n-lt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defRPr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Brown, Anthony WA. "The attraction of mosquitoes to hosts."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JAMA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196.3 (1966): 249-252.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defRPr/>
            </a:pP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Gopfert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Martin C., Hans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Briegel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and Daniel Robert. "Mosquito hearing: sound-induced antennal vibrations in male and female Aedes aegypti."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Experimental Biology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202.20 (1999): 2727-2738.</a:t>
            </a:r>
            <a:endParaRPr lang="en-IN" sz="2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n-lt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defRPr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Belton, Peter. "Attraction of male mosquitoes to sound."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 Am Mosquito Control Assoc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10 (1994): 297-301.</a:t>
            </a:r>
            <a:endParaRPr lang="en-IN" sz="2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n-lt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defRPr/>
            </a:pP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FF227-8F5B-4241-30F4-B49EB5839066}"/>
              </a:ext>
            </a:extLst>
          </p:cNvPr>
          <p:cNvSpPr txBox="1"/>
          <p:nvPr/>
        </p:nvSpPr>
        <p:spPr>
          <a:xfrm>
            <a:off x="3203575" y="2270125"/>
            <a:ext cx="3024188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4000" dirty="0">
                <a:latin typeface="+mj-lt"/>
              </a:rPr>
              <a:t>Thank You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4525</TotalTime>
  <Words>727</Words>
  <Application>Microsoft Office PowerPoint</Application>
  <PresentationFormat>On-screen Show (4:3)</PresentationFormat>
  <Paragraphs>119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__DM_Sans_05e5f9</vt:lpstr>
      <vt:lpstr>Arial</vt:lpstr>
      <vt:lpstr>Calibri</vt:lpstr>
      <vt:lpstr>Times New Roman</vt:lpstr>
      <vt:lpstr>Verdana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Aswin Raaj</cp:lastModifiedBy>
  <cp:revision>835</cp:revision>
  <dcterms:created xsi:type="dcterms:W3CDTF">2015-03-06T06:18:00Z</dcterms:created>
  <dcterms:modified xsi:type="dcterms:W3CDTF">2025-05-08T03:30:19Z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1033-11.2.0.9984</vt:lpwstr>
  </property>
</Properties>
</file>