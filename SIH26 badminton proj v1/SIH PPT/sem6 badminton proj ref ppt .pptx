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86" r:id="rId2"/>
    <p:sldId id="322" r:id="rId3"/>
    <p:sldId id="351" r:id="rId4"/>
    <p:sldId id="352" r:id="rId5"/>
    <p:sldId id="361" r:id="rId6"/>
    <p:sldId id="353" r:id="rId7"/>
    <p:sldId id="354" r:id="rId8"/>
    <p:sldId id="355" r:id="rId9"/>
    <p:sldId id="356" r:id="rId10"/>
    <p:sldId id="357" r:id="rId11"/>
    <p:sldId id="358" r:id="rId12"/>
    <p:sldId id="359" r:id="rId13"/>
    <p:sldId id="360" r:id="rId14"/>
    <p:sldId id="339" r:id="rId15"/>
    <p:sldId id="350" r:id="rId16"/>
    <p:sldId id="299" r:id="rId17"/>
    <p:sldId id="304" r:id="rId18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92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CB0595"/>
    <a:srgbClr val="FF0909"/>
    <a:srgbClr val="B31D98"/>
    <a:srgbClr val="F4EBE2"/>
    <a:srgbClr val="FFDA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927" autoAdjust="0"/>
    <p:restoredTop sz="94624" autoAdjust="0"/>
  </p:normalViewPr>
  <p:slideViewPr>
    <p:cSldViewPr>
      <p:cViewPr varScale="1">
        <p:scale>
          <a:sx n="89" d="100"/>
          <a:sy n="89" d="100"/>
        </p:scale>
        <p:origin x="1546" y="58"/>
      </p:cViewPr>
      <p:guideLst>
        <p:guide orient="horz" pos="2160"/>
        <p:guide pos="2928"/>
      </p:guideLst>
    </p:cSldViewPr>
  </p:slideViewPr>
  <p:outlineViewPr>
    <p:cViewPr>
      <p:scale>
        <a:sx n="33" d="100"/>
        <a:sy n="33" d="100"/>
      </p:scale>
      <p:origin x="0" y="464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3T17:20:07.2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48 212 24575,'1'-2'0,"1"0"0,-1 0 0,0 0 0,0-1 0,1 1 0,-2 0 0,1-1 0,0 1 0,0-1 0,-1 1 0,1-5 0,0 4 0,-1 0 0,1 0 0,-1 0 0,1 0 0,0 0 0,1 0 0,-1 0 0,0 0 0,1 1 0,2-4 0,2-1 0,1 1 0,0 0 0,0 1 0,0-1 0,1 1 0,0 1 0,0-1 0,10-3 0,-13 6 0,1 0 0,-1 0 0,1 0 0,0 1 0,-1-1 0,1 2 0,0-1 0,0 1 0,-1-1 0,1 2 0,0-1 0,0 0 0,0 1 0,6 2 0,-12-3 0,1 0 0,0 0 0,0 1 0,-1-1 0,1 0 0,0 1 0,0-1 0,-1 0 0,1 1 0,0-1 0,-1 1 0,1-1 0,0 1 0,-1-1 0,1 1 0,-1-1 0,1 1 0,-1 0 0,1-1 0,-1 1 0,0 0 0,1 0 0,-1-1 0,0 1 0,1 0 0,-1 0 0,0 1 0,0-1 0,0 0 0,-1 1 0,1-1 0,-1 1 0,1-1 0,-1 0 0,1 0 0,-1 1 0,0-1 0,1 0 0,-1 0 0,0 0 0,0 0 0,-1 1 0,-5 4 0,1 0 0,-1-1 0,-13 8 0,11-7 0,0-1 0,-1 0 0,1-1 0,-1 1 0,0-2 0,0 0 0,0 0 0,0-1 0,-1 0 0,-16 1 0,26-3 0,1 0 0,-1 0 0,1 0 0,-1 0 0,0 0 0,1 0 0,-1 0 0,1 0 0,-1 0 0,0 0 0,1-1 0,-1 1 0,1 0 0,-1 0 0,1-1 0,-1 1 0,1 0 0,-1-1 0,1 1 0,-1 0 0,1-1 0,-1 1 0,1-1 0,0 1 0,-1-1 0,1 1 0,0-1 0,-1 1 0,1-1 0,0 1 0,0-1 0,-1 0 0,1-1 0,1 1 0,-1 0 0,0 0 0,1-1 0,-1 1 0,1 0 0,-1 0 0,1 0 0,0-1 0,0 1 0,-1 0 0,1 0 0,2-1 0,34-28 0,-20 19 0,-12 7 0,0 1 0,0-1 0,0 1 0,0 0 0,1 1 0,-1-1 0,1 1 0,0 0 0,10-2 0,-16 5 0,0-1 0,1 0 0,-1 0 0,1 0 0,-1 0 0,1 0 0,-1 1 0,0-1 0,1 0 0,-1 0 0,0 1 0,1-1 0,-1 0 0,0 1 0,1-1 0,-1 0 0,0 1 0,0-1 0,1 0 0,-1 1 0,0-1 0,0 0 0,0 1 0,1-1 0,-1 1 0,0-1 0,0 1 0,0-1 0,0 1 0,0-1 0,0 0 0,0 1 0,0-1 0,0 1 0,0-1 0,0 1 0,0-1 0,0 0 0,0 1 0,-1-1 0,1 1 0,0-1 0,0 1 0,0-1 0,-1 1 0,-10 23 0,9-20 0,-10 27 0,9-23 0,0 0 0,-1 0 0,0-1 0,0 1 0,0-1 0,-7 9 0,9-14 0,0 0 0,0-1 0,0 1 0,0 0 0,0-1 0,-1 0 0,1 1 0,0-1 0,-1 0 0,1 0 0,-1-1 0,1 1 0,-1 0 0,1-1 0,-1 1 0,1-1 0,-1 0 0,1 0 0,-1 0 0,0 0 0,1 0 0,-1-1 0,1 1 0,-1-1 0,-3-1 0,4 1 0,1 1 0,-1 0 0,1-1 0,0 1 0,-1-1 0,1 0 0,0 1 0,-1-1 0,1 0 0,0 0 0,0 0 0,0 0 0,0 0 0,0 0 0,0 0 0,0 0 0,0-1 0,0 1 0,0 0 0,1-1 0,-1 1 0,0 0 0,1-1 0,-1 1 0,1-1 0,0 1 0,0 0 0,-1-1 0,1 1 0,0-1 0,0 1 0,0-1 0,0 1 0,0-1 0,1 1 0,-1-1 0,0 1 0,1-1 0,-1 1 0,1 0 0,0-1 0,-1 1 0,1 0 0,1-2 0,0-1 0,0 0 0,1 0 0,-1 0 0,1 0 0,0 1 0,0-1 0,0 1 0,0-1 0,1 1 0,0 0 0,-1 1 0,1-1 0,6-2 0,-7 4 0,1 0 0,-1 0 0,0 0 0,1 1 0,-1-1 0,0 1 0,1 0 0,-1 0 0,1 1 0,-1-1 0,0 1 0,1-1 0,-1 1 0,0 0 0,1 0 0,-1 1 0,0-1 0,0 1 0,0-1 0,0 1 0,0 0 0,-1 0 0,1 0 0,2 3 0,-4-4 0,0 1 0,1-1 0,-1 0 0,0 1 0,0 0 0,-1-1 0,1 1 0,0-1 0,0 1 0,-1 0 0,1 0 0,-1-1 0,1 1 0,-1 0 0,0 0 0,0 0 0,0-1 0,0 4 0,-1-3 0,1 0 0,-1 1 0,0-1 0,0 0 0,0 0 0,0 0 0,0 0 0,-1 0 0,1 0 0,0 0 0,-1 0 0,0-1 0,1 1 0,-1 0 0,0-1 0,0 0 0,-3 3 0,-1-1 0,1 0 0,-1-1 0,1 0 0,-1 0 0,0 0 0,0 0 0,0-1 0,0 0 0,-7 0 0,11-1 0,0 1 0,0-1 0,1 0 0,-1 0 0,0 0 0,0 0 0,0-1 0,0 1 0,1 0 0,-1-1 0,0 1 0,0-1 0,1 0 0,-1 1 0,0-1 0,1 0 0,-1 0 0,1 0 0,-1 0 0,1 0 0,-1-1 0,1 1 0,0 0 0,0-1 0,-1 1 0,1-1 0,0 1 0,0-1 0,1 1 0,-1-1 0,0 0 0,0 0 0,0-1 0,0-10 0,-1 1 0,1-1 0,1 0 0,3-22 0,-3 29 0,1 0 0,0 1 0,0-1 0,1 0 0,0 0 0,0 1 0,0-1 0,1 1 0,-1 0 0,1 0 0,1 0 0,4-6 0,-7 10 0,0 0 0,-1 0 0,1 0 0,0 0 0,0 1 0,0-1 0,1 0 0,-1 1 0,0-1 0,0 1 0,0-1 0,0 1 0,0 0 0,1-1 0,-1 1 0,0 0 0,0 0 0,1 0 0,-1 0 0,0 0 0,0 0 0,1 0 0,-1 0 0,0 0 0,2 1 0,0 1 0,0-1 0,0 1 0,-1-1 0,1 1 0,-1 0 0,1 0 0,-1 0 0,0 0 0,0 1 0,3 3 0,-1-1 0,0 1 0,0 0 0,-1 0 0,1 0 0,-1 0 0,-1 0 0,1 1 0,-1 0 0,1 9 0,-3-13 0,0 0 0,0 0 0,0 0 0,-1 0 0,1-1 0,-1 1 0,0 0 0,0 0 0,0 0 0,0-1 0,0 1 0,-1-1 0,1 1 0,-1-1 0,0 1 0,0-1 0,0 0 0,0 0 0,0 0 0,0 0 0,0 0 0,-1 0 0,1-1 0,-1 1 0,-3 1 0,2-1 0,0 0 0,0-1 0,0 1 0,0-1 0,0 0 0,0 0 0,-1-1 0,1 1 0,0-1 0,0 0 0,-1 0 0,1 0 0,0 0 0,-1-1 0,1 0 0,-8-2 0,10 2 0,0 0 0,1-1 0,-1 1 0,0 0 0,0-1 0,1 1 0,-1-1 0,1 0 0,-1 1 0,1-1 0,0 0 0,0 0 0,0 0 0,0 0 0,0 0 0,0 0 0,0 0 0,1 0 0,-1 0 0,1-1 0,-1 1 0,1 0 0,0 0 0,0-1 0,0 1 0,0 0 0,0 0 0,1 0 0,-1-1 0,1 1 0,1-3 0,-1 0 0,0 1 0,0-1 0,1 1 0,-1 0 0,1 0 0,0 0 0,1 0 0,-1 0 0,0 0 0,1 1 0,0-1 0,0 1 0,0 0 0,7-6 0,-6 7 0,0 1 0,0-1 0,0 1 0,0-1 0,1 1 0,-1 0 0,0 1 0,1-1 0,-1 1 0,0 0 0,1 0 0,-1 0 0,1 1 0,-1-1 0,0 1 0,0 0 0,1 0 0,-1 1 0,8 3 0,-9-3 0,1-1 0,-1 1 0,0 0 0,1 1 0,-1-1 0,0 0 0,-1 1 0,1 0 0,0 0 0,-1 0 0,1 0 0,-1 0 0,0 0 0,0 1 0,0-1 0,-1 0 0,1 1 0,-1 0 0,0-1 0,0 1 0,0 0 0,0 6 0,0-4 0,-1 0 0,0 1 0,0-1 0,-1 0 0,1 0 0,-1 0 0,-4 11 0,4-15 0,0 0 0,0 0 0,0-1 0,0 1 0,0 0 0,-1 0 0,1-1 0,-1 1 0,1-1 0,-1 0 0,0 1 0,1-1 0,-1 0 0,0 0 0,0 0 0,0 0 0,0 0 0,0 0 0,0-1 0,0 1 0,0-1 0,0 1 0,0-1 0,0 0 0,-4 0 0,-2 1 0,0-1 0,0 0 0,0-1 0,0 0 0,0 0 0,1 0 0,-1-1 0,0 0 0,1-1 0,-1 0 0,-7-4 0,12 5 0,0 0 0,0 0 0,0-1 0,0 1 0,0-1 0,0 1 0,1-1 0,-1 0 0,1 0 0,0-1 0,0 1 0,0 0 0,1-1 0,-1 1 0,1-1 0,-1 1 0,1-1 0,0 1 0,1-1 0,-1 0 0,1 0 0,-1 0 0,1 1 0,0-1 0,1-6 0,0 5 0,0 0 0,0 1 0,0-1 0,1 1 0,-1-1 0,1 1 0,0 0 0,1 0 0,-1 0 0,1 0 0,-1 0 0,1 0 0,0 1 0,0-1 0,1 1 0,-1 0 0,1 0 0,0 0 0,0 0 0,-1 1 0,2 0 0,-1 0 0,0 0 0,8-3 0,-8 4 0,-1 0 0,0 1 0,0-1 0,1 0 0,-1 1 0,0 0 0,1 0 0,-1 0 0,0 0 0,0 1 0,1-1 0,-1 1 0,0 0 0,0 0 0,0 0 0,1 0 0,-1 0 0,-1 1 0,1 0 0,0-1 0,0 1 0,0 0 0,-1 0 0,1 0 0,-1 1 0,0-1 0,0 1 0,0-1 0,0 1 0,0 0 0,0 0 0,-1 0 0,1 0 0,-1 0 0,2 4 0,-3-5 0,1 0 0,-1 0 0,0 0 0,1 0 0,-1 0 0,0-1 0,0 1 0,0 0 0,0 0 0,-1 0 0,1 0 0,0 0 0,-1 0 0,1 0 0,-1 0 0,0 0 0,0 0 0,0-1 0,0 1 0,0 0 0,0-1 0,0 1 0,0-1 0,-3 4 0,0-2 0,0 0 0,-1 1 0,1-1 0,0 0 0,-1-1 0,0 1 0,1-1 0,-1 0 0,0 0 0,-6 1 0,7-2 0,-1 0 0,1 0 0,-1-1 0,1 1 0,-1-1 0,0 0 0,1 0 0,-1-1 0,0 1 0,1-1 0,-7-2 0,9 3 0,0-1 0,0 0 0,0 0 0,0 0 0,0 0 0,1 0 0,-1-1 0,0 1 0,1 0 0,-1-1 0,1 1 0,0-1 0,-1 0 0,1 1 0,0-1 0,0 0 0,0 0 0,0 1 0,0-1 0,0 0 0,1 0 0,-1 0 0,1 0 0,-1 0 0,1-3 0,-1 2 0,1 0 0,0 0 0,-1 0 0,1 1 0,1-1 0,-1 0 0,0 0 0,1 0 0,-1 0 0,1 1 0,0-1 0,0 0 0,0 1 0,0-1 0,0 1 0,1-1 0,-1 1 0,1 0 0,0-1 0,-1 1 0,1 0 0,0 0 0,0 0 0,1 0 0,-1 1 0,0-1 0,1 0 0,-1 1 0,1 0 0,-1-1 0,1 1 0,-1 0 0,1 1 0,0-1 0,0 0 0,-1 1 0,1-1 0,0 1 0,0 0 0,0 0 0,-1 0 0,1 0 0,4 1 0,-3 0 0,-1-1 0,1 1 0,0-1 0,0 1 0,-1 0 0,1 1 0,-1-1 0,1 0 0,-1 1 0,0 0 0,1 0 0,-1 0 0,0 0 0,0 1 0,0-1 0,-1 1 0,1 0 0,0-1 0,-1 1 0,0 0 0,0 1 0,0-1 0,0 0 0,0 1 0,-1-1 0,1 1 0,-1-1 0,0 1 0,0 0 0,-1-1 0,1 1 0,0 6 0,-1-5 0,-1-1 0,1 1 0,-1-1 0,1 1 0,-1-1 0,0 0 0,-1 0 0,1 1 0,-1-1 0,0 0 0,-4 6 0,4-8 0,0 0 0,0 0 0,0 0 0,0 0 0,0 0 0,0 0 0,-1-1 0,1 1 0,-1-1 0,1 0 0,-1 0 0,1 0 0,-1 0 0,0 0 0,1-1 0,-1 1 0,0-1 0,0 1 0,-4-1 0,-18 2 0,17-1 0,1-1 0,-1 1 0,1-1 0,-1-1 0,-12-1 0,17 1 0,1 0 0,0 1 0,0-1 0,0 0 0,1 0 0,-1 0 0,0 0 0,0-1 0,0 1 0,1 0 0,-1-1 0,1 1 0,-1-1 0,1 0 0,-1 1 0,1-1 0,0 0 0,0 0 0,0 0 0,0 0 0,0 0 0,0 0 0,1 0 0,-1-4 0,-2-4 0,2-1 0,0 0 0,0 0 0,1 0 0,0-1 0,0 1 0,2 0 0,-1 0 0,1 1 0,1-1 0,0 0 0,9-20 0,-11 30 0,-1 0 0,1-1 0,0 1 0,0 0 0,0 0 0,0 0 0,0-1 0,0 1 0,0 0 0,0 0 0,0 0 0,1 1 0,-1-1 0,0 0 0,0 0 0,1 1 0,-1-1 0,1 1 0,-1-1 0,0 1 0,4-1 0,-2 1 0,0 0 0,0 0 0,0 0 0,0 1 0,0-1 0,0 1 0,0 0 0,0 0 0,0 0 0,3 2 0,3 1 0,0 1 0,-1 0 0,0 1 0,0 0 0,14 13 0,-16-13 0,-1 1 0,1-1 0,-1 1 0,0 1 0,-1-1 0,0 0 0,0 1 0,0 0 0,3 14 0,-6-19 0,-1-1 0,1 1 0,-1-1 0,0 1 0,0-1 0,0 1 0,0 0 0,0-1 0,0 1 0,-1-1 0,0 1 0,1-1 0,-1 1 0,0-1 0,0 0 0,0 1 0,0-1 0,-1 0 0,1 0 0,-1 0 0,1 0 0,-1 0 0,0 0 0,1 0 0,-1 0 0,0-1 0,0 1 0,-1-1 0,1 1 0,0-1 0,0 0 0,-1 0 0,1 0 0,0 0 0,-1-1 0,-4 2 0,2-1 0,0 0 0,0 0 0,0 0 0,0-1 0,0 0 0,1 0 0,-1 0 0,0 0 0,0-1 0,0 0 0,0 0 0,0 0 0,0-1 0,1 1 0,-1-1 0,1 0 0,-1-1 0,1 1 0,0-1 0,0 0 0,0 0 0,0 0 0,0 0 0,-5-7 0,6 6 0,0 1 0,1-1 0,-1 0 0,1 0 0,-1 0 0,1 0 0,1 0 0,-1 0 0,1-1 0,-1 1 0,1-1 0,0 1 0,1-1 0,-1 0 0,1 1 0,0-1 0,0 1 0,0-1 0,1 0 0,0 1 0,-1-1 0,2 1 0,-1-1 0,0 1 0,1 0 0,4-7 0,-4 7 0,0 0 0,1 0 0,0 0 0,-1 0 0,2 1 0,-1 0 0,0 0 0,1 0 0,-1 0 0,1 0 0,0 0 0,0 1 0,0 0 0,0 0 0,0 0 0,0 0 0,1 1 0,7-2 0,-6 2 0,-1 1 0,1 0 0,-1 0 0,1 0 0,-1 0 0,1 1 0,-1 0 0,1 1 0,-1-1 0,0 1 0,0 0 0,0 0 0,0 0 0,0 1 0,8 5 0,-9-5 0,-1 1 0,1 0 0,-1 0 0,1 0 0,-1 0 0,0 0 0,-1 1 0,1 0 0,-1-1 0,0 1 0,0 0 0,0 0 0,-1 0 0,1 0 0,-1 0 0,0 6 0,0-2 0,0 0 0,0 1 0,-1-1 0,0 1 0,-1-1 0,0 1 0,-1-1 0,-2 10 0,-3-4-1365,0-4-5461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3T17:20:19.9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CF7680E-169A-A704-87FE-4ADC0A59032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5E2A24E-CE6B-15F2-B907-C34DF8098142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B8AAC2CB-9909-4597-A297-626359C96841}" type="datetimeFigureOut">
              <a:rPr lang="en-US"/>
              <a:pPr>
                <a:defRPr/>
              </a:pPr>
              <a:t>9/5/2026</a:t>
            </a:fld>
            <a:endParaRPr lang="en-US" dirty="0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450453D9-7178-AE84-A41F-997C940237B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7CC655B9-77D0-4B47-3392-6D0863D754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7EA624-C286-2413-5595-12355B7633C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DC0E5F-C13E-ABC7-EE67-6F693542EE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C66BBB4D-4916-494C-BF68-66BAB50853A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Slide Image Placeholder 1">
            <a:extLst>
              <a:ext uri="{FF2B5EF4-FFF2-40B4-BE49-F238E27FC236}">
                <a16:creationId xmlns:a16="http://schemas.microsoft.com/office/drawing/2014/main" id="{25B34BBB-AC75-B6A5-988D-A7E2B5268EC8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099" name="Text Placeholder 2">
            <a:extLst>
              <a:ext uri="{FF2B5EF4-FFF2-40B4-BE49-F238E27FC236}">
                <a16:creationId xmlns:a16="http://schemas.microsoft.com/office/drawing/2014/main" id="{9325E3CB-FF91-56E2-F384-061C96C4A617}"/>
              </a:ext>
            </a:extLst>
          </p:cNvPr>
          <p:cNvSpPr>
            <a:spLocks noGrp="1"/>
          </p:cNvSpPr>
          <p:nvPr>
            <p:ph type="body" idx="3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6EC1899E-10C7-E286-7C5A-6193CDD464DF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02A9AE41-0D2A-8177-3552-2D65D02EB727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0E8EFA0-8B82-4E8F-83AB-751EC3FCF23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33506990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3170E70E-9F5C-F2B6-1AC3-41B5A78A30B2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EC6469CC-9E20-4468-066D-7A6ACC3C476A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7689518-C392-463E-AD8A-A8268765D1F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1596425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A197950C-C4BC-4E33-24BA-545FDA5B4F7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C46EB078-EF0D-EF8A-C7EA-B7798280E026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C573971-39CA-46CF-A895-61FAB428F71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23219496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FFA8E5E-9CC8-1E02-4019-EA2D3352FA28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1AFC90B-C151-9FFA-F2E1-FC5B78CA7C50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2B9629F-B0F8-4D9F-9141-82A53696BFB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69397124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B83DA635-4A46-6AC2-B6EF-5BA02CCEF7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7E200FD7-8D8B-70CB-2887-CD078F9B62D2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940B97-C6A5-4BC4-8266-53C67604F3F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88906184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5F3C5371-6321-CA22-9693-C9CB652798F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50C2B3D6-5B3A-7B95-9EF7-9F1B1503273C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ED70BF8-D139-4659-89E5-5F851F75F54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66704962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id="{45DBCD2E-B548-3100-B472-C43538D6E13A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98449C9F-4F23-45D5-29A1-7E607AA6D969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839DF58-7ECB-44FF-9950-625F3172FF6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06283273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2A58542-EB59-5CE2-F351-5C1A14692AD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FA5FA53-17C6-C86E-2617-1936235B2F88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955833-97CF-48E6-BA91-773693F6C01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12629741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2C6BACE-9708-B7C3-652A-3EA71754883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8A96E1D-9B83-9D09-72C7-9097C45DF271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B7AC6A0-C935-4611-B957-BD76BFBB1BD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24829287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1B38AF2D-8758-B239-FE6B-2198C009BE0B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EFD493F2-BF53-D93F-F717-F1342F389AB6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770BA3C-B5B3-49B5-844D-83F2066BA13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06897177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2BD9DBB6-2121-C3F1-CB6B-DE0E2D0845E9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99BFF119-593A-FF7C-3E7C-73A01A466AC4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C2AD8F4-1758-4CB0-A1B8-A47B84BBF78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58200197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85800" y="1981200"/>
            <a:ext cx="7772400" cy="4114800"/>
          </a:xfrm>
        </p:spPr>
        <p:txBody>
          <a:bodyPr/>
          <a:lstStyle/>
          <a:p>
            <a:pPr lvl="0"/>
            <a:endParaRPr lang="en-US" noProof="0" dirty="0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23B8D885-228D-A51A-23CC-BC5022A98B77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3C8099FB-3C3C-3E67-0F7D-6A5B2F4F222D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9266424-2A66-4F3B-AFF3-B6811C40841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28503753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685800" y="609600"/>
            <a:ext cx="7772400" cy="548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420BFD69-F9D0-8156-7896-63E8213885F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221C937E-613D-ED9C-A42F-1E2C139D7953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C73D7BB-74AD-430A-B6C1-F79F4FF35A7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58005234"/>
      </p:ext>
    </p:extLst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dgm" preserve="1">
  <p:cSld name="Title and Diagram or Organization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martArt Placeholder 2"/>
          <p:cNvSpPr>
            <a:spLocks noGrp="1"/>
          </p:cNvSpPr>
          <p:nvPr>
            <p:ph type="pic" idx="1"/>
          </p:nvPr>
        </p:nvSpPr>
        <p:spPr>
          <a:xfrm>
            <a:off x="685800" y="1981200"/>
            <a:ext cx="7772400" cy="4114800"/>
          </a:xfrm>
        </p:spPr>
        <p:txBody>
          <a:bodyPr/>
          <a:lstStyle/>
          <a:p>
            <a:pPr lvl="0"/>
            <a:endParaRPr lang="en-US" noProof="0" dirty="0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8D51F56E-8F12-41C3-094A-E072E899A34B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716278CF-8470-37D3-7F78-99D5AB78AF56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C3C231-2E8B-4C9E-9FCF-D646EFC7827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56050908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6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45DA51F5-0CA2-5BFA-0DC0-4DD165D8AB6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076C1F61-F817-AE0F-CF82-2D7B8F4E5E3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840A0874-7104-AFBF-1116-69634E31CBE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fontAlgn="auto" hangingPunct="1">
              <a:spcBef>
                <a:spcPct val="0"/>
              </a:spcBef>
              <a:spcAft>
                <a:spcPts val="0"/>
              </a:spcAft>
              <a:buFontTx/>
              <a:buNone/>
              <a:defRPr sz="1400" b="0">
                <a:solidFill>
                  <a:srgbClr val="0000FF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4818E478-B68F-C1E2-1935-6D6D4C42B066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18300" y="63500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0AAFF3DE-0B95-4689-9E52-034F7E7E022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2" name="Line 7">
            <a:extLst>
              <a:ext uri="{FF2B5EF4-FFF2-40B4-BE49-F238E27FC236}">
                <a16:creationId xmlns:a16="http://schemas.microsoft.com/office/drawing/2014/main" id="{DE25827C-87BA-3254-4AAA-16A930F4A2A2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685800" y="990600"/>
            <a:ext cx="84582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endParaRPr lang="en-IN"/>
          </a:p>
        </p:txBody>
      </p:sp>
      <p:sp>
        <p:nvSpPr>
          <p:cNvPr id="1031" name="Text Box 9">
            <a:extLst>
              <a:ext uri="{FF2B5EF4-FFF2-40B4-BE49-F238E27FC236}">
                <a16:creationId xmlns:a16="http://schemas.microsoft.com/office/drawing/2014/main" id="{F7D50A28-A522-6E34-2AF9-FF9F53F84D16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914400" y="6248400"/>
            <a:ext cx="1981200" cy="27463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marL="4572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endParaRPr lang="en-US" sz="1200" dirty="0">
              <a:latin typeface="Verdana" panose="020B0604030504040204" pitchFamily="34" charset="0"/>
            </a:endParaRPr>
          </a:p>
        </p:txBody>
      </p:sp>
      <p:sp>
        <p:nvSpPr>
          <p:cNvPr id="1032" name="Text Box 10">
            <a:extLst>
              <a:ext uri="{FF2B5EF4-FFF2-40B4-BE49-F238E27FC236}">
                <a16:creationId xmlns:a16="http://schemas.microsoft.com/office/drawing/2014/main" id="{50122BE8-8277-CE9B-4B6F-0B13B8347B75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57200" y="6324600"/>
            <a:ext cx="2895600" cy="27463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marL="4572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fld id="{1D98EE8B-037D-4AA1-9C79-2D0BD37144CF}" type="datetime3">
              <a:rPr lang="en-US" sz="1200" smtClean="0">
                <a:solidFill>
                  <a:srgbClr val="0000FF"/>
                </a:solidFill>
                <a:latin typeface="Verdana" panose="020B0604030504040204" pitchFamily="34" charset="0"/>
              </a:rPr>
              <a:pPr eaLnBrk="1" hangingPunct="1">
                <a:spcBef>
                  <a:spcPct val="50000"/>
                </a:spcBef>
                <a:defRPr/>
              </a:pPr>
              <a:t>5 September 2026</a:t>
            </a:fld>
            <a:endParaRPr lang="en-US" sz="1200" dirty="0">
              <a:solidFill>
                <a:srgbClr val="0000FF"/>
              </a:solidFill>
              <a:latin typeface="Verdana" panose="020B0604030504040204" pitchFamily="34" charset="0"/>
            </a:endParaRPr>
          </a:p>
        </p:txBody>
      </p:sp>
      <p:sp>
        <p:nvSpPr>
          <p:cNvPr id="1033" name="Text Box 11">
            <a:extLst>
              <a:ext uri="{FF2B5EF4-FFF2-40B4-BE49-F238E27FC236}">
                <a16:creationId xmlns:a16="http://schemas.microsoft.com/office/drawing/2014/main" id="{0498752C-4BA1-BFAA-57D0-32606EFF93FA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988300" y="6583363"/>
            <a:ext cx="1155700" cy="274637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marL="4572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fld id="{03F5EF0B-FE30-4A8B-A3C8-A04FF47E8BDE}" type="slidenum">
              <a:rPr lang="en-US" altLang="en-US" sz="1200" smtClean="0">
                <a:latin typeface="Verdana" panose="020B0604030504040204" pitchFamily="34" charset="0"/>
              </a:rPr>
              <a:pPr eaLnBrk="1" hangingPunct="1">
                <a:spcBef>
                  <a:spcPct val="50000"/>
                </a:spcBef>
                <a:defRPr/>
              </a:pPr>
              <a:t>‹#›</a:t>
            </a:fld>
            <a:endParaRPr lang="en-US" altLang="en-US" sz="1200">
              <a:latin typeface="Verdana" panose="020B060403050404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ransition/>
  <p:hf sldNum="0" hdr="0" ft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customXml" Target="../ink/ink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pubmed.ncbi.nlm.nih.gov/38580698/" TargetMode="Externa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F0A1A34-8A56-BFF5-690D-DE6E7D4010CC}"/>
              </a:ext>
            </a:extLst>
          </p:cNvPr>
          <p:cNvSpPr txBox="1"/>
          <p:nvPr/>
        </p:nvSpPr>
        <p:spPr>
          <a:xfrm>
            <a:off x="1115616" y="2060848"/>
            <a:ext cx="7500937" cy="255454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IN" sz="4000" dirty="0">
                <a:solidFill>
                  <a:srgbClr val="FF0000"/>
                </a:solidFill>
                <a:latin typeface="+mj-lt"/>
              </a:rPr>
              <a:t>Badminton Swing Analyzer </a:t>
            </a:r>
          </a:p>
          <a:p>
            <a:pPr algn="ctr">
              <a:defRPr/>
            </a:pPr>
            <a:r>
              <a:rPr lang="en-IN" sz="4000" dirty="0">
                <a:solidFill>
                  <a:srgbClr val="FF0000"/>
                </a:solidFill>
                <a:latin typeface="+mj-lt"/>
              </a:rPr>
              <a:t>using </a:t>
            </a:r>
          </a:p>
          <a:p>
            <a:pPr algn="ctr">
              <a:defRPr/>
            </a:pPr>
            <a:r>
              <a:rPr lang="en-IN" sz="4000" dirty="0">
                <a:solidFill>
                  <a:srgbClr val="FF0000"/>
                </a:solidFill>
                <a:latin typeface="+mj-lt"/>
              </a:rPr>
              <a:t>MPU6050 with ML</a:t>
            </a:r>
          </a:p>
          <a:p>
            <a:pPr algn="ctr">
              <a:defRPr/>
            </a:pPr>
            <a:endParaRPr lang="en-US" sz="4000" dirty="0">
              <a:solidFill>
                <a:srgbClr val="FF0000"/>
              </a:solidFill>
              <a:latin typeface="+mj-lt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C4712C2C-2C3A-F82F-F456-925E13A53409}"/>
              </a:ext>
            </a:extLst>
          </p:cNvPr>
          <p:cNvSpPr txBox="1"/>
          <p:nvPr/>
        </p:nvSpPr>
        <p:spPr>
          <a:xfrm>
            <a:off x="971600" y="908720"/>
            <a:ext cx="7488832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Problem Statement:</a:t>
            </a:r>
            <a:endParaRPr lang="en-US" altLang="en-US" dirty="0"/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US" altLang="en-US" dirty="0">
                <a:latin typeface="+mj-lt"/>
              </a:rPr>
              <a:t>Traditional badminton training is </a:t>
            </a:r>
            <a:r>
              <a:rPr lang="en-US" altLang="en-US" u="sng" dirty="0">
                <a:latin typeface="+mj-lt"/>
              </a:rPr>
              <a:t>largely dependent on subjective coaching</a:t>
            </a:r>
            <a:r>
              <a:rPr lang="en-US" altLang="en-US" dirty="0">
                <a:latin typeface="+mj-lt"/>
              </a:rPr>
              <a:t> and visual observation, leading to inconsistent performance evaluation 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US" altLang="en-US" dirty="0">
                <a:latin typeface="+mj-lt"/>
              </a:rPr>
              <a:t>There is a </a:t>
            </a:r>
            <a:r>
              <a:rPr lang="en-US" altLang="en-US" u="sng" dirty="0">
                <a:latin typeface="+mj-lt"/>
              </a:rPr>
              <a:t>lack of an intelligent and automated system</a:t>
            </a:r>
            <a:r>
              <a:rPr lang="en-US" altLang="en-US" dirty="0">
                <a:latin typeface="+mj-lt"/>
              </a:rPr>
              <a:t> to accurately analyze swing quality, stroke classification, and player efficiency in real time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>
              <a:latin typeface="+mj-lt"/>
            </a:endParaRPr>
          </a:p>
          <a:p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Motivation: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+mj-lt"/>
              </a:rPr>
              <a:t>To </a:t>
            </a:r>
            <a:r>
              <a:rPr lang="en-US" u="sng" dirty="0">
                <a:latin typeface="+mj-lt"/>
              </a:rPr>
              <a:t>integrate embedded systems and machine learning </a:t>
            </a:r>
            <a:r>
              <a:rPr lang="en-US" dirty="0">
                <a:latin typeface="+mj-lt"/>
              </a:rPr>
              <a:t>for intelligent sports performance tracking.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+mj-lt"/>
              </a:rPr>
              <a:t>To provide feedback </a:t>
            </a:r>
            <a:r>
              <a:rPr lang="en-US" u="sng" dirty="0">
                <a:latin typeface="+mj-lt"/>
              </a:rPr>
              <a:t>for improving player technique and training efficiency</a:t>
            </a:r>
            <a:r>
              <a:rPr lang="en-US" dirty="0">
                <a:latin typeface="+mj-lt"/>
              </a:rPr>
              <a:t>.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>
              <a:latin typeface="+mj-lt"/>
            </a:endParaRPr>
          </a:p>
          <a:p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Objective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: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+mj-lt"/>
              </a:rPr>
              <a:t>To design a smart system that </a:t>
            </a:r>
            <a:r>
              <a:rPr lang="en-US" u="sng" dirty="0">
                <a:latin typeface="+mj-lt"/>
              </a:rPr>
              <a:t>detects and classifies badminton strokes</a:t>
            </a:r>
            <a:r>
              <a:rPr lang="en-US" dirty="0">
                <a:latin typeface="+mj-lt"/>
              </a:rPr>
              <a:t> using sensor data and AI models.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+mj-lt"/>
              </a:rPr>
              <a:t>To </a:t>
            </a:r>
            <a:r>
              <a:rPr lang="en-US" u="sng" dirty="0">
                <a:latin typeface="+mj-lt"/>
              </a:rPr>
              <a:t>analyze player performance metrics </a:t>
            </a:r>
            <a:r>
              <a:rPr lang="en-US" dirty="0">
                <a:latin typeface="+mj-lt"/>
              </a:rPr>
              <a:t>such as speed, impact, power, and consistency in real time.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9529C24-B821-FDAA-25AD-88C505EC07E5}"/>
              </a:ext>
            </a:extLst>
          </p:cNvPr>
          <p:cNvSpPr txBox="1"/>
          <p:nvPr/>
        </p:nvSpPr>
        <p:spPr>
          <a:xfrm>
            <a:off x="2663788" y="116632"/>
            <a:ext cx="41044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solidFill>
                  <a:srgbClr val="FF0000"/>
                </a:solidFill>
                <a:latin typeface="+mj-lt"/>
              </a:rPr>
              <a:t>Project Overview</a:t>
            </a:r>
          </a:p>
        </p:txBody>
      </p:sp>
    </p:spTree>
    <p:extLst>
      <p:ext uri="{BB962C8B-B14F-4D97-AF65-F5344CB8AC3E}">
        <p14:creationId xmlns:p14="http://schemas.microsoft.com/office/powerpoint/2010/main" val="4119509913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822F528-5BB8-DA53-4416-4D9846E3459B}"/>
              </a:ext>
            </a:extLst>
          </p:cNvPr>
          <p:cNvSpPr txBox="1"/>
          <p:nvPr/>
        </p:nvSpPr>
        <p:spPr>
          <a:xfrm>
            <a:off x="827584" y="620688"/>
            <a:ext cx="3744416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IN" b="1" dirty="0">
              <a:latin typeface="+mj-lt"/>
            </a:endParaRPr>
          </a:p>
          <a:p>
            <a:pPr>
              <a:buNone/>
            </a:pPr>
            <a:r>
              <a:rPr lang="en-IN" sz="2000" b="1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Working Principle: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>
                <a:latin typeface="+mj-lt"/>
              </a:rPr>
              <a:t>The MPU6050 is a </a:t>
            </a:r>
            <a:r>
              <a:rPr lang="en-IN" b="1" dirty="0">
                <a:latin typeface="+mj-lt"/>
              </a:rPr>
              <a:t>6-axis IMU sensor</a:t>
            </a:r>
            <a:r>
              <a:rPr lang="en-IN" dirty="0">
                <a:latin typeface="+mj-lt"/>
              </a:rPr>
              <a:t> combining: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+mj-lt"/>
              </a:rPr>
              <a:t>3-axis Accelerometer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+mj-lt"/>
              </a:rPr>
              <a:t>3-axis Gyroscope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b="1" dirty="0">
                <a:latin typeface="+mj-lt"/>
              </a:rPr>
              <a:t>Accelerometer</a:t>
            </a:r>
            <a:r>
              <a:rPr lang="en-IN" dirty="0">
                <a:latin typeface="+mj-lt"/>
              </a:rPr>
              <a:t> measures linear motion along X, Y, Z axes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b="1" dirty="0">
                <a:latin typeface="+mj-lt"/>
              </a:rPr>
              <a:t>Gyroscope</a:t>
            </a:r>
            <a:r>
              <a:rPr lang="en-IN" dirty="0">
                <a:latin typeface="+mj-lt"/>
              </a:rPr>
              <a:t> measures angular rotation of the racket </a:t>
            </a:r>
          </a:p>
          <a:p>
            <a:endParaRPr lang="en-IN" b="1" dirty="0">
              <a:latin typeface="+mj-lt"/>
            </a:endParaRPr>
          </a:p>
          <a:p>
            <a:pPr>
              <a:buNone/>
            </a:pPr>
            <a:r>
              <a:rPr lang="en-IN" b="1" dirty="0">
                <a:latin typeface="+mj-lt"/>
              </a:rPr>
              <a:t> </a:t>
            </a:r>
            <a:endParaRPr lang="en-IN" dirty="0"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B08509-097A-0E85-D301-2F30F76EAFF1}"/>
              </a:ext>
            </a:extLst>
          </p:cNvPr>
          <p:cNvSpPr txBox="1"/>
          <p:nvPr/>
        </p:nvSpPr>
        <p:spPr>
          <a:xfrm>
            <a:off x="1647777" y="159023"/>
            <a:ext cx="61206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sz="2400" b="1" dirty="0">
                <a:solidFill>
                  <a:srgbClr val="FF0000"/>
                </a:solidFill>
                <a:latin typeface="+mj-lt"/>
              </a:rPr>
              <a:t>MPU6050 IMU Sensor</a:t>
            </a:r>
            <a:endParaRPr lang="en-IN" sz="2000" b="1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EB26BB-6F0F-64B9-7960-9CAB32F36EB2}"/>
              </a:ext>
            </a:extLst>
          </p:cNvPr>
          <p:cNvSpPr txBox="1"/>
          <p:nvPr/>
        </p:nvSpPr>
        <p:spPr>
          <a:xfrm>
            <a:off x="4860032" y="908720"/>
            <a:ext cx="3811609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Data Processing: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800" dirty="0">
                <a:latin typeface="+mj-lt"/>
              </a:rPr>
              <a:t>Sensor outputs raw data via </a:t>
            </a:r>
          </a:p>
          <a:p>
            <a:r>
              <a:rPr lang="en-IN" sz="1800" b="1" dirty="0">
                <a:latin typeface="+mj-lt"/>
              </a:rPr>
              <a:t>     I2C communication</a:t>
            </a:r>
            <a:r>
              <a:rPr lang="en-IN" sz="1800" dirty="0">
                <a:latin typeface="+mj-lt"/>
              </a:rPr>
              <a:t> to ESP32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800" dirty="0">
                <a:latin typeface="+mj-lt"/>
              </a:rPr>
              <a:t>Acceleration + angular velocity are continuously monitored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800" dirty="0">
                <a:latin typeface="+mj-lt"/>
              </a:rPr>
              <a:t>Total acceleration is computed to detect swing motion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38D9346-5DB7-8D18-CD4C-04CE7F489416}"/>
              </a:ext>
            </a:extLst>
          </p:cNvPr>
          <p:cNvSpPr txBox="1"/>
          <p:nvPr/>
        </p:nvSpPr>
        <p:spPr>
          <a:xfrm>
            <a:off x="4105271" y="3485435"/>
            <a:ext cx="4572000" cy="2339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Role in Project: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>
                <a:latin typeface="+mj-lt"/>
              </a:rPr>
              <a:t>Detects start and end of badminton swings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>
                <a:latin typeface="+mj-lt"/>
              </a:rPr>
              <a:t>Captures </a:t>
            </a:r>
            <a:r>
              <a:rPr lang="en-IN" dirty="0">
                <a:solidFill>
                  <a:schemeClr val="accent4">
                    <a:lumMod val="95000"/>
                    <a:lumOff val="5000"/>
                  </a:schemeClr>
                </a:solidFill>
                <a:latin typeface="+mj-lt"/>
              </a:rPr>
              <a:t>motion characteristics </a:t>
            </a:r>
            <a:r>
              <a:rPr lang="en-IN" dirty="0">
                <a:latin typeface="+mj-lt"/>
              </a:rPr>
              <a:t>like: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+mj-lt"/>
              </a:rPr>
              <a:t>Speed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+mj-lt"/>
              </a:rPr>
              <a:t>Impact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+mj-lt"/>
              </a:rPr>
              <a:t>Direction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>
                <a:latin typeface="+mj-lt"/>
              </a:rPr>
              <a:t>Provides input for feature extraction and ML models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E29951E-FB80-91FD-365D-722618D9D3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694" y="3598624"/>
            <a:ext cx="3448308" cy="2566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678467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C6E9BCF-16C2-4208-E143-E8663BCC9792}"/>
              </a:ext>
            </a:extLst>
          </p:cNvPr>
          <p:cNvSpPr txBox="1"/>
          <p:nvPr/>
        </p:nvSpPr>
        <p:spPr>
          <a:xfrm>
            <a:off x="827584" y="423150"/>
            <a:ext cx="8928992" cy="66479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Working Logic: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600" dirty="0">
                <a:latin typeface="+mj-lt"/>
              </a:rPr>
              <a:t>Continuously read accelerometer &amp; gyroscope data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600" dirty="0">
                <a:latin typeface="+mj-lt"/>
              </a:rPr>
              <a:t>Compute total acceleration magnitude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600" dirty="0">
                <a:latin typeface="+mj-lt"/>
              </a:rPr>
              <a:t>If acceleration </a:t>
            </a:r>
            <a:r>
              <a:rPr lang="en-IN" sz="1600" b="1" dirty="0">
                <a:latin typeface="+mj-lt"/>
              </a:rPr>
              <a:t>&gt;</a:t>
            </a:r>
            <a:r>
              <a:rPr lang="en-IN" sz="1600" dirty="0">
                <a:latin typeface="+mj-lt"/>
              </a:rPr>
              <a:t> </a:t>
            </a:r>
            <a:r>
              <a:rPr lang="en-IN" sz="1600" b="1" dirty="0">
                <a:latin typeface="+mj-lt"/>
              </a:rPr>
              <a:t>START_THRESHOLD</a:t>
            </a:r>
            <a:r>
              <a:rPr lang="en-IN" sz="1600" dirty="0">
                <a:latin typeface="+mj-lt"/>
              </a:rPr>
              <a:t> </a:t>
            </a:r>
            <a:r>
              <a:rPr lang="en-IN" sz="1600" dirty="0">
                <a:latin typeface="+mj-lt"/>
                <a:sym typeface="Wingdings" panose="05000000000000000000" pitchFamily="2" charset="2"/>
              </a:rPr>
              <a:t> </a:t>
            </a:r>
            <a:r>
              <a:rPr lang="en-IN" sz="1600" dirty="0">
                <a:latin typeface="+mj-lt"/>
              </a:rPr>
              <a:t>Start swing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600" dirty="0">
                <a:latin typeface="+mj-lt"/>
              </a:rPr>
              <a:t>Track </a:t>
            </a:r>
            <a:r>
              <a:rPr lang="en-IN" sz="1600" b="1" dirty="0">
                <a:latin typeface="+mj-lt"/>
              </a:rPr>
              <a:t>peak speed</a:t>
            </a:r>
            <a:r>
              <a:rPr lang="en-IN" sz="1600" dirty="0">
                <a:latin typeface="+mj-lt"/>
              </a:rPr>
              <a:t> and </a:t>
            </a:r>
            <a:r>
              <a:rPr lang="en-IN" sz="1600" b="1" dirty="0">
                <a:latin typeface="+mj-lt"/>
              </a:rPr>
              <a:t>maximum impact</a:t>
            </a:r>
            <a:r>
              <a:rPr lang="en-IN" sz="1600" dirty="0">
                <a:latin typeface="+mj-lt"/>
              </a:rPr>
              <a:t> during motion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600" dirty="0">
                <a:latin typeface="+mj-lt"/>
              </a:rPr>
              <a:t>If acceleration </a:t>
            </a:r>
            <a:r>
              <a:rPr lang="en-IN" sz="1600" b="1" dirty="0">
                <a:latin typeface="+mj-lt"/>
              </a:rPr>
              <a:t>&lt;</a:t>
            </a:r>
            <a:r>
              <a:rPr lang="en-IN" sz="1600" dirty="0">
                <a:latin typeface="+mj-lt"/>
              </a:rPr>
              <a:t> </a:t>
            </a:r>
            <a:r>
              <a:rPr lang="en-IN" sz="1600" b="1" dirty="0">
                <a:latin typeface="+mj-lt"/>
              </a:rPr>
              <a:t>END_THRESHOLD</a:t>
            </a:r>
            <a:r>
              <a:rPr lang="en-IN" sz="1600" dirty="0">
                <a:latin typeface="+mj-lt"/>
              </a:rPr>
              <a:t> AND duration &gt; </a:t>
            </a:r>
            <a:r>
              <a:rPr lang="en-IN" sz="1600" b="1" dirty="0">
                <a:latin typeface="+mj-lt"/>
              </a:rPr>
              <a:t>MIN_DURATION</a:t>
            </a:r>
            <a:r>
              <a:rPr lang="en-IN" sz="1600" dirty="0">
                <a:latin typeface="+mj-lt"/>
              </a:rPr>
              <a:t> </a:t>
            </a:r>
            <a:r>
              <a:rPr lang="en-IN" sz="1600" dirty="0">
                <a:latin typeface="+mj-lt"/>
                <a:sym typeface="Wingdings" panose="05000000000000000000" pitchFamily="2" charset="2"/>
              </a:rPr>
              <a:t></a:t>
            </a:r>
            <a:r>
              <a:rPr lang="en-IN" sz="1600" dirty="0">
                <a:latin typeface="+mj-lt"/>
              </a:rPr>
              <a:t>End swing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600" dirty="0">
                <a:latin typeface="+mj-lt"/>
              </a:rPr>
              <a:t>Store swing data for further processing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IN" sz="1600" dirty="0">
              <a:latin typeface="+mj-lt"/>
            </a:endParaRPr>
          </a:p>
          <a:p>
            <a:r>
              <a:rPr lang="en-IN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</a:rPr>
              <a:t>Parameters ( Tuned ): </a:t>
            </a:r>
            <a:endParaRPr lang="en-IN" dirty="0">
              <a:solidFill>
                <a:schemeClr val="accent6">
                  <a:lumMod val="75000"/>
                </a:schemeClr>
              </a:solidFill>
            </a:endParaRP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START_THRESHOLD</a:t>
            </a:r>
            <a:r>
              <a:rPr lang="en-IN" sz="16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IN" sz="1600" dirty="0">
                <a:solidFill>
                  <a:srgbClr val="000000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IN" sz="1600" dirty="0">
                <a:solidFill>
                  <a:srgbClr val="000000"/>
                </a:solidFill>
                <a:latin typeface="Times New Roman" panose="02020603050405020304" pitchFamily="18" charset="0"/>
              </a:rPr>
              <a:t> detects swing beginning </a:t>
            </a:r>
            <a:endParaRPr lang="en-IN" sz="1600" dirty="0"/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END_THRESHOLD </a:t>
            </a:r>
            <a:r>
              <a:rPr lang="en-IN" sz="1600" b="1" dirty="0">
                <a:solidFill>
                  <a:srgbClr val="000000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IN" sz="1600" dirty="0">
                <a:solidFill>
                  <a:srgbClr val="000000"/>
                </a:solidFill>
                <a:latin typeface="Times New Roman" panose="02020603050405020304" pitchFamily="18" charset="0"/>
              </a:rPr>
              <a:t> detects swing completion </a:t>
            </a:r>
            <a:endParaRPr lang="en-IN" sz="1600" dirty="0"/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MIN_DURATION</a:t>
            </a:r>
            <a:r>
              <a:rPr lang="en-IN" sz="16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IN" sz="1600" dirty="0">
                <a:solidFill>
                  <a:srgbClr val="000000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IN" sz="1600" dirty="0">
                <a:solidFill>
                  <a:srgbClr val="000000"/>
                </a:solidFill>
                <a:latin typeface="Times New Roman" panose="02020603050405020304" pitchFamily="18" charset="0"/>
              </a:rPr>
              <a:t> removes false short movements </a:t>
            </a:r>
            <a:endParaRPr lang="en-IN" sz="1600" dirty="0"/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COOLDOWN</a:t>
            </a:r>
            <a:r>
              <a:rPr lang="en-IN" sz="16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IN" sz="1600" dirty="0">
                <a:solidFill>
                  <a:srgbClr val="000000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IN" sz="1600" dirty="0">
                <a:solidFill>
                  <a:srgbClr val="000000"/>
                </a:solidFill>
                <a:latin typeface="Times New Roman" panose="02020603050405020304" pitchFamily="18" charset="0"/>
              </a:rPr>
              <a:t> avoids duplicate detection </a:t>
            </a:r>
            <a:endParaRPr lang="en-IN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600" dirty="0">
                <a:solidFill>
                  <a:srgbClr val="000000"/>
                </a:solidFill>
                <a:latin typeface="Times New Roman" panose="02020603050405020304" pitchFamily="18" charset="0"/>
              </a:rPr>
              <a:t>Ensures only </a:t>
            </a:r>
            <a:r>
              <a:rPr lang="en-IN" sz="16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valid badminton strokes</a:t>
            </a:r>
            <a:r>
              <a:rPr lang="en-IN" sz="1600" dirty="0">
                <a:solidFill>
                  <a:srgbClr val="000000"/>
                </a:solidFill>
                <a:latin typeface="Times New Roman" panose="02020603050405020304" pitchFamily="18" charset="0"/>
              </a:rPr>
              <a:t> are captured </a:t>
            </a:r>
            <a:endParaRPr lang="en-IN" sz="1600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600" dirty="0">
                <a:solidFill>
                  <a:srgbClr val="000000"/>
                </a:solidFill>
                <a:latin typeface="Times New Roman" panose="02020603050405020304" pitchFamily="18" charset="0"/>
              </a:rPr>
              <a:t>Removes noise from random hand movement </a:t>
            </a:r>
            <a:endParaRPr lang="en-IN" sz="1600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600" dirty="0">
                <a:solidFill>
                  <a:srgbClr val="000000"/>
                </a:solidFill>
                <a:latin typeface="Times New Roman" panose="02020603050405020304" pitchFamily="18" charset="0"/>
              </a:rPr>
              <a:t>Forms the </a:t>
            </a:r>
            <a:r>
              <a:rPr lang="en-IN" sz="16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foundation for ML accuracy</a:t>
            </a:r>
            <a:endParaRPr lang="en-IN" sz="1600" dirty="0"/>
          </a:p>
          <a:p>
            <a:pPr>
              <a:lnSpc>
                <a:spcPct val="150000"/>
              </a:lnSpc>
            </a:pPr>
            <a:endParaRPr lang="en-IN" sz="1600" dirty="0">
              <a:latin typeface="+mj-lt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IN" sz="1600" dirty="0">
              <a:latin typeface="+mj-lt"/>
            </a:endParaRPr>
          </a:p>
          <a:p>
            <a:pPr>
              <a:buNone/>
            </a:pPr>
            <a:endParaRPr lang="en-IN" sz="1600" dirty="0"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E27E42-74FD-9B3D-24D7-C8592605CEC7}"/>
              </a:ext>
            </a:extLst>
          </p:cNvPr>
          <p:cNvSpPr txBox="1"/>
          <p:nvPr/>
        </p:nvSpPr>
        <p:spPr>
          <a:xfrm>
            <a:off x="2267744" y="24738"/>
            <a:ext cx="49774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sz="2400" b="1" dirty="0">
                <a:solidFill>
                  <a:srgbClr val="FF0000"/>
                </a:solidFill>
                <a:latin typeface="+mj-lt"/>
              </a:rPr>
              <a:t>Swing Detection Algorithm</a:t>
            </a:r>
          </a:p>
        </p:txBody>
      </p:sp>
    </p:spTree>
    <p:extLst>
      <p:ext uri="{BB962C8B-B14F-4D97-AF65-F5344CB8AC3E}">
        <p14:creationId xmlns:p14="http://schemas.microsoft.com/office/powerpoint/2010/main" val="883003331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7215CF4-F935-F997-AE6B-6DC48D760E64}"/>
              </a:ext>
            </a:extLst>
          </p:cNvPr>
          <p:cNvSpPr txBox="1"/>
          <p:nvPr/>
        </p:nvSpPr>
        <p:spPr>
          <a:xfrm>
            <a:off x="3203848" y="44624"/>
            <a:ext cx="23042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solidFill>
                  <a:srgbClr val="FF0000"/>
                </a:solidFill>
                <a:latin typeface="+mj-lt"/>
              </a:rPr>
              <a:t>Block Diagram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28947EF-7CC9-B80D-6CCE-B380439E88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6512" y="692696"/>
            <a:ext cx="9144000" cy="5760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8228539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86AE160-8D8F-DD2F-C354-7E0542161DFE}"/>
              </a:ext>
            </a:extLst>
          </p:cNvPr>
          <p:cNvSpPr txBox="1"/>
          <p:nvPr/>
        </p:nvSpPr>
        <p:spPr>
          <a:xfrm>
            <a:off x="683568" y="980728"/>
            <a:ext cx="3888432" cy="3939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Feature Engineering: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dirty="0">
                <a:latin typeface="+mj-lt"/>
              </a:rPr>
              <a:t>Raw IMU data is converted into meaningful features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chemeClr val="accent4">
                    <a:lumMod val="95000"/>
                    <a:lumOff val="5000"/>
                  </a:schemeClr>
                </a:solidFill>
                <a:latin typeface="+mj-lt"/>
              </a:rPr>
              <a:t>Key features extracted: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accent4">
                    <a:lumMod val="95000"/>
                    <a:lumOff val="5000"/>
                  </a:schemeClr>
                </a:solidFill>
                <a:latin typeface="+mj-lt"/>
              </a:rPr>
              <a:t>Speed</a:t>
            </a:r>
            <a:r>
              <a:rPr lang="en-US" sz="1600" dirty="0">
                <a:solidFill>
                  <a:schemeClr val="accent4">
                    <a:lumMod val="95000"/>
                    <a:lumOff val="5000"/>
                  </a:schemeClr>
                </a:solidFill>
                <a:latin typeface="+mj-lt"/>
              </a:rPr>
              <a:t> (from ang. velocity)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accent4">
                    <a:lumMod val="95000"/>
                    <a:lumOff val="5000"/>
                  </a:schemeClr>
                </a:solidFill>
                <a:latin typeface="+mj-lt"/>
              </a:rPr>
              <a:t>Impact</a:t>
            </a:r>
            <a:r>
              <a:rPr lang="en-US" sz="1600" dirty="0">
                <a:solidFill>
                  <a:schemeClr val="accent4">
                    <a:lumMod val="95000"/>
                    <a:lumOff val="5000"/>
                  </a:schemeClr>
                </a:solidFill>
                <a:latin typeface="+mj-lt"/>
              </a:rPr>
              <a:t> (from acc. magnitude)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accent4">
                    <a:lumMod val="95000"/>
                    <a:lumOff val="5000"/>
                  </a:schemeClr>
                </a:solidFill>
                <a:latin typeface="+mj-lt"/>
              </a:rPr>
              <a:t>Duration</a:t>
            </a:r>
            <a:r>
              <a:rPr lang="en-US" sz="1600" dirty="0">
                <a:solidFill>
                  <a:schemeClr val="accent4">
                    <a:lumMod val="95000"/>
                    <a:lumOff val="5000"/>
                  </a:schemeClr>
                </a:solidFill>
                <a:latin typeface="+mj-lt"/>
              </a:rPr>
              <a:t> (swing time)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chemeClr val="accent4">
                    <a:lumMod val="95000"/>
                    <a:lumOff val="5000"/>
                  </a:schemeClr>
                </a:solidFill>
                <a:latin typeface="+mj-lt"/>
              </a:rPr>
              <a:t>Derived features: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Power = </a:t>
            </a:r>
            <a:r>
              <a:rPr lang="en-US" sz="1600" dirty="0">
                <a:latin typeface="+mj-lt"/>
              </a:rPr>
              <a:t>Speed × Impact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Efficiency = </a:t>
            </a:r>
            <a:r>
              <a:rPr lang="en-US" sz="1600" dirty="0">
                <a:latin typeface="+mj-lt"/>
              </a:rPr>
              <a:t>Impact / Duration </a:t>
            </a:r>
          </a:p>
          <a:p>
            <a:pPr>
              <a:buNone/>
            </a:pPr>
            <a:endParaRPr lang="en-US" sz="1600" dirty="0"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26398E-15CC-F5AC-FF6B-5A396DEDE6A7}"/>
              </a:ext>
            </a:extLst>
          </p:cNvPr>
          <p:cNvSpPr txBox="1"/>
          <p:nvPr/>
        </p:nvSpPr>
        <p:spPr>
          <a:xfrm>
            <a:off x="4644008" y="3456559"/>
            <a:ext cx="4572000" cy="16793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US" sz="1600" dirty="0">
              <a:latin typeface="+mj-lt"/>
            </a:endParaRPr>
          </a:p>
          <a:p>
            <a:pPr>
              <a:buNone/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Classification Logic: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dirty="0">
                <a:latin typeface="+mj-lt"/>
              </a:rPr>
              <a:t>Power &lt; Weak Threshold → </a:t>
            </a:r>
            <a:r>
              <a:rPr lang="en-US" sz="1600" b="1" dirty="0">
                <a:latin typeface="+mj-lt"/>
              </a:rPr>
              <a:t>WEAK</a:t>
            </a:r>
            <a:r>
              <a:rPr lang="en-US" sz="1600" dirty="0">
                <a:latin typeface="+mj-lt"/>
              </a:rPr>
              <a:t>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dirty="0">
                <a:latin typeface="+mj-lt"/>
              </a:rPr>
              <a:t>Power between thresholds → </a:t>
            </a:r>
            <a:r>
              <a:rPr lang="en-US" sz="1600" b="1" dirty="0">
                <a:latin typeface="+mj-lt"/>
              </a:rPr>
              <a:t>MEDIUM</a:t>
            </a:r>
            <a:r>
              <a:rPr lang="en-US" sz="1600" dirty="0">
                <a:latin typeface="+mj-lt"/>
              </a:rPr>
              <a:t>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dirty="0">
                <a:latin typeface="+mj-lt"/>
              </a:rPr>
              <a:t>Power &gt; Strong Threshold → </a:t>
            </a:r>
            <a:r>
              <a:rPr lang="en-US" sz="1600" b="1" dirty="0">
                <a:latin typeface="+mj-lt"/>
              </a:rPr>
              <a:t>STRONG</a:t>
            </a:r>
            <a:endParaRPr lang="en-US" sz="1600" dirty="0">
              <a:latin typeface="+mj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C6AE201-AABA-103E-BD58-C6EA49E9B716}"/>
              </a:ext>
            </a:extLst>
          </p:cNvPr>
          <p:cNvSpPr txBox="1"/>
          <p:nvPr/>
        </p:nvSpPr>
        <p:spPr>
          <a:xfrm>
            <a:off x="2502388" y="188640"/>
            <a:ext cx="47876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Feature Engineering &amp; Calibration</a:t>
            </a:r>
            <a:endParaRPr lang="en-US" sz="2400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04C7723-0445-9044-FE93-D0CF25A87C1F}"/>
              </a:ext>
            </a:extLst>
          </p:cNvPr>
          <p:cNvSpPr txBox="1"/>
          <p:nvPr/>
        </p:nvSpPr>
        <p:spPr>
          <a:xfrm>
            <a:off x="4644008" y="905451"/>
            <a:ext cx="4860984" cy="22025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Calibration (Personalized Thresholding):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dirty="0">
                <a:latin typeface="+mj-lt"/>
              </a:rPr>
              <a:t>First </a:t>
            </a:r>
            <a:r>
              <a:rPr lang="en-US" sz="1600" b="1" dirty="0">
                <a:latin typeface="+mj-lt"/>
              </a:rPr>
              <a:t>30 swings </a:t>
            </a:r>
            <a:r>
              <a:rPr lang="en-US" sz="1600" dirty="0">
                <a:latin typeface="+mj-lt"/>
              </a:rPr>
              <a:t>recorded in </a:t>
            </a:r>
            <a:r>
              <a:rPr lang="en-US" sz="1600" b="1" dirty="0">
                <a:latin typeface="+mj-lt"/>
              </a:rPr>
              <a:t>calibration mode</a:t>
            </a:r>
            <a:r>
              <a:rPr lang="en-US" sz="1600" dirty="0">
                <a:latin typeface="+mj-lt"/>
              </a:rPr>
              <a:t>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dirty="0">
                <a:latin typeface="+mj-lt"/>
              </a:rPr>
              <a:t>Used to create </a:t>
            </a:r>
            <a:r>
              <a:rPr lang="en-US" sz="1600" b="1" dirty="0">
                <a:latin typeface="+mj-lt"/>
              </a:rPr>
              <a:t>player-specific baseline</a:t>
            </a:r>
            <a:r>
              <a:rPr lang="en-US" sz="1600" dirty="0">
                <a:latin typeface="+mj-lt"/>
              </a:rPr>
              <a:t>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dirty="0">
                <a:latin typeface="+mj-lt"/>
              </a:rPr>
              <a:t>Thresholds computed using: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25th </a:t>
            </a:r>
            <a:r>
              <a:rPr lang="en-US" sz="1600" dirty="0">
                <a:latin typeface="+mj-lt"/>
              </a:rPr>
              <a:t>percentile </a:t>
            </a:r>
            <a:r>
              <a:rPr lang="en-US" sz="1600" b="1" dirty="0">
                <a:latin typeface="+mj-lt"/>
              </a:rPr>
              <a:t>→ Weak threshold</a:t>
            </a:r>
            <a:r>
              <a:rPr lang="en-US" sz="1600" dirty="0">
                <a:latin typeface="+mj-lt"/>
              </a:rPr>
              <a:t>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75th </a:t>
            </a:r>
            <a:r>
              <a:rPr lang="en-US" sz="1600" dirty="0">
                <a:latin typeface="+mj-lt"/>
              </a:rPr>
              <a:t>percentile</a:t>
            </a:r>
            <a:r>
              <a:rPr lang="en-US" sz="1600" b="1" dirty="0">
                <a:latin typeface="+mj-lt"/>
              </a:rPr>
              <a:t> → Strong threshold</a:t>
            </a:r>
            <a:r>
              <a:rPr lang="en-US" sz="1600" dirty="0">
                <a:latin typeface="+mj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27149869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08F5CDA-5F9C-F22F-E76E-B7B37D9FA28A}"/>
              </a:ext>
            </a:extLst>
          </p:cNvPr>
          <p:cNvSpPr txBox="1"/>
          <p:nvPr/>
        </p:nvSpPr>
        <p:spPr>
          <a:xfrm>
            <a:off x="800338" y="548680"/>
            <a:ext cx="4059694" cy="45550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Data Sources 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600" b="1" dirty="0">
                <a:solidFill>
                  <a:srgbClr val="B31D98"/>
                </a:solidFill>
                <a:latin typeface="+mj-lt"/>
              </a:rPr>
              <a:t>Real Sensor Data -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+mj-lt"/>
              </a:rPr>
              <a:t>Collected using ESP32 + IMU during gameplay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+mj-lt"/>
              </a:rPr>
              <a:t>Includes speed, impact, duration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600" b="1" dirty="0">
                <a:solidFill>
                  <a:srgbClr val="CB0595"/>
                </a:solidFill>
                <a:latin typeface="+mj-lt"/>
              </a:rPr>
              <a:t>Synthetic Data (MATLAB Generated) -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+mj-lt"/>
              </a:rPr>
              <a:t>Created to simulate different swing patterns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+mj-lt"/>
              </a:rPr>
              <a:t>Used to balance dataset and improve robustness </a:t>
            </a:r>
            <a:br>
              <a:rPr lang="en-IN" sz="1600" dirty="0">
                <a:latin typeface="+mj-lt"/>
              </a:rPr>
            </a:br>
            <a:endParaRPr lang="en-IN" sz="1600" dirty="0">
              <a:latin typeface="+mj-lt"/>
            </a:endParaRPr>
          </a:p>
          <a:p>
            <a:pPr>
              <a:buNone/>
            </a:pPr>
            <a:endParaRPr lang="en-IN" sz="1600" dirty="0">
              <a:latin typeface="+mj-lt"/>
            </a:endParaRPr>
          </a:p>
          <a:p>
            <a:pPr>
              <a:buNone/>
            </a:pPr>
            <a:endParaRPr lang="en-IN" sz="1600" dirty="0"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C1D65B3-E5ED-7511-2D10-88C7BBF3A805}"/>
              </a:ext>
            </a:extLst>
          </p:cNvPr>
          <p:cNvSpPr txBox="1"/>
          <p:nvPr/>
        </p:nvSpPr>
        <p:spPr>
          <a:xfrm>
            <a:off x="5004048" y="4077072"/>
            <a:ext cx="4572000" cy="18024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 Final Dataset 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600" b="1" dirty="0">
                <a:solidFill>
                  <a:srgbClr val="B31D98"/>
                </a:solidFill>
                <a:latin typeface="+mj-lt"/>
              </a:rPr>
              <a:t>Features -</a:t>
            </a:r>
            <a:r>
              <a:rPr lang="en-IN" sz="1600" b="1" dirty="0">
                <a:latin typeface="+mj-lt"/>
              </a:rPr>
              <a:t>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+mj-lt"/>
              </a:rPr>
              <a:t>Speed, Impact, Duration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+mj-lt"/>
              </a:rPr>
              <a:t>Power, Efficiency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+mj-lt"/>
              </a:rPr>
              <a:t>Acceleration &amp; Gyro metrics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7FBB183-64CE-45E6-A6FD-257A275C0060}"/>
              </a:ext>
            </a:extLst>
          </p:cNvPr>
          <p:cNvSpPr txBox="1"/>
          <p:nvPr/>
        </p:nvSpPr>
        <p:spPr>
          <a:xfrm>
            <a:off x="1894081" y="72903"/>
            <a:ext cx="621993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solidFill>
                  <a:srgbClr val="FF0000"/>
                </a:solidFill>
                <a:latin typeface="+mj-lt"/>
              </a:rPr>
              <a:t>Machine Learning Pipeline (Training &amp; Data)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A402236-FDE8-EBA5-43CF-2E71D4569CEB}"/>
              </a:ext>
            </a:extLst>
          </p:cNvPr>
          <p:cNvSpPr txBox="1"/>
          <p:nvPr/>
        </p:nvSpPr>
        <p:spPr>
          <a:xfrm>
            <a:off x="5148064" y="756098"/>
            <a:ext cx="4572000" cy="32489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Synthetic Data Logic (MATLAB) 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600" b="1" dirty="0">
                <a:solidFill>
                  <a:srgbClr val="B31D98"/>
                </a:solidFill>
                <a:latin typeface="+mj-lt"/>
              </a:rPr>
              <a:t>Generate signals</a:t>
            </a:r>
            <a:r>
              <a:rPr lang="en-IN" sz="1600" b="1" dirty="0">
                <a:latin typeface="+mj-lt"/>
              </a:rPr>
              <a:t> </a:t>
            </a:r>
            <a:r>
              <a:rPr lang="en-IN" sz="1600" dirty="0">
                <a:latin typeface="+mj-lt"/>
              </a:rPr>
              <a:t>based on: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+mj-lt"/>
              </a:rPr>
              <a:t>Acceleration patterns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+mj-lt"/>
              </a:rPr>
              <a:t>Angular velocity variations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600" b="1" dirty="0">
                <a:solidFill>
                  <a:srgbClr val="B31D98"/>
                </a:solidFill>
                <a:latin typeface="+mj-lt"/>
              </a:rPr>
              <a:t>Apply</a:t>
            </a:r>
            <a:r>
              <a:rPr lang="en-IN" sz="1600" dirty="0">
                <a:latin typeface="+mj-lt"/>
              </a:rPr>
              <a:t>: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+mj-lt"/>
              </a:rPr>
              <a:t>Noise injection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+mj-lt"/>
              </a:rPr>
              <a:t>Scaling (weak → strong swings)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+mj-lt"/>
              </a:rPr>
              <a:t>Time variation (fast vs slow strokes)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600" dirty="0">
                <a:latin typeface="+mj-lt"/>
              </a:rPr>
              <a:t>To Simulates realistic badminton swings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C58B01E-E15B-92DD-446D-C378FC1AE31C}"/>
              </a:ext>
            </a:extLst>
          </p:cNvPr>
          <p:cNvSpPr txBox="1"/>
          <p:nvPr/>
        </p:nvSpPr>
        <p:spPr>
          <a:xfrm>
            <a:off x="800338" y="4105295"/>
            <a:ext cx="4787660" cy="2171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Data Augmentation 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600" b="1" dirty="0">
                <a:solidFill>
                  <a:srgbClr val="CB0595"/>
                </a:solidFill>
                <a:latin typeface="+mj-lt"/>
              </a:rPr>
              <a:t>Combine</a:t>
            </a:r>
            <a:r>
              <a:rPr lang="en-IN" sz="1600" b="1" dirty="0">
                <a:latin typeface="+mj-lt"/>
              </a:rPr>
              <a:t> real + synthetic data</a:t>
            </a:r>
            <a:r>
              <a:rPr lang="en-IN" sz="1600" dirty="0">
                <a:latin typeface="+mj-lt"/>
              </a:rPr>
              <a:t>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600" b="1" dirty="0">
                <a:solidFill>
                  <a:srgbClr val="B31D98"/>
                </a:solidFill>
                <a:latin typeface="+mj-lt"/>
              </a:rPr>
              <a:t>Improves -</a:t>
            </a:r>
            <a:r>
              <a:rPr lang="en-IN" sz="1600" b="1" dirty="0">
                <a:latin typeface="+mj-lt"/>
              </a:rPr>
              <a:t>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+mj-lt"/>
              </a:rPr>
              <a:t>Model generalization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+mj-lt"/>
              </a:rPr>
              <a:t>Accuracy across players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+mj-lt"/>
              </a:rPr>
              <a:t>Handling of edge cases </a:t>
            </a:r>
          </a:p>
        </p:txBody>
      </p:sp>
    </p:spTree>
    <p:extLst>
      <p:ext uri="{BB962C8B-B14F-4D97-AF65-F5344CB8AC3E}">
        <p14:creationId xmlns:p14="http://schemas.microsoft.com/office/powerpoint/2010/main" val="3318197053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BFB8314-EE67-D681-28B4-DF4EF6B06412}"/>
              </a:ext>
            </a:extLst>
          </p:cNvPr>
          <p:cNvSpPr txBox="1"/>
          <p:nvPr/>
        </p:nvSpPr>
        <p:spPr>
          <a:xfrm>
            <a:off x="899592" y="836712"/>
            <a:ext cx="4572000" cy="5570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chemeClr val="accent2">
                    <a:lumMod val="75000"/>
                  </a:schemeClr>
                </a:solidFill>
                <a:latin typeface="+mj-lt"/>
              </a:rPr>
              <a:t>Algorithm: Random Forest Classifier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600" dirty="0">
                <a:latin typeface="+mj-lt"/>
              </a:rPr>
              <a:t>Ensemble learning method using </a:t>
            </a:r>
            <a:r>
              <a:rPr lang="en-IN" sz="1600" b="1" dirty="0">
                <a:latin typeface="+mj-lt"/>
              </a:rPr>
              <a:t>multiple decision trees</a:t>
            </a:r>
            <a:r>
              <a:rPr lang="en-IN" sz="1600" dirty="0">
                <a:latin typeface="+mj-lt"/>
              </a:rPr>
              <a:t>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600" dirty="0">
                <a:latin typeface="+mj-lt"/>
              </a:rPr>
              <a:t>Improves accuracy through </a:t>
            </a:r>
            <a:r>
              <a:rPr lang="en-IN" sz="1600" b="1" dirty="0">
                <a:latin typeface="+mj-lt"/>
              </a:rPr>
              <a:t>majority voting</a:t>
            </a:r>
            <a:r>
              <a:rPr lang="en-IN" sz="1600" dirty="0">
                <a:latin typeface="+mj-lt"/>
              </a:rPr>
              <a:t>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600" dirty="0">
                <a:latin typeface="+mj-lt"/>
              </a:rPr>
              <a:t>Robust against </a:t>
            </a:r>
            <a:r>
              <a:rPr lang="en-IN" sz="1600" b="1" dirty="0">
                <a:latin typeface="+mj-lt"/>
              </a:rPr>
              <a:t>noise and overfitting</a:t>
            </a:r>
            <a:r>
              <a:rPr lang="en-IN" sz="1600" dirty="0">
                <a:latin typeface="+mj-lt"/>
              </a:rPr>
              <a:t>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IN" sz="1600" dirty="0">
              <a:latin typeface="+mj-lt"/>
            </a:endParaRPr>
          </a:p>
          <a:p>
            <a:r>
              <a:rPr lang="en-IN" b="1" dirty="0">
                <a:solidFill>
                  <a:schemeClr val="accent2">
                    <a:lumMod val="75000"/>
                  </a:schemeClr>
                </a:solidFill>
                <a:latin typeface="+mj-lt"/>
              </a:rPr>
              <a:t>Swing Classification Model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600" b="1" dirty="0">
                <a:latin typeface="+mj-lt"/>
              </a:rPr>
              <a:t>Input Features:</a:t>
            </a:r>
            <a:r>
              <a:rPr lang="en-IN" sz="1600" dirty="0">
                <a:latin typeface="+mj-lt"/>
              </a:rPr>
              <a:t> Speed, Impact, Power, Efficiency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600" b="1" dirty="0">
                <a:latin typeface="+mj-lt"/>
              </a:rPr>
              <a:t>Output Classes:</a:t>
            </a:r>
            <a:r>
              <a:rPr lang="en-IN" sz="1600" dirty="0">
                <a:latin typeface="+mj-lt"/>
              </a:rPr>
              <a:t> WEAK / MEDIUM / STRONG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600" dirty="0">
                <a:latin typeface="+mj-lt"/>
              </a:rPr>
              <a:t>Learns patterns in </a:t>
            </a:r>
            <a:r>
              <a:rPr lang="en-IN" sz="1600" b="1" dirty="0">
                <a:latin typeface="+mj-lt"/>
              </a:rPr>
              <a:t>swing strength and performance quality</a:t>
            </a:r>
            <a:r>
              <a:rPr lang="en-IN" sz="1600" dirty="0">
                <a:latin typeface="+mj-lt"/>
              </a:rPr>
              <a:t> </a:t>
            </a:r>
          </a:p>
          <a:p>
            <a:endParaRPr lang="en-IN" sz="1600" dirty="0">
              <a:latin typeface="+mj-lt"/>
            </a:endParaRPr>
          </a:p>
          <a:p>
            <a:r>
              <a:rPr lang="en-IN" b="1" dirty="0">
                <a:solidFill>
                  <a:schemeClr val="accent2">
                    <a:lumMod val="75000"/>
                  </a:schemeClr>
                </a:solidFill>
                <a:latin typeface="+mj-lt"/>
              </a:rPr>
              <a:t>Stroke Classification Model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600" b="1" dirty="0">
                <a:latin typeface="+mj-lt"/>
              </a:rPr>
              <a:t>Input Features:</a:t>
            </a:r>
            <a:r>
              <a:rPr lang="en-IN" sz="1600" dirty="0">
                <a:latin typeface="+mj-lt"/>
              </a:rPr>
              <a:t> Acceleration magnitude, Gyro magnitude, Peak values, Energy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600" b="1" dirty="0">
                <a:latin typeface="+mj-lt"/>
              </a:rPr>
              <a:t>Output Classes:</a:t>
            </a:r>
            <a:r>
              <a:rPr lang="en-IN" sz="1600" dirty="0">
                <a:latin typeface="+mj-lt"/>
              </a:rPr>
              <a:t> SMASH / DROP / CLEAR / DRIVE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600" dirty="0">
                <a:latin typeface="+mj-lt"/>
              </a:rPr>
              <a:t>Identifies </a:t>
            </a:r>
            <a:r>
              <a:rPr lang="en-IN" sz="1600" b="1" dirty="0">
                <a:latin typeface="+mj-lt"/>
              </a:rPr>
              <a:t>type of badminton stroke based on motion patterns</a:t>
            </a:r>
            <a:endParaRPr lang="en-IN" sz="1600" dirty="0">
              <a:latin typeface="+mj-lt"/>
            </a:endParaRPr>
          </a:p>
          <a:p>
            <a:pPr>
              <a:buNone/>
            </a:pPr>
            <a:br>
              <a:rPr lang="en-IN" sz="1600" dirty="0">
                <a:latin typeface="+mj-lt"/>
              </a:rPr>
            </a:br>
            <a:endParaRPr lang="en-IN" sz="1600" dirty="0"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70B0C05-3E79-514E-CC92-C4F3364AE4E0}"/>
              </a:ext>
            </a:extLst>
          </p:cNvPr>
          <p:cNvSpPr txBox="1"/>
          <p:nvPr/>
        </p:nvSpPr>
        <p:spPr>
          <a:xfrm>
            <a:off x="2915816" y="188640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solidFill>
                  <a:srgbClr val="FF0000"/>
                </a:solidFill>
                <a:latin typeface="+mj-lt"/>
              </a:rPr>
              <a:t>ML Models &amp; Deployment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555E112-BE9B-35B5-66C9-BF20B4C65629}"/>
              </a:ext>
            </a:extLst>
          </p:cNvPr>
          <p:cNvSpPr txBox="1"/>
          <p:nvPr/>
        </p:nvSpPr>
        <p:spPr>
          <a:xfrm>
            <a:off x="5292080" y="1484784"/>
            <a:ext cx="5040560" cy="14638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Training Process 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600" b="1" dirty="0">
                <a:latin typeface="+mj-lt"/>
              </a:rPr>
              <a:t>Supervised learning </a:t>
            </a:r>
            <a:r>
              <a:rPr lang="en-IN" sz="1600" dirty="0">
                <a:latin typeface="+mj-lt"/>
              </a:rPr>
              <a:t>using labelled dataset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600" dirty="0">
                <a:latin typeface="+mj-lt"/>
              </a:rPr>
              <a:t>Input: engineered features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600" dirty="0">
                <a:latin typeface="+mj-lt"/>
              </a:rPr>
              <a:t>Model learns patterns between motion and stroke type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2FC629-F47C-0F83-F475-6C62D6BEE737}"/>
              </a:ext>
            </a:extLst>
          </p:cNvPr>
          <p:cNvSpPr txBox="1"/>
          <p:nvPr/>
        </p:nvSpPr>
        <p:spPr>
          <a:xfrm>
            <a:off x="5292080" y="3429000"/>
            <a:ext cx="4572000" cy="14638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Model Deployment 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600" dirty="0">
                <a:latin typeface="+mj-lt"/>
              </a:rPr>
              <a:t>Trained models saved as </a:t>
            </a:r>
            <a:r>
              <a:rPr lang="en-IN" sz="1600" b="1" dirty="0">
                <a:latin typeface="+mj-lt"/>
              </a:rPr>
              <a:t>.</a:t>
            </a:r>
            <a:r>
              <a:rPr lang="en-IN" sz="1600" b="1" dirty="0" err="1">
                <a:latin typeface="+mj-lt"/>
              </a:rPr>
              <a:t>pkl</a:t>
            </a:r>
            <a:r>
              <a:rPr lang="en-IN" sz="1600" b="1" dirty="0">
                <a:latin typeface="+mj-lt"/>
              </a:rPr>
              <a:t> files</a:t>
            </a:r>
            <a:r>
              <a:rPr lang="en-IN" sz="1600" dirty="0">
                <a:latin typeface="+mj-lt"/>
              </a:rPr>
              <a:t>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600" dirty="0">
                <a:latin typeface="+mj-lt"/>
              </a:rPr>
              <a:t>Loaded in Python using </a:t>
            </a:r>
            <a:r>
              <a:rPr lang="en-IN" sz="1600" b="1" dirty="0" err="1">
                <a:latin typeface="+mj-lt"/>
              </a:rPr>
              <a:t>joblib</a:t>
            </a:r>
            <a:r>
              <a:rPr lang="en-IN" sz="1600" dirty="0">
                <a:latin typeface="+mj-lt"/>
              </a:rPr>
              <a:t>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600" dirty="0">
                <a:latin typeface="+mj-lt"/>
              </a:rPr>
              <a:t>Used for real-time prediction after each swing </a:t>
            </a:r>
          </a:p>
        </p:txBody>
      </p:sp>
    </p:spTree>
    <p:extLst>
      <p:ext uri="{BB962C8B-B14F-4D97-AF65-F5344CB8AC3E}">
        <p14:creationId xmlns:p14="http://schemas.microsoft.com/office/powerpoint/2010/main" val="384563401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91C6FAFC-4D7E-EB7F-1728-F5BECC57CD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245" y="4924501"/>
            <a:ext cx="9252520" cy="208500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3251A7F-00B3-5BC7-D875-7D7A919623BB}"/>
              </a:ext>
            </a:extLst>
          </p:cNvPr>
          <p:cNvSpPr txBox="1"/>
          <p:nvPr/>
        </p:nvSpPr>
        <p:spPr>
          <a:xfrm>
            <a:off x="2286000" y="-89556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400" b="1" dirty="0">
                <a:solidFill>
                  <a:srgbClr val="FF0000"/>
                </a:solidFill>
                <a:latin typeface="+mj-lt"/>
              </a:rPr>
              <a:t>Results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B9F64BA-359A-A6B2-FE03-2A139EAD39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10910"/>
            <a:ext cx="5446539" cy="233739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596B7D7-98F1-F4FE-CB3C-7A10BF6CE2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570435"/>
            <a:ext cx="4165197" cy="270316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E5855F6-B6C3-84B9-170D-75228E28A9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65197" y="2648305"/>
            <a:ext cx="5202905" cy="270316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FE32370-83C4-FB21-B6CE-AEAB08ACF14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46539" y="310910"/>
            <a:ext cx="3697461" cy="2415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562341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4CF0000-CE40-AD69-A3B3-451D657F9FAE}"/>
              </a:ext>
            </a:extLst>
          </p:cNvPr>
          <p:cNvSpPr txBox="1"/>
          <p:nvPr/>
        </p:nvSpPr>
        <p:spPr>
          <a:xfrm>
            <a:off x="3383868" y="195608"/>
            <a:ext cx="280831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solidFill>
                  <a:srgbClr val="FF0000"/>
                </a:solidFill>
                <a:latin typeface="+mj-lt"/>
              </a:rPr>
              <a:t>Key Innovations</a:t>
            </a:r>
          </a:p>
          <a:p>
            <a:endParaRPr lang="en-IN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E391281-727B-49A6-9AFC-F9B42C1A2CD2}"/>
              </a:ext>
            </a:extLst>
          </p:cNvPr>
          <p:cNvSpPr txBox="1"/>
          <p:nvPr/>
        </p:nvSpPr>
        <p:spPr>
          <a:xfrm>
            <a:off x="899592" y="980728"/>
            <a:ext cx="4032448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Hybrid Classification Approach 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600" dirty="0">
                <a:latin typeface="+mj-lt"/>
              </a:rPr>
              <a:t>Combines </a:t>
            </a:r>
            <a:r>
              <a:rPr lang="en-IN" sz="1600" b="1" dirty="0">
                <a:latin typeface="+mj-lt"/>
              </a:rPr>
              <a:t>threshold-based detection with ML</a:t>
            </a:r>
            <a:r>
              <a:rPr lang="en-IN" sz="1600" dirty="0">
                <a:latin typeface="+mj-lt"/>
              </a:rPr>
              <a:t> prediction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600" dirty="0">
                <a:latin typeface="+mj-lt"/>
              </a:rPr>
              <a:t>Ensures </a:t>
            </a:r>
            <a:r>
              <a:rPr lang="en-IN" sz="1600" u="sng" dirty="0">
                <a:latin typeface="+mj-lt"/>
              </a:rPr>
              <a:t>high reliability + intelligent decision </a:t>
            </a:r>
            <a:r>
              <a:rPr lang="en-IN" sz="1600" dirty="0">
                <a:latin typeface="+mj-lt"/>
              </a:rPr>
              <a:t>making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600" u="sng" dirty="0">
                <a:latin typeface="+mj-lt"/>
              </a:rPr>
              <a:t>Improves system accuracy </a:t>
            </a:r>
            <a:br>
              <a:rPr lang="en-IN" sz="1600" dirty="0">
                <a:latin typeface="+mj-lt"/>
              </a:rPr>
            </a:br>
            <a:endParaRPr lang="en-IN" sz="1600" dirty="0">
              <a:latin typeface="+mj-lt"/>
            </a:endParaRPr>
          </a:p>
          <a:p>
            <a:pPr>
              <a:buNone/>
            </a:pPr>
            <a:r>
              <a:rPr lang="en-IN" sz="2000" b="1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Personalized Calibration System 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600" dirty="0">
                <a:latin typeface="+mj-lt"/>
              </a:rPr>
              <a:t>Uses </a:t>
            </a:r>
            <a:r>
              <a:rPr lang="en-IN" sz="1600" b="1" dirty="0">
                <a:latin typeface="+mj-lt"/>
              </a:rPr>
              <a:t>first 30 swings as baseline data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600" dirty="0">
                <a:latin typeface="+mj-lt"/>
              </a:rPr>
              <a:t>Generates </a:t>
            </a:r>
            <a:r>
              <a:rPr lang="en-IN" sz="1600" u="sng" dirty="0">
                <a:latin typeface="+mj-lt"/>
              </a:rPr>
              <a:t>dynamic, player-specific thresholds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600" dirty="0">
                <a:latin typeface="+mj-lt"/>
              </a:rPr>
              <a:t>Adapts to different playing styles automatically </a:t>
            </a:r>
          </a:p>
          <a:p>
            <a:pPr>
              <a:buNone/>
            </a:pPr>
            <a:br>
              <a:rPr lang="en-IN" sz="1600" dirty="0">
                <a:latin typeface="+mj-lt"/>
              </a:rPr>
            </a:br>
            <a:endParaRPr lang="en-IN" sz="1600" dirty="0">
              <a:latin typeface="+mj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971733F-C070-F6C8-8975-5E4770038391}"/>
              </a:ext>
            </a:extLst>
          </p:cNvPr>
          <p:cNvSpPr txBox="1"/>
          <p:nvPr/>
        </p:nvSpPr>
        <p:spPr>
          <a:xfrm>
            <a:off x="4607145" y="1803068"/>
            <a:ext cx="4572000" cy="3618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IN" sz="1600" dirty="0">
              <a:latin typeface="+mj-lt"/>
            </a:endParaRPr>
          </a:p>
          <a:p>
            <a:pPr>
              <a:buNone/>
            </a:pPr>
            <a:r>
              <a:rPr lang="en-IN" sz="2000" b="1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Synthetic Data Augmentation 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600" b="1" dirty="0">
                <a:latin typeface="+mj-lt"/>
              </a:rPr>
              <a:t>MATLAB-generated realistic swing data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600" dirty="0">
                <a:latin typeface="+mj-lt"/>
              </a:rPr>
              <a:t>Includes noise, variation, and scaling effects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600" u="sng" dirty="0">
                <a:latin typeface="+mj-lt"/>
              </a:rPr>
              <a:t>Improves model generalization </a:t>
            </a:r>
            <a:r>
              <a:rPr lang="en-IN" sz="1600" dirty="0">
                <a:latin typeface="+mj-lt"/>
              </a:rPr>
              <a:t>and robustness </a:t>
            </a:r>
          </a:p>
          <a:p>
            <a:pPr>
              <a:buNone/>
            </a:pPr>
            <a:br>
              <a:rPr lang="en-IN" sz="1600" dirty="0">
                <a:latin typeface="+mj-lt"/>
              </a:rPr>
            </a:br>
            <a:endParaRPr lang="en-IN" sz="1600" dirty="0">
              <a:latin typeface="+mj-lt"/>
            </a:endParaRPr>
          </a:p>
          <a:p>
            <a:pPr>
              <a:buNone/>
            </a:pPr>
            <a:r>
              <a:rPr lang="en-IN" sz="2000" b="1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Dual Machine Learning Models 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600" b="1" dirty="0">
                <a:latin typeface="+mj-lt"/>
              </a:rPr>
              <a:t>Swing Model</a:t>
            </a:r>
            <a:r>
              <a:rPr lang="en-IN" sz="1600" dirty="0">
                <a:latin typeface="+mj-lt"/>
              </a:rPr>
              <a:t> → Weak / Medium / Strong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600" b="1" dirty="0">
                <a:latin typeface="+mj-lt"/>
              </a:rPr>
              <a:t>Stroke Model</a:t>
            </a:r>
            <a:r>
              <a:rPr lang="en-IN" sz="1600" dirty="0">
                <a:latin typeface="+mj-lt"/>
              </a:rPr>
              <a:t> → Smash / Drop / Clear / Drive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1600" dirty="0">
                <a:latin typeface="+mj-lt"/>
              </a:rPr>
              <a:t>Enables </a:t>
            </a:r>
            <a:r>
              <a:rPr lang="en-IN" sz="1600" b="1" dirty="0">
                <a:latin typeface="+mj-lt"/>
              </a:rPr>
              <a:t>multi-level performance analysis</a:t>
            </a:r>
            <a:r>
              <a:rPr lang="en-IN" sz="1600" dirty="0">
                <a:latin typeface="+mj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30889677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004140E-6186-66CF-8F34-B8C45C1E0AF9}"/>
              </a:ext>
            </a:extLst>
          </p:cNvPr>
          <p:cNvSpPr txBox="1"/>
          <p:nvPr/>
        </p:nvSpPr>
        <p:spPr>
          <a:xfrm>
            <a:off x="2843808" y="145593"/>
            <a:ext cx="374441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solidFill>
                  <a:srgbClr val="FF0909"/>
                </a:solidFill>
                <a:latin typeface="+mj-lt"/>
              </a:rPr>
              <a:t>Key Challenges &amp; Solutions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013A095-7785-FE9A-E91F-EE6AFB33F9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8645914"/>
              </p:ext>
            </p:extLst>
          </p:nvPr>
        </p:nvGraphicFramePr>
        <p:xfrm>
          <a:off x="1043608" y="1052736"/>
          <a:ext cx="7704856" cy="4610699"/>
        </p:xfrm>
        <a:graphic>
          <a:graphicData uri="http://schemas.openxmlformats.org/drawingml/2006/table">
            <a:tbl>
              <a:tblPr/>
              <a:tblGrid>
                <a:gridCol w="634509">
                  <a:extLst>
                    <a:ext uri="{9D8B030D-6E8A-4147-A177-3AD203B41FA5}">
                      <a16:colId xmlns:a16="http://schemas.microsoft.com/office/drawing/2014/main" val="3966177876"/>
                    </a:ext>
                  </a:extLst>
                </a:gridCol>
                <a:gridCol w="3974003">
                  <a:extLst>
                    <a:ext uri="{9D8B030D-6E8A-4147-A177-3AD203B41FA5}">
                      <a16:colId xmlns:a16="http://schemas.microsoft.com/office/drawing/2014/main" val="1053752057"/>
                    </a:ext>
                  </a:extLst>
                </a:gridCol>
                <a:gridCol w="3096344">
                  <a:extLst>
                    <a:ext uri="{9D8B030D-6E8A-4147-A177-3AD203B41FA5}">
                      <a16:colId xmlns:a16="http://schemas.microsoft.com/office/drawing/2014/main" val="614335731"/>
                    </a:ext>
                  </a:extLst>
                </a:gridCol>
              </a:tblGrid>
              <a:tr h="32511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 dirty="0"/>
                        <a:t>S.no</a:t>
                      </a:r>
                    </a:p>
                  </a:txBody>
                  <a:tcPr marL="82296" marR="82296" marT="41148" marB="411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 dirty="0"/>
                        <a:t>Challenges Faced</a:t>
                      </a:r>
                      <a:endParaRPr lang="en-IN" sz="2000" dirty="0"/>
                    </a:p>
                  </a:txBody>
                  <a:tcPr marL="82296" marR="82296" marT="41148" marB="411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 dirty="0"/>
                        <a:t>Solutions </a:t>
                      </a:r>
                      <a:r>
                        <a:rPr lang="en-IN" sz="2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Implemented</a:t>
                      </a:r>
                    </a:p>
                  </a:txBody>
                  <a:tcPr marL="82296" marR="82296" marT="41148" marB="411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5269841"/>
                  </a:ext>
                </a:extLst>
              </a:tr>
              <a:tr h="56894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/>
                        <a:t>1.</a:t>
                      </a:r>
                    </a:p>
                  </a:txBody>
                  <a:tcPr marL="82296" marR="82296" marT="41148" marB="411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Sensor saturation during high-impact smashes</a:t>
                      </a:r>
                    </a:p>
                  </a:txBody>
                  <a:tcPr marL="82296" marR="82296" marT="41148" marB="411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Applied </a:t>
                      </a:r>
                      <a:r>
                        <a:rPr lang="en-US" sz="1600" b="1" dirty="0"/>
                        <a:t>threshold tuning </a:t>
                      </a:r>
                      <a:r>
                        <a:rPr lang="en-US" sz="1600" dirty="0"/>
                        <a:t>and signal scaling</a:t>
                      </a:r>
                    </a:p>
                  </a:txBody>
                  <a:tcPr marL="82296" marR="82296" marT="41148" marB="411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7914465"/>
                  </a:ext>
                </a:extLst>
              </a:tr>
              <a:tr h="5629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/>
                        <a:t>2.</a:t>
                      </a:r>
                    </a:p>
                  </a:txBody>
                  <a:tcPr marL="82296" marR="82296" marT="41148" marB="411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Noise and drift in IMU data</a:t>
                      </a:r>
                    </a:p>
                  </a:txBody>
                  <a:tcPr marL="82296" marR="82296" marT="41148" marB="411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Used </a:t>
                      </a:r>
                      <a:r>
                        <a:rPr lang="en-US" sz="1600" b="1" dirty="0"/>
                        <a:t>Kalman filtering </a:t>
                      </a:r>
                      <a:r>
                        <a:rPr lang="en-US" sz="1600" dirty="0"/>
                        <a:t>and gravity compensation</a:t>
                      </a:r>
                    </a:p>
                  </a:txBody>
                  <a:tcPr marL="82296" marR="82296" marT="41148" marB="411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4712943"/>
                  </a:ext>
                </a:extLst>
              </a:tr>
              <a:tr h="56894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dirty="0"/>
                        <a:t>3.</a:t>
                      </a:r>
                    </a:p>
                  </a:txBody>
                  <a:tcPr marL="82296" marR="82296" marT="41148" marB="411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Offset calibration instability</a:t>
                      </a:r>
                    </a:p>
                  </a:txBody>
                  <a:tcPr marL="82296" marR="82296" marT="41148" marB="411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Implemented </a:t>
                      </a:r>
                      <a:r>
                        <a:rPr lang="en-US" sz="1600" b="1" dirty="0"/>
                        <a:t>proper sensor offset correction</a:t>
                      </a:r>
                    </a:p>
                  </a:txBody>
                  <a:tcPr marL="82296" marR="82296" marT="41148" marB="411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4440212"/>
                  </a:ext>
                </a:extLst>
              </a:tr>
              <a:tr h="56894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/>
                        <a:t>4.</a:t>
                      </a:r>
                    </a:p>
                  </a:txBody>
                  <a:tcPr marL="82296" marR="82296" marT="41148" marB="411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Swing boundary detection (start/end)</a:t>
                      </a:r>
                    </a:p>
                  </a:txBody>
                  <a:tcPr marL="82296" marR="82296" marT="41148" marB="411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Designed </a:t>
                      </a:r>
                      <a:r>
                        <a:rPr lang="en-IN" sz="1600" b="1" dirty="0"/>
                        <a:t>threshold + duration-based algorithm</a:t>
                      </a:r>
                    </a:p>
                  </a:txBody>
                  <a:tcPr marL="82296" marR="82296" marT="41148" marB="411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3242060"/>
                  </a:ext>
                </a:extLst>
              </a:tr>
              <a:tr h="56894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/>
                        <a:t>5.</a:t>
                      </a:r>
                    </a:p>
                  </a:txBody>
                  <a:tcPr marL="82296" marR="82296" marT="41148" marB="411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False swing detection (random movements)</a:t>
                      </a:r>
                    </a:p>
                  </a:txBody>
                  <a:tcPr marL="82296" marR="82296" marT="41148" marB="411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Added </a:t>
                      </a:r>
                      <a:r>
                        <a:rPr lang="en-US" sz="1600" b="1" dirty="0"/>
                        <a:t>minimum duration and cooldown logic</a:t>
                      </a:r>
                    </a:p>
                  </a:txBody>
                  <a:tcPr marL="82296" marR="82296" marT="41148" marB="411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4826758"/>
                  </a:ext>
                </a:extLst>
              </a:tr>
              <a:tr h="56894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dirty="0"/>
                        <a:t>6.</a:t>
                      </a:r>
                    </a:p>
                  </a:txBody>
                  <a:tcPr marL="82296" marR="82296" marT="41148" marB="411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Limited real-world dataset</a:t>
                      </a:r>
                    </a:p>
                  </a:txBody>
                  <a:tcPr marL="82296" marR="82296" marT="41148" marB="411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Generated </a:t>
                      </a:r>
                      <a:r>
                        <a:rPr lang="en-US" sz="1600" b="1" dirty="0"/>
                        <a:t>synthetic data </a:t>
                      </a:r>
                      <a:r>
                        <a:rPr lang="en-US" sz="1600" dirty="0"/>
                        <a:t>using MATLAB</a:t>
                      </a:r>
                    </a:p>
                  </a:txBody>
                  <a:tcPr marL="82296" marR="82296" marT="41148" marB="411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8237417"/>
                  </a:ext>
                </a:extLst>
              </a:tr>
              <a:tr h="80374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dirty="0"/>
                        <a:t>7.</a:t>
                      </a:r>
                    </a:p>
                  </a:txBody>
                  <a:tcPr marL="82296" marR="82296" marT="41148" marB="411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Model generalization across players</a:t>
                      </a:r>
                    </a:p>
                  </a:txBody>
                  <a:tcPr marL="82296" marR="82296" marT="41148" marB="411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Used </a:t>
                      </a:r>
                      <a:r>
                        <a:rPr lang="en-US" sz="1600" b="1" dirty="0"/>
                        <a:t>personalized calibration </a:t>
                      </a:r>
                      <a:r>
                        <a:rPr lang="en-US" sz="1600" dirty="0"/>
                        <a:t>(first 30 swings)</a:t>
                      </a:r>
                    </a:p>
                  </a:txBody>
                  <a:tcPr marL="82296" marR="82296" marT="41148" marB="411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86343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6553917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D080E02-C592-8E80-D598-0DFEBB6DFB60}"/>
              </a:ext>
            </a:extLst>
          </p:cNvPr>
          <p:cNvSpPr txBox="1"/>
          <p:nvPr/>
        </p:nvSpPr>
        <p:spPr>
          <a:xfrm>
            <a:off x="755576" y="737989"/>
            <a:ext cx="4518248" cy="52322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b="1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Seeed XIAO nRF52840 (MCU)</a:t>
            </a:r>
            <a:r>
              <a:rPr lang="en-IN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+mj-lt"/>
              </a:rPr>
              <a:t>Has deep sleep mode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+mj-lt"/>
              </a:rPr>
              <a:t>Ultra-low power </a:t>
            </a:r>
            <a:r>
              <a:rPr lang="en-IN" sz="1600" dirty="0">
                <a:latin typeface="+mj-lt"/>
                <a:sym typeface="Wingdings" panose="05000000000000000000" pitchFamily="2" charset="2"/>
              </a:rPr>
              <a:t></a:t>
            </a:r>
            <a:r>
              <a:rPr lang="en-IN" sz="1600" dirty="0">
                <a:latin typeface="+mj-lt"/>
              </a:rPr>
              <a:t> longer battery life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+mj-lt"/>
              </a:rPr>
              <a:t>Native Bluetooth (BLE)</a:t>
            </a:r>
            <a:r>
              <a:rPr lang="en-IN" sz="1600" dirty="0">
                <a:latin typeface="+mj-lt"/>
                <a:sym typeface="Wingdings" panose="05000000000000000000" pitchFamily="2" charset="2"/>
              </a:rPr>
              <a:t></a:t>
            </a:r>
            <a:r>
              <a:rPr lang="en-IN" sz="1600" dirty="0">
                <a:latin typeface="+mj-lt"/>
              </a:rPr>
              <a:t>direct mobile connectivity </a:t>
            </a:r>
          </a:p>
          <a:p>
            <a:pPr lvl="1"/>
            <a:endParaRPr lang="en-IN" sz="1600" dirty="0">
              <a:latin typeface="+mj-lt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b="1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ICM42688 IMU Sensor</a:t>
            </a:r>
            <a:r>
              <a:rPr lang="en-IN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+mj-lt"/>
              </a:rPr>
              <a:t>Higher accuracy &amp; lower noise than MPU6050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+mj-lt"/>
              </a:rPr>
              <a:t>Better motion tracking for fast swings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IN" sz="1600" dirty="0">
              <a:latin typeface="+mj-lt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b="1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200 </a:t>
            </a:r>
            <a:r>
              <a:rPr lang="en-IN" b="1" dirty="0" err="1">
                <a:solidFill>
                  <a:schemeClr val="accent6">
                    <a:lumMod val="75000"/>
                  </a:schemeClr>
                </a:solidFill>
                <a:latin typeface="+mj-lt"/>
              </a:rPr>
              <a:t>mAh</a:t>
            </a:r>
            <a:r>
              <a:rPr lang="en-IN" b="1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 Li-Po Battery</a:t>
            </a:r>
            <a:r>
              <a:rPr lang="en-IN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+mj-lt"/>
              </a:rPr>
              <a:t>Compact and lightweight design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+mj-lt"/>
              </a:rPr>
              <a:t>Optimized for wearable usage </a:t>
            </a:r>
          </a:p>
          <a:p>
            <a:pPr>
              <a:buNone/>
            </a:pPr>
            <a:br>
              <a:rPr lang="en-IN" sz="1600" dirty="0">
                <a:latin typeface="+mj-lt"/>
              </a:rPr>
            </a:br>
            <a:endParaRPr lang="en-IN" sz="1600" dirty="0"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350C60-6478-D6AB-097E-1C48C327F622}"/>
              </a:ext>
            </a:extLst>
          </p:cNvPr>
          <p:cNvSpPr txBox="1"/>
          <p:nvPr/>
        </p:nvSpPr>
        <p:spPr>
          <a:xfrm>
            <a:off x="4906330" y="556005"/>
            <a:ext cx="4572000" cy="240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800" b="1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Need fo</a:t>
            </a:r>
            <a:r>
              <a:rPr lang="en-IN" b="1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r upgrade :</a:t>
            </a:r>
            <a:endParaRPr lang="en-IN" sz="1800" b="1" dirty="0">
              <a:solidFill>
                <a:schemeClr val="accent6">
                  <a:lumMod val="75000"/>
                </a:schemeClr>
              </a:solidFill>
              <a:latin typeface="+mj-lt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+mj-lt"/>
              </a:rPr>
              <a:t>Improved </a:t>
            </a:r>
            <a:r>
              <a:rPr lang="en-IN" sz="1600" b="1" dirty="0">
                <a:latin typeface="+mj-lt"/>
              </a:rPr>
              <a:t>measurement accuracy</a:t>
            </a:r>
            <a:r>
              <a:rPr lang="en-IN" sz="1600" dirty="0">
                <a:latin typeface="+mj-lt"/>
              </a:rPr>
              <a:t>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+mj-lt"/>
              </a:rPr>
              <a:t>Reduced </a:t>
            </a:r>
            <a:r>
              <a:rPr lang="en-IN" sz="1600" b="1" dirty="0">
                <a:latin typeface="+mj-lt"/>
              </a:rPr>
              <a:t>power consumption</a:t>
            </a:r>
            <a:r>
              <a:rPr lang="en-IN" sz="1600" dirty="0">
                <a:latin typeface="+mj-lt"/>
              </a:rPr>
              <a:t>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+mj-lt"/>
              </a:rPr>
              <a:t>Significant </a:t>
            </a:r>
            <a:r>
              <a:rPr lang="en-IN" sz="1600" b="1" dirty="0">
                <a:latin typeface="+mj-lt"/>
              </a:rPr>
              <a:t>weight reduction</a:t>
            </a:r>
            <a:r>
              <a:rPr lang="en-IN" sz="1600" dirty="0">
                <a:latin typeface="+mj-lt"/>
              </a:rPr>
              <a:t>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+mj-lt"/>
              </a:rPr>
              <a:t>Enhanced </a:t>
            </a:r>
            <a:r>
              <a:rPr lang="en-IN" sz="1600" b="1" dirty="0">
                <a:latin typeface="+mj-lt"/>
              </a:rPr>
              <a:t>real-time performance</a:t>
            </a:r>
            <a:r>
              <a:rPr lang="en-IN" sz="1600" dirty="0">
                <a:latin typeface="+mj-lt"/>
              </a:rPr>
              <a:t> </a:t>
            </a:r>
          </a:p>
          <a:p>
            <a:pPr>
              <a:buNone/>
            </a:pPr>
            <a:br>
              <a:rPr lang="en-IN" sz="1800" dirty="0">
                <a:latin typeface="+mj-lt"/>
              </a:rPr>
            </a:br>
            <a:endParaRPr lang="en-IN" sz="1800" dirty="0">
              <a:latin typeface="+mj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396DF56-1BDF-8898-5135-171084E57544}"/>
              </a:ext>
            </a:extLst>
          </p:cNvPr>
          <p:cNvSpPr txBox="1"/>
          <p:nvPr/>
        </p:nvSpPr>
        <p:spPr>
          <a:xfrm>
            <a:off x="4927559" y="2276872"/>
            <a:ext cx="4216441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IN" sz="1800" dirty="0">
              <a:latin typeface="+mj-lt"/>
            </a:endParaRPr>
          </a:p>
          <a:p>
            <a:r>
              <a:rPr lang="en-IN" sz="1800" b="1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System Enhancement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latin typeface="+mj-lt"/>
              </a:rPr>
              <a:t>Bluetooth Low Energy (</a:t>
            </a:r>
            <a:r>
              <a:rPr lang="en-IN" sz="1800" b="1" dirty="0">
                <a:latin typeface="+mj-lt"/>
              </a:rPr>
              <a:t>BLE</a:t>
            </a:r>
            <a:r>
              <a:rPr lang="en-IN" sz="1800" dirty="0">
                <a:latin typeface="+mj-lt"/>
              </a:rPr>
              <a:t>) data streaming – low latency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latin typeface="+mj-lt"/>
              </a:rPr>
              <a:t>Direct integration with </a:t>
            </a:r>
            <a:r>
              <a:rPr lang="en-IN" sz="1800" b="1" dirty="0">
                <a:latin typeface="+mj-lt"/>
              </a:rPr>
              <a:t>mobile app / offline web app</a:t>
            </a:r>
            <a:r>
              <a:rPr lang="en-IN" sz="1800" dirty="0">
                <a:latin typeface="+mj-lt"/>
              </a:rPr>
              <a:t>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latin typeface="+mj-lt"/>
              </a:rPr>
              <a:t>No need for Wi-Fi hotspot (portable system) </a:t>
            </a:r>
          </a:p>
          <a:p>
            <a:pPr>
              <a:buNone/>
            </a:pPr>
            <a:br>
              <a:rPr lang="en-IN" sz="1800" dirty="0">
                <a:latin typeface="+mj-lt"/>
              </a:rPr>
            </a:br>
            <a:endParaRPr lang="en-IN" sz="1800" dirty="0">
              <a:latin typeface="+mj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BC5EB5B-E540-225F-5546-81DF93264849}"/>
              </a:ext>
            </a:extLst>
          </p:cNvPr>
          <p:cNvSpPr txBox="1"/>
          <p:nvPr/>
        </p:nvSpPr>
        <p:spPr>
          <a:xfrm>
            <a:off x="2706069" y="5070889"/>
            <a:ext cx="4860984" cy="1231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IN" sz="1800" dirty="0">
              <a:latin typeface="+mj-lt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000" b="1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Product Vision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800" dirty="0">
                <a:latin typeface="+mj-lt"/>
              </a:rPr>
              <a:t>Real-time coaching via mobile interface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800" dirty="0">
                <a:latin typeface="+mj-lt"/>
              </a:rPr>
              <a:t>Scalable for </a:t>
            </a:r>
            <a:r>
              <a:rPr lang="en-IN" sz="1800" b="1" dirty="0">
                <a:latin typeface="+mj-lt"/>
              </a:rPr>
              <a:t>sports analytics platforms</a:t>
            </a:r>
            <a:endParaRPr lang="en-IN" sz="1800" dirty="0">
              <a:latin typeface="+mj-l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B6A4DBE-9D24-251C-CA20-AAA363601C9B}"/>
              </a:ext>
            </a:extLst>
          </p:cNvPr>
          <p:cNvSpPr txBox="1"/>
          <p:nvPr/>
        </p:nvSpPr>
        <p:spPr>
          <a:xfrm>
            <a:off x="2627784" y="72566"/>
            <a:ext cx="49685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0909"/>
                </a:solidFill>
                <a:latin typeface="+mj-lt"/>
              </a:rPr>
              <a:t>Future Scope &amp; Next version (v3.0) </a:t>
            </a:r>
          </a:p>
        </p:txBody>
      </p:sp>
    </p:spTree>
    <p:extLst>
      <p:ext uri="{BB962C8B-B14F-4D97-AF65-F5344CB8AC3E}">
        <p14:creationId xmlns:p14="http://schemas.microsoft.com/office/powerpoint/2010/main" val="248442306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CF7B946-FE4D-2AC2-53FB-BD3056DE7E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1053268"/>
              </p:ext>
            </p:extLst>
          </p:nvPr>
        </p:nvGraphicFramePr>
        <p:xfrm>
          <a:off x="1043608" y="1268760"/>
          <a:ext cx="7772400" cy="3169920"/>
        </p:xfrm>
        <a:graphic>
          <a:graphicData uri="http://schemas.openxmlformats.org/drawingml/2006/table">
            <a:tbl>
              <a:tblPr/>
              <a:tblGrid>
                <a:gridCol w="1800200">
                  <a:extLst>
                    <a:ext uri="{9D8B030D-6E8A-4147-A177-3AD203B41FA5}">
                      <a16:colId xmlns:a16="http://schemas.microsoft.com/office/drawing/2014/main" val="3157108727"/>
                    </a:ext>
                  </a:extLst>
                </a:gridCol>
                <a:gridCol w="2880320">
                  <a:extLst>
                    <a:ext uri="{9D8B030D-6E8A-4147-A177-3AD203B41FA5}">
                      <a16:colId xmlns:a16="http://schemas.microsoft.com/office/drawing/2014/main" val="637174220"/>
                    </a:ext>
                  </a:extLst>
                </a:gridCol>
                <a:gridCol w="3091880">
                  <a:extLst>
                    <a:ext uri="{9D8B030D-6E8A-4147-A177-3AD203B41FA5}">
                      <a16:colId xmlns:a16="http://schemas.microsoft.com/office/drawing/2014/main" val="320602496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Feature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 dirty="0"/>
                        <a:t>Current Prototype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 dirty="0"/>
                        <a:t>v3.0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64261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MCU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ESP32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Seeed XIAO nRF52840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63366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Sensor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MPU6050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ICM42688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17189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Connectivity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Wi-Fi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BLE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07924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Battery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1000 </a:t>
                      </a:r>
                      <a:r>
                        <a:rPr lang="en-IN" sz="2000" dirty="0" err="1"/>
                        <a:t>mAh</a:t>
                      </a:r>
                      <a:endParaRPr lang="en-IN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200 </a:t>
                      </a:r>
                      <a:r>
                        <a:rPr lang="en-IN" sz="2000" dirty="0" err="1"/>
                        <a:t>mAh</a:t>
                      </a:r>
                      <a:endParaRPr lang="en-IN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19976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Avg Current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~100 mA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~13 mA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40635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Battery Life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6 – 10 hrs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12 – 14 hrs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0562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Weight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/>
                        <a:t>~50 g</a:t>
                      </a:r>
                      <a:endParaRPr lang="en-IN" sz="2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/>
                        <a:t>~15 g</a:t>
                      </a:r>
                      <a:endParaRPr lang="en-IN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4921775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FA77B621-D04E-D6F9-48E1-80A94E9ABD4F}"/>
              </a:ext>
            </a:extLst>
          </p:cNvPr>
          <p:cNvSpPr txBox="1"/>
          <p:nvPr/>
        </p:nvSpPr>
        <p:spPr>
          <a:xfrm>
            <a:off x="1979712" y="332656"/>
            <a:ext cx="56908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  <a:latin typeface="+mj-lt"/>
              </a:rPr>
              <a:t>Current prototype vs next version (v3.0)</a:t>
            </a:r>
          </a:p>
        </p:txBody>
      </p:sp>
    </p:spTree>
    <p:extLst>
      <p:ext uri="{BB962C8B-B14F-4D97-AF65-F5344CB8AC3E}">
        <p14:creationId xmlns:p14="http://schemas.microsoft.com/office/powerpoint/2010/main" val="3086721361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90A2243-D423-F22C-65AB-A645DD341637}"/>
              </a:ext>
            </a:extLst>
          </p:cNvPr>
          <p:cNvSpPr/>
          <p:nvPr/>
        </p:nvSpPr>
        <p:spPr bwMode="auto">
          <a:xfrm rot="8729465">
            <a:off x="2844130" y="3251394"/>
            <a:ext cx="3682406" cy="172415"/>
          </a:xfrm>
          <a:prstGeom prst="rect">
            <a:avLst/>
          </a:prstGeom>
          <a:gradFill flip="none" rotWithShape="1">
            <a:gsLst>
              <a:gs pos="0">
                <a:srgbClr val="FFC000">
                  <a:tint val="66000"/>
                  <a:satMod val="160000"/>
                </a:srgbClr>
              </a:gs>
              <a:gs pos="50000">
                <a:srgbClr val="FFC000">
                  <a:tint val="44500"/>
                  <a:satMod val="160000"/>
                </a:srgbClr>
              </a:gs>
              <a:gs pos="100000">
                <a:srgbClr val="FFC000">
                  <a:tint val="23500"/>
                  <a:satMod val="160000"/>
                </a:srgbClr>
              </a:gs>
            </a:gsLst>
            <a:path path="circle">
              <a:fillToRect l="100000" b="100000"/>
            </a:path>
            <a:tileRect t="-100000" r="-100000"/>
          </a:gra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L="45720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IN" sz="1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</a:endParaRPr>
          </a:p>
        </p:txBody>
      </p:sp>
      <p:sp>
        <p:nvSpPr>
          <p:cNvPr id="64" name="Cylinder 63">
            <a:extLst>
              <a:ext uri="{FF2B5EF4-FFF2-40B4-BE49-F238E27FC236}">
                <a16:creationId xmlns:a16="http://schemas.microsoft.com/office/drawing/2014/main" id="{E5E988DE-DBC4-0FF3-9BC1-8262064C9819}"/>
              </a:ext>
            </a:extLst>
          </p:cNvPr>
          <p:cNvSpPr/>
          <p:nvPr/>
        </p:nvSpPr>
        <p:spPr bwMode="auto">
          <a:xfrm rot="3295707">
            <a:off x="3117033" y="3609068"/>
            <a:ext cx="283289" cy="1411613"/>
          </a:xfrm>
          <a:prstGeom prst="can">
            <a:avLst/>
          </a:prstGeom>
          <a:gradFill flip="none" rotWithShape="1">
            <a:gsLst>
              <a:gs pos="0">
                <a:schemeClr val="accent2">
                  <a:lumMod val="75000"/>
                  <a:tint val="66000"/>
                  <a:satMod val="160000"/>
                </a:schemeClr>
              </a:gs>
              <a:gs pos="50000">
                <a:schemeClr val="accent2">
                  <a:lumMod val="75000"/>
                  <a:tint val="44500"/>
                  <a:satMod val="160000"/>
                </a:schemeClr>
              </a:gs>
              <a:gs pos="100000">
                <a:schemeClr val="accent2">
                  <a:lumMod val="7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L="45720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IN" sz="1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C64E679-E73B-8A51-F073-B643B746EFE1}"/>
              </a:ext>
            </a:extLst>
          </p:cNvPr>
          <p:cNvSpPr txBox="1"/>
          <p:nvPr/>
        </p:nvSpPr>
        <p:spPr>
          <a:xfrm>
            <a:off x="3301653" y="114994"/>
            <a:ext cx="34314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rgbClr val="FF0000"/>
                </a:solidFill>
                <a:latin typeface="+mj-lt"/>
              </a:rPr>
              <a:t>Next Version (v3.0)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D1578781-7EDC-C2FD-5A09-C1CB5AD48C46}"/>
              </a:ext>
            </a:extLst>
          </p:cNvPr>
          <p:cNvSpPr/>
          <p:nvPr/>
        </p:nvSpPr>
        <p:spPr bwMode="auto">
          <a:xfrm rot="3829639">
            <a:off x="6348538" y="345128"/>
            <a:ext cx="1931121" cy="2540863"/>
          </a:xfrm>
          <a:prstGeom prst="ellips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scene3d>
            <a:camera prst="orthographicFront"/>
            <a:lightRig rig="threePt" dir="t"/>
          </a:scene3d>
          <a:sp3d extrusionH="38100">
            <a:bevelT w="31750"/>
            <a:bevelB w="107950"/>
          </a:sp3d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L="45720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IN" sz="1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38E1804-7A92-1D68-6A06-A8E6AA8F68A0}"/>
              </a:ext>
            </a:extLst>
          </p:cNvPr>
          <p:cNvCxnSpPr>
            <a:cxnSpLocks/>
          </p:cNvCxnSpPr>
          <p:nvPr/>
        </p:nvCxnSpPr>
        <p:spPr bwMode="auto">
          <a:xfrm>
            <a:off x="6169795" y="1416003"/>
            <a:ext cx="1107371" cy="1196492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4AFC027-B188-BD14-FCD6-1AA874A99B5E}"/>
              </a:ext>
            </a:extLst>
          </p:cNvPr>
          <p:cNvCxnSpPr>
            <a:cxnSpLocks/>
          </p:cNvCxnSpPr>
          <p:nvPr/>
        </p:nvCxnSpPr>
        <p:spPr bwMode="auto">
          <a:xfrm>
            <a:off x="6361937" y="1120395"/>
            <a:ext cx="1341117" cy="1378685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88C6E66-6655-3E8D-7E12-C07B9FC424BA}"/>
              </a:ext>
            </a:extLst>
          </p:cNvPr>
          <p:cNvCxnSpPr>
            <a:cxnSpLocks/>
          </p:cNvCxnSpPr>
          <p:nvPr/>
        </p:nvCxnSpPr>
        <p:spPr bwMode="auto">
          <a:xfrm>
            <a:off x="6592134" y="848388"/>
            <a:ext cx="1399318" cy="1404649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DE6DAD3-1CB4-13B3-C87A-FF545C5A050C}"/>
              </a:ext>
            </a:extLst>
          </p:cNvPr>
          <p:cNvCxnSpPr>
            <a:cxnSpLocks/>
          </p:cNvCxnSpPr>
          <p:nvPr/>
        </p:nvCxnSpPr>
        <p:spPr bwMode="auto">
          <a:xfrm>
            <a:off x="6889484" y="752531"/>
            <a:ext cx="1297133" cy="1338335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216DD13-232B-C21D-8B89-980168EB6CA6}"/>
              </a:ext>
            </a:extLst>
          </p:cNvPr>
          <p:cNvCxnSpPr>
            <a:cxnSpLocks/>
          </p:cNvCxnSpPr>
          <p:nvPr/>
        </p:nvCxnSpPr>
        <p:spPr bwMode="auto">
          <a:xfrm>
            <a:off x="6041997" y="1695570"/>
            <a:ext cx="894428" cy="916925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A2D6440-5488-E932-A6FA-9A60DE75C5A0}"/>
              </a:ext>
            </a:extLst>
          </p:cNvPr>
          <p:cNvCxnSpPr>
            <a:cxnSpLocks/>
          </p:cNvCxnSpPr>
          <p:nvPr/>
        </p:nvCxnSpPr>
        <p:spPr bwMode="auto">
          <a:xfrm>
            <a:off x="7171182" y="615475"/>
            <a:ext cx="1219891" cy="1324305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981F179-9496-DBED-64DB-5722BE190571}"/>
              </a:ext>
            </a:extLst>
          </p:cNvPr>
          <p:cNvCxnSpPr>
            <a:cxnSpLocks/>
          </p:cNvCxnSpPr>
          <p:nvPr/>
        </p:nvCxnSpPr>
        <p:spPr bwMode="auto">
          <a:xfrm>
            <a:off x="7637097" y="578751"/>
            <a:ext cx="856736" cy="880954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540FD2F2-8F11-E4A8-9475-B52C2BDA373D}"/>
              </a:ext>
            </a:extLst>
          </p:cNvPr>
          <p:cNvCxnSpPr>
            <a:cxnSpLocks/>
          </p:cNvCxnSpPr>
          <p:nvPr/>
        </p:nvCxnSpPr>
        <p:spPr bwMode="auto">
          <a:xfrm flipV="1">
            <a:off x="6124001" y="675333"/>
            <a:ext cx="1895446" cy="1423731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1B2CF693-4784-A9BC-0A3A-403F69129C51}"/>
              </a:ext>
            </a:extLst>
          </p:cNvPr>
          <p:cNvCxnSpPr>
            <a:cxnSpLocks/>
          </p:cNvCxnSpPr>
          <p:nvPr/>
        </p:nvCxnSpPr>
        <p:spPr bwMode="auto">
          <a:xfrm flipV="1">
            <a:off x="6241793" y="825149"/>
            <a:ext cx="1992911" cy="1516287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50F3DD70-2EC0-F682-E205-4E433882E186}"/>
              </a:ext>
            </a:extLst>
          </p:cNvPr>
          <p:cNvCxnSpPr>
            <a:cxnSpLocks/>
          </p:cNvCxnSpPr>
          <p:nvPr/>
        </p:nvCxnSpPr>
        <p:spPr bwMode="auto">
          <a:xfrm flipV="1">
            <a:off x="6470827" y="1083355"/>
            <a:ext cx="1992911" cy="1516287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50264B36-7CCA-0FD2-BF90-4E66488C1B32}"/>
              </a:ext>
            </a:extLst>
          </p:cNvPr>
          <p:cNvCxnSpPr>
            <a:cxnSpLocks/>
          </p:cNvCxnSpPr>
          <p:nvPr/>
        </p:nvCxnSpPr>
        <p:spPr bwMode="auto">
          <a:xfrm flipV="1">
            <a:off x="6963833" y="1373019"/>
            <a:ext cx="1587549" cy="1246454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C6CADF9C-23C6-DD54-07E8-E3CA3ADCEBFA}"/>
              </a:ext>
            </a:extLst>
          </p:cNvPr>
          <p:cNvCxnSpPr>
            <a:cxnSpLocks/>
          </p:cNvCxnSpPr>
          <p:nvPr/>
        </p:nvCxnSpPr>
        <p:spPr bwMode="auto">
          <a:xfrm flipV="1">
            <a:off x="7223913" y="1813380"/>
            <a:ext cx="1117222" cy="784792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1A762229-AD7C-B8DA-33AE-E7AD39352A15}"/>
              </a:ext>
            </a:extLst>
          </p:cNvPr>
          <p:cNvCxnSpPr>
            <a:cxnSpLocks/>
          </p:cNvCxnSpPr>
          <p:nvPr/>
        </p:nvCxnSpPr>
        <p:spPr bwMode="auto">
          <a:xfrm flipV="1">
            <a:off x="6078222" y="598515"/>
            <a:ext cx="1569870" cy="1154439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E7290304-4DD8-4E14-D6C3-1ECE5420AF7C}"/>
              </a:ext>
            </a:extLst>
          </p:cNvPr>
          <p:cNvCxnSpPr>
            <a:cxnSpLocks/>
          </p:cNvCxnSpPr>
          <p:nvPr/>
        </p:nvCxnSpPr>
        <p:spPr bwMode="auto">
          <a:xfrm flipV="1">
            <a:off x="6195619" y="675638"/>
            <a:ext cx="967962" cy="777058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8" name="Diagonal Stripe 37">
            <a:extLst>
              <a:ext uri="{FF2B5EF4-FFF2-40B4-BE49-F238E27FC236}">
                <a16:creationId xmlns:a16="http://schemas.microsoft.com/office/drawing/2014/main" id="{35133F7D-D9EC-4F41-060E-72423F607211}"/>
              </a:ext>
            </a:extLst>
          </p:cNvPr>
          <p:cNvSpPr/>
          <p:nvPr/>
        </p:nvSpPr>
        <p:spPr bwMode="auto">
          <a:xfrm rot="16971922">
            <a:off x="6121995" y="2041883"/>
            <a:ext cx="376443" cy="507577"/>
          </a:xfrm>
          <a:prstGeom prst="diagStripe">
            <a:avLst>
              <a:gd name="adj" fmla="val 46774"/>
            </a:avLst>
          </a:prstGeom>
          <a:solidFill>
            <a:schemeClr val="accent2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L="45720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IN" sz="1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9B84607F-6AA1-7D5C-9732-A5083333E320}"/>
              </a:ext>
            </a:extLst>
          </p:cNvPr>
          <p:cNvSpPr/>
          <p:nvPr/>
        </p:nvSpPr>
        <p:spPr bwMode="auto">
          <a:xfrm rot="19460736">
            <a:off x="5936100" y="2283341"/>
            <a:ext cx="315523" cy="153144"/>
          </a:xfrm>
          <a:prstGeom prst="rect">
            <a:avLst/>
          </a:prstGeom>
          <a:solidFill>
            <a:srgbClr val="FF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L="45720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IN" sz="1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61B0BB4-FE27-EC0A-1B92-F95FCFE52077}"/>
              </a:ext>
            </a:extLst>
          </p:cNvPr>
          <p:cNvSpPr/>
          <p:nvPr/>
        </p:nvSpPr>
        <p:spPr bwMode="auto">
          <a:xfrm>
            <a:off x="3774393" y="3878007"/>
            <a:ext cx="914400" cy="9144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L="45720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IN" sz="1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39D12E4-F130-E073-7325-2C4D589A9B92}"/>
              </a:ext>
            </a:extLst>
          </p:cNvPr>
          <p:cNvSpPr txBox="1"/>
          <p:nvPr/>
        </p:nvSpPr>
        <p:spPr>
          <a:xfrm>
            <a:off x="4737476" y="788284"/>
            <a:ext cx="1324150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IN" dirty="0">
                <a:latin typeface="+mj-lt"/>
              </a:rPr>
              <a:t>ICM42688</a:t>
            </a:r>
          </a:p>
          <a:p>
            <a:pPr>
              <a:buNone/>
            </a:pPr>
            <a:r>
              <a:rPr lang="en-IN" dirty="0">
                <a:latin typeface="+mj-lt"/>
              </a:rPr>
              <a:t>(IMU)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FB0BA34-A943-6D42-B852-C7A8BD4DAF9B}"/>
              </a:ext>
            </a:extLst>
          </p:cNvPr>
          <p:cNvSpPr txBox="1"/>
          <p:nvPr/>
        </p:nvSpPr>
        <p:spPr>
          <a:xfrm>
            <a:off x="5450026" y="3871086"/>
            <a:ext cx="2500746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>
                <a:latin typeface="+mj-lt"/>
              </a:rPr>
              <a:t>Seeed XIAO studio nRF52840 </a:t>
            </a:r>
            <a:r>
              <a:rPr lang="en-IN" sz="1400" dirty="0">
                <a:latin typeface="+mj-lt"/>
              </a:rPr>
              <a:t>microcontroller</a:t>
            </a:r>
            <a:r>
              <a:rPr lang="en-IN" dirty="0">
                <a:latin typeface="+mj-lt"/>
              </a:rPr>
              <a:t> 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09DC74D4-1D29-B2B1-9D4A-DA135C237549}"/>
              </a:ext>
            </a:extLst>
          </p:cNvPr>
          <p:cNvCxnSpPr>
            <a:cxnSpLocks/>
            <a:stCxn id="44" idx="2"/>
            <a:endCxn id="39" idx="0"/>
          </p:cNvCxnSpPr>
          <p:nvPr/>
        </p:nvCxnSpPr>
        <p:spPr bwMode="auto">
          <a:xfrm>
            <a:off x="5399551" y="1434615"/>
            <a:ext cx="649677" cy="863079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3" name="Rectangle 52">
            <a:extLst>
              <a:ext uri="{FF2B5EF4-FFF2-40B4-BE49-F238E27FC236}">
                <a16:creationId xmlns:a16="http://schemas.microsoft.com/office/drawing/2014/main" id="{EE391FFB-0105-9793-B352-102311AB0CA1}"/>
              </a:ext>
            </a:extLst>
          </p:cNvPr>
          <p:cNvSpPr/>
          <p:nvPr/>
        </p:nvSpPr>
        <p:spPr bwMode="auto">
          <a:xfrm rot="19439583">
            <a:off x="2619777" y="4547413"/>
            <a:ext cx="402231" cy="188741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rgbClr val="FF0909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L="45720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IN" sz="1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FA3ECC84-79A5-047B-4A66-BC127BDF9790}"/>
              </a:ext>
            </a:extLst>
          </p:cNvPr>
          <p:cNvSpPr/>
          <p:nvPr/>
        </p:nvSpPr>
        <p:spPr bwMode="auto">
          <a:xfrm>
            <a:off x="2230757" y="5659435"/>
            <a:ext cx="3286554" cy="63402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L="45720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</a:pPr>
            <a:r>
              <a:rPr kumimoji="0" lang="en-IN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3.7V Li-Po 200mah </a:t>
            </a:r>
            <a:r>
              <a:rPr kumimoji="0" lang="en-IN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battery,</a:t>
            </a:r>
            <a:endParaRPr kumimoji="0" lang="en-IN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45720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</a:pPr>
            <a:r>
              <a:rPr kumimoji="0" lang="en-IN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TP4056 </a:t>
            </a:r>
            <a:r>
              <a:rPr lang="en-IN" sz="1400" dirty="0">
                <a:latin typeface="+mj-lt"/>
              </a:rPr>
              <a:t>charging module</a:t>
            </a:r>
            <a:endParaRPr kumimoji="0" lang="en-IN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89ADF326-E855-7F11-8573-DE5BC49A2F43}"/>
              </a:ext>
            </a:extLst>
          </p:cNvPr>
          <p:cNvCxnSpPr>
            <a:cxnSpLocks/>
            <a:stCxn id="54" idx="1"/>
            <a:endCxn id="53" idx="2"/>
          </p:cNvCxnSpPr>
          <p:nvPr/>
        </p:nvCxnSpPr>
        <p:spPr bwMode="auto">
          <a:xfrm flipV="1">
            <a:off x="2230757" y="4718124"/>
            <a:ext cx="645615" cy="1258321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812BB37E-9021-7FD4-0AFE-5AC4792AE656}"/>
              </a:ext>
            </a:extLst>
          </p:cNvPr>
          <p:cNvCxnSpPr/>
          <p:nvPr/>
        </p:nvCxnSpPr>
        <p:spPr bwMode="auto">
          <a:xfrm flipV="1">
            <a:off x="4121143" y="2499080"/>
            <a:ext cx="1865367" cy="1306920"/>
          </a:xfrm>
          <a:prstGeom prst="line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0EEAAC17-27CC-18D5-A62D-B6214B58A40C}"/>
              </a:ext>
            </a:extLst>
          </p:cNvPr>
          <p:cNvCxnSpPr/>
          <p:nvPr/>
        </p:nvCxnSpPr>
        <p:spPr bwMode="auto">
          <a:xfrm flipV="1">
            <a:off x="4100224" y="2473380"/>
            <a:ext cx="1865367" cy="1306920"/>
          </a:xfrm>
          <a:prstGeom prst="line">
            <a:avLst/>
          </a:prstGeom>
          <a:noFill/>
          <a:ln w="9525" cap="flat" cmpd="sng" algn="ctr">
            <a:solidFill>
              <a:schemeClr val="accent2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631ABFE9-32DA-9932-135C-F5160F2B41A5}"/>
              </a:ext>
            </a:extLst>
          </p:cNvPr>
          <p:cNvCxnSpPr>
            <a:cxnSpLocks/>
          </p:cNvCxnSpPr>
          <p:nvPr/>
        </p:nvCxnSpPr>
        <p:spPr bwMode="auto">
          <a:xfrm flipV="1">
            <a:off x="4071663" y="2438397"/>
            <a:ext cx="1877606" cy="1306662"/>
          </a:xfrm>
          <a:prstGeom prst="line">
            <a:avLst/>
          </a:prstGeom>
          <a:noFill/>
          <a:ln w="9525" cap="flat" cmpd="sng" algn="ctr">
            <a:solidFill>
              <a:srgbClr val="CB059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7C3C17F4-F6A6-F894-69EA-6FDE792A1CF0}"/>
              </a:ext>
            </a:extLst>
          </p:cNvPr>
          <p:cNvCxnSpPr/>
          <p:nvPr/>
        </p:nvCxnSpPr>
        <p:spPr bwMode="auto">
          <a:xfrm flipV="1">
            <a:off x="4057249" y="2405980"/>
            <a:ext cx="1865367" cy="1306920"/>
          </a:xfrm>
          <a:prstGeom prst="line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1" name="Rectangle 40">
            <a:extLst>
              <a:ext uri="{FF2B5EF4-FFF2-40B4-BE49-F238E27FC236}">
                <a16:creationId xmlns:a16="http://schemas.microsoft.com/office/drawing/2014/main" id="{E646F293-3868-4B49-2A69-99823B46341E}"/>
              </a:ext>
            </a:extLst>
          </p:cNvPr>
          <p:cNvSpPr/>
          <p:nvPr/>
        </p:nvSpPr>
        <p:spPr bwMode="auto">
          <a:xfrm rot="19566419">
            <a:off x="3733694" y="3751911"/>
            <a:ext cx="447677" cy="140884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L="45720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IN" sz="1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</a:endParaRP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247D42E6-D604-4A83-9F3E-EF4835E64850}"/>
              </a:ext>
            </a:extLst>
          </p:cNvPr>
          <p:cNvCxnSpPr>
            <a:cxnSpLocks/>
            <a:stCxn id="45" idx="1"/>
          </p:cNvCxnSpPr>
          <p:nvPr/>
        </p:nvCxnSpPr>
        <p:spPr bwMode="auto">
          <a:xfrm flipH="1" flipV="1">
            <a:off x="3885273" y="3887547"/>
            <a:ext cx="1564753" cy="306705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F4A20FBE-7BFE-4F27-FC93-EF7B9A0EC5E3}"/>
              </a:ext>
            </a:extLst>
          </p:cNvPr>
          <p:cNvSpPr txBox="1"/>
          <p:nvPr/>
        </p:nvSpPr>
        <p:spPr>
          <a:xfrm>
            <a:off x="5341760" y="4815309"/>
            <a:ext cx="2892943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>
                <a:latin typeface="+mj-lt"/>
              </a:rPr>
              <a:t>Push button: (Calibration mode, Game mode ), LEDs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3E4BC63C-8D42-4C38-0D12-4E08430238D7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3774393" y="4103355"/>
            <a:ext cx="1567367" cy="975352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5CF731AB-C63C-B7E1-9F80-EA87406EFE85}"/>
                  </a:ext>
                </a:extLst>
              </p14:cNvPr>
              <p14:cNvContentPartPr/>
              <p14:nvPr/>
            </p14:nvContentPartPr>
            <p14:xfrm>
              <a:off x="3697620" y="4049880"/>
              <a:ext cx="92880" cy="9000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5CF731AB-C63C-B7E1-9F80-EA87406EFE8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688980" y="4041240"/>
                <a:ext cx="110520" cy="10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61126CF8-1220-B90E-6B06-3C0CD9FF0B05}"/>
                  </a:ext>
                </a:extLst>
              </p14:cNvPr>
              <p14:cNvContentPartPr/>
              <p14:nvPr/>
            </p14:nvContentPartPr>
            <p14:xfrm>
              <a:off x="-1828920" y="822720"/>
              <a:ext cx="360" cy="36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61126CF8-1220-B90E-6B06-3C0CD9FF0B0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-1837560" y="814080"/>
                <a:ext cx="18000" cy="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62832399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4CAAA9D-0394-2730-12C6-75A6256CEE4F}"/>
              </a:ext>
            </a:extLst>
          </p:cNvPr>
          <p:cNvSpPr txBox="1"/>
          <p:nvPr/>
        </p:nvSpPr>
        <p:spPr>
          <a:xfrm>
            <a:off x="2987824" y="188640"/>
            <a:ext cx="33843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dirty="0">
                <a:solidFill>
                  <a:srgbClr val="FF0000"/>
                </a:solidFill>
              </a:rPr>
              <a:t>Gantt Chart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542FBBC-A5CC-58C0-6B38-51078E8A3A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592" y="836712"/>
            <a:ext cx="8002117" cy="4944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1406267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903A873-16C4-007F-30B8-7C0FD5C53DD4}"/>
              </a:ext>
            </a:extLst>
          </p:cNvPr>
          <p:cNvSpPr txBox="1"/>
          <p:nvPr/>
        </p:nvSpPr>
        <p:spPr>
          <a:xfrm>
            <a:off x="521494" y="260648"/>
            <a:ext cx="8101012" cy="52322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800" dirty="0">
                <a:solidFill>
                  <a:srgbClr val="FF0000"/>
                </a:solidFill>
                <a:latin typeface="+mj-lt"/>
              </a:rPr>
              <a:t>References</a:t>
            </a:r>
            <a:endParaRPr lang="en-IN" sz="3200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A263DFC-A076-EED5-6B98-FF0C79C8F702}"/>
              </a:ext>
            </a:extLst>
          </p:cNvPr>
          <p:cNvSpPr txBox="1"/>
          <p:nvPr/>
        </p:nvSpPr>
        <p:spPr>
          <a:xfrm>
            <a:off x="1115616" y="1052736"/>
            <a:ext cx="7920880" cy="54784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0" i="0" dirty="0">
                <a:effectLst/>
                <a:latin typeface="Arial" panose="020B0604020202020204" pitchFamily="34" charset="0"/>
              </a:rPr>
              <a:t>Rodrigues, João Victor Oliveira, et al. "Performance evaluation of accelerometers ADXL345 and MPU6050 exposed to random vibrational input." </a:t>
            </a:r>
            <a:r>
              <a:rPr lang="en-US" sz="1400" b="0" i="1" dirty="0">
                <a:effectLst/>
                <a:latin typeface="Arial" panose="020B0604020202020204" pitchFamily="34" charset="0"/>
              </a:rPr>
              <a:t>Research, Society and Development</a:t>
            </a:r>
            <a:r>
              <a:rPr lang="en-US" sz="1400" b="0" i="0" dirty="0">
                <a:effectLst/>
                <a:latin typeface="Arial" panose="020B0604020202020204" pitchFamily="34" charset="0"/>
              </a:rPr>
              <a:t> 10.15 (2021): e286101523082-e286101523082.</a:t>
            </a:r>
          </a:p>
          <a:p>
            <a:endParaRPr lang="en-US" sz="1400" dirty="0"/>
          </a:p>
          <a:p>
            <a:r>
              <a:rPr lang="en-US" sz="1400" b="0" i="0" dirty="0">
                <a:effectLst/>
                <a:latin typeface="Arial" panose="020B0604020202020204" pitchFamily="34" charset="0"/>
              </a:rPr>
              <a:t>Fedorov, D. S., et al. "Using of measuring system MPU6050 for the determination of the angular velocities and linear accelerations." </a:t>
            </a:r>
            <a:r>
              <a:rPr lang="en-US" sz="1400" b="0" i="1" dirty="0">
                <a:effectLst/>
                <a:latin typeface="Arial" panose="020B0604020202020204" pitchFamily="34" charset="0"/>
              </a:rPr>
              <a:t>Automatics &amp; Software Enginery</a:t>
            </a:r>
            <a:r>
              <a:rPr lang="en-US" sz="1400" b="0" i="0" dirty="0">
                <a:effectLst/>
                <a:latin typeface="Arial" panose="020B0604020202020204" pitchFamily="34" charset="0"/>
              </a:rPr>
              <a:t> 11.1 (2015): 75-80.</a:t>
            </a:r>
          </a:p>
          <a:p>
            <a:endParaRPr lang="en-US" sz="1400" dirty="0"/>
          </a:p>
          <a:p>
            <a:r>
              <a:rPr lang="en-IN" sz="1400" b="0" i="0" dirty="0">
                <a:effectLst/>
                <a:latin typeface="Arial" panose="020B0604020202020204" pitchFamily="34" charset="0"/>
              </a:rPr>
              <a:t>Jacob, Alvin, Wan Nurshazwani Wan Zakaria, and Mohd Razali Bin Md Tomari. "Implementation of IMU sensor for elbow movement measurement of badminton players." </a:t>
            </a:r>
            <a:r>
              <a:rPr lang="en-IN" sz="1400" b="0" i="1" dirty="0">
                <a:effectLst/>
                <a:latin typeface="Arial" panose="020B0604020202020204" pitchFamily="34" charset="0"/>
              </a:rPr>
              <a:t>2016 2nd IEEE International Symposium on Robotics and Manufacturing Automation (ROMA)</a:t>
            </a:r>
            <a:r>
              <a:rPr lang="en-IN" sz="1400" b="0" i="0" dirty="0">
                <a:effectLst/>
                <a:latin typeface="Arial" panose="020B0604020202020204" pitchFamily="34" charset="0"/>
              </a:rPr>
              <a:t>. IEEE, 2016.</a:t>
            </a:r>
          </a:p>
          <a:p>
            <a:endParaRPr lang="en-IN" sz="1400" dirty="0"/>
          </a:p>
          <a:p>
            <a:r>
              <a:rPr lang="en-IN" sz="1400" b="0" i="0" dirty="0">
                <a:effectLst/>
                <a:latin typeface="Arial" panose="020B0604020202020204" pitchFamily="34" charset="0"/>
              </a:rPr>
              <a:t>Li, Li, and Feng Li. "Recognizing badminton hitting movements Based on Multi-sensor trajectory recognition algorithm." </a:t>
            </a:r>
            <a:r>
              <a:rPr lang="en-IN" sz="1400" b="0" i="1" dirty="0">
                <a:effectLst/>
                <a:latin typeface="Arial" panose="020B0604020202020204" pitchFamily="34" charset="0"/>
              </a:rPr>
              <a:t>2023 3rd International Conference on Information Technology and Contemporary Sports (TCS)</a:t>
            </a:r>
            <a:r>
              <a:rPr lang="en-IN" sz="1400" b="0" i="0" dirty="0">
                <a:effectLst/>
                <a:latin typeface="Arial" panose="020B0604020202020204" pitchFamily="34" charset="0"/>
              </a:rPr>
              <a:t>. IEEE, 2023.</a:t>
            </a:r>
          </a:p>
          <a:p>
            <a:endParaRPr lang="en-IN" sz="1400" dirty="0"/>
          </a:p>
          <a:p>
            <a:r>
              <a:rPr lang="en-IN" sz="1400" dirty="0">
                <a:latin typeface="+mj-lt"/>
              </a:rPr>
              <a:t>https://ijsrst.com/home/issue/view/article.php?id=IJSRST52310620</a:t>
            </a:r>
          </a:p>
          <a:p>
            <a:endParaRPr lang="en-IN" sz="1400" dirty="0">
              <a:latin typeface="+mj-lt"/>
            </a:endParaRPr>
          </a:p>
          <a:p>
            <a:r>
              <a:rPr lang="en-IN" sz="1400" dirty="0">
                <a:latin typeface="+mj-l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https://pubmed.ncbi.nlm.nih.gov/38580698/</a:t>
            </a:r>
            <a:endParaRPr lang="en-IN" sz="1400" dirty="0">
              <a:latin typeface="+mj-lt"/>
            </a:endParaRPr>
          </a:p>
          <a:p>
            <a:endParaRPr lang="en-IN" sz="1400" dirty="0">
              <a:latin typeface="+mj-lt"/>
            </a:endParaRPr>
          </a:p>
          <a:p>
            <a:r>
              <a:rPr lang="en-IN" sz="1400" dirty="0">
                <a:latin typeface="+mj-lt"/>
              </a:rPr>
              <a:t>http://www.jurnal.nips.ru/sites/default/files/A&amp;SE-1-2015-11_0.pdf</a:t>
            </a:r>
          </a:p>
          <a:p>
            <a:endParaRPr lang="en-IN" sz="1400" dirty="0">
              <a:latin typeface="+mj-lt"/>
            </a:endParaRPr>
          </a:p>
          <a:p>
            <a:endParaRPr lang="en-IN" sz="1400" dirty="0">
              <a:latin typeface="+mj-lt"/>
            </a:endParaRPr>
          </a:p>
          <a:p>
            <a:endParaRPr lang="en-IN" sz="1400" b="0" i="0" dirty="0">
              <a:effectLst/>
              <a:latin typeface="Arial" panose="020B0604020202020204" pitchFamily="34" charset="0"/>
            </a:endParaRPr>
          </a:p>
          <a:p>
            <a:endParaRPr lang="en-IN" sz="1400" dirty="0"/>
          </a:p>
          <a:p>
            <a:endParaRPr lang="en-IN" sz="1400" dirty="0"/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42FF227-8F5B-4241-30F4-B49EB5839066}"/>
              </a:ext>
            </a:extLst>
          </p:cNvPr>
          <p:cNvSpPr txBox="1"/>
          <p:nvPr/>
        </p:nvSpPr>
        <p:spPr>
          <a:xfrm>
            <a:off x="3203575" y="2270125"/>
            <a:ext cx="3024188" cy="7080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IN" sz="4000" dirty="0">
                <a:latin typeface="+mj-lt"/>
              </a:rPr>
              <a:t>Thank You</a:t>
            </a:r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>
        <a:spAutoFit/>
      </a:bodyPr>
      <a:lstStyle>
        <a:defPPr marL="457200" marR="0" indent="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Char char="•"/>
          <a:defRPr kumimoji="0" lang="en-US" sz="1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anose="020B060403050404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>
        <a:spAutoFit/>
      </a:bodyPr>
      <a:lstStyle>
        <a:defPPr marL="457200" marR="0" indent="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Char char="•"/>
          <a:defRPr kumimoji="0" lang="en-US" sz="1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anose="020B0604030504040204" pitchFamily="34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7001</TotalTime>
  <Words>1300</Words>
  <Application>Microsoft Office PowerPoint</Application>
  <PresentationFormat>On-screen Show (4:3)</PresentationFormat>
  <Paragraphs>256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Calibri</vt:lpstr>
      <vt:lpstr>Times New Roman</vt:lpstr>
      <vt:lpstr>Verdana</vt:lpstr>
      <vt:lpstr>Wingdings</vt:lpstr>
      <vt:lpstr>Default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Administrator</dc:creator>
  <cp:lastModifiedBy>Aswin Raaj</cp:lastModifiedBy>
  <cp:revision>938</cp:revision>
  <dcterms:created xsi:type="dcterms:W3CDTF">2015-03-06T06:18:00Z</dcterms:created>
  <dcterms:modified xsi:type="dcterms:W3CDTF">2026-09-05T14:10:25Z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1033-11.2.0.9984</vt:lpwstr>
  </property>
</Properties>
</file>