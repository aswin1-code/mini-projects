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7" r:id="rId4"/>
    <p:sldId id="256" r:id="rId5"/>
    <p:sldId id="293" r:id="rId6"/>
    <p:sldId id="294" r:id="rId7"/>
    <p:sldId id="296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97C5FE1-BFD5-4F09-BC55-AE2D76A0A692}">
          <p14:sldIdLst>
            <p14:sldId id="291"/>
            <p14:sldId id="281"/>
            <p14:sldId id="297"/>
            <p14:sldId id="256"/>
          </p14:sldIdLst>
        </p14:section>
        <p14:section name="Untitled Section" id="{FF0BA2A1-DC18-4F6F-A16F-E86BC12CC707}">
          <p14:sldIdLst>
            <p14:sldId id="293"/>
            <p14:sldId id="294"/>
          </p14:sldIdLst>
        </p14:section>
        <p14:section name="Untitled Section" id="{17163A6D-CB89-4F9F-9BA0-C47CDD78CDB8}">
          <p14:sldIdLst>
            <p14:sldId id="2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B0D4"/>
    <a:srgbClr val="92D050"/>
    <a:srgbClr val="9BBB59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Victor "Intelligence" smart racket chip
https://breathbadminton.com/smart-badminton-racket-victor-intelligence-new/
https://www.youtube.com/watch?v=fioHQbU0Quo
Coollang Xiaoyu 2.0 / 3.0
https://www.coollang-asia.com/badminton-sensor
STA 3.0 Smart Badminton Swing Analyzer
https://www.supremetennisathlete.com/products/sta-smart-badminton-training-swing-analyzer-bluetooth-activity-tracker-compatible-with-android-ios-phone
Usense Badminton Performance Sensor
https://www.badmintonbay.com/usense-wireless-badminton-sensor-tracker.html
Garmin "Badminton AI" watch app
https://apps.garmin.com/en-US/apps/48d817d2-364e-486d-8209-1e7483b96d5f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9/22/2026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9/22/2026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21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apps.garmin.com/en-US/apps/48d817d2-364e-486d-8209-1e7483b96d5f" TargetMode="External"/><Relationship Id="rId3" Type="http://schemas.openxmlformats.org/officeDocument/2006/relationships/hyperlink" Target="https://breathbadminton.com/smart-badminton-racket-victor-intelligence-new/" TargetMode="External"/><Relationship Id="rId7" Type="http://schemas.openxmlformats.org/officeDocument/2006/relationships/hyperlink" Target="https://www.badmintonbay.com/usense-wireless-badminton-sensor-tracker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supremetennisathlete.com/products/sta-smart-badminton-training-swing-analyzer-bluetooth-activity-tracker-compatible-with-android-ios-phone" TargetMode="External"/><Relationship Id="rId5" Type="http://schemas.openxmlformats.org/officeDocument/2006/relationships/hyperlink" Target="https://www.coollang-asia.com/badminton-sensor" TargetMode="External"/><Relationship Id="rId4" Type="http://schemas.openxmlformats.org/officeDocument/2006/relationships/hyperlink" Target="https://www.youtube.com/watch?v=fioHQbU0Quo" TargetMode="External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38/s41598-025-02771-9" TargetMode="External"/><Relationship Id="rId5" Type="http://schemas.openxmlformats.org/officeDocument/2006/relationships/hyperlink" Target="https://doi.org/10.1038/s41597-024-03144-z" TargetMode="External"/><Relationship Id="rId4" Type="http://schemas.openxmlformats.org/officeDocument/2006/relationships/hyperlink" Target="https://doi.org/10.1038/s41598-025-25158-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602093" y="1639070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0572" y="438411"/>
            <a:ext cx="7861738" cy="5827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SIH 26213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Powered Smart 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Badminton Fitness and Performance Analytics System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Fitness &amp; Sports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NOVA TITANS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4CFCD2E4-5A1C-9178-484F-F6AA869B10A3}"/>
              </a:ext>
            </a:extLst>
          </p:cNvPr>
          <p:cNvSpPr/>
          <p:nvPr/>
        </p:nvSpPr>
        <p:spPr>
          <a:xfrm>
            <a:off x="4310514" y="3841210"/>
            <a:ext cx="7797423" cy="20770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tx2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tx2">
                  <a:lumMod val="40000"/>
                  <a:lumOff val="60000"/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752AEB-1BCB-48E7-7290-BBCBAB499D4D}"/>
              </a:ext>
            </a:extLst>
          </p:cNvPr>
          <p:cNvSpPr/>
          <p:nvPr/>
        </p:nvSpPr>
        <p:spPr>
          <a:xfrm>
            <a:off x="4273994" y="925233"/>
            <a:ext cx="7722415" cy="2792161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3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3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1164413-89CB-EEBD-3D7F-59237B18DB4B}"/>
              </a:ext>
            </a:extLst>
          </p:cNvPr>
          <p:cNvSpPr/>
          <p:nvPr/>
        </p:nvSpPr>
        <p:spPr>
          <a:xfrm>
            <a:off x="79750" y="3522498"/>
            <a:ext cx="3967978" cy="156457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E8CF34-715A-AF20-E0F4-EFD1C7ADCC5B}"/>
              </a:ext>
            </a:extLst>
          </p:cNvPr>
          <p:cNvSpPr/>
          <p:nvPr/>
        </p:nvSpPr>
        <p:spPr>
          <a:xfrm>
            <a:off x="106664" y="1217870"/>
            <a:ext cx="3941064" cy="216997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1"/>
            <a:ext cx="1937930" cy="915054"/>
          </a:xfrm>
          <a:prstGeom prst="rect">
            <a:avLst/>
          </a:prstGeom>
        </p:spPr>
      </p:pic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95591" y="-79163"/>
            <a:ext cx="10972800" cy="114300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AI Powered Smart Badminton Fitness and</a:t>
            </a:r>
            <a:b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Performance Analytics System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61E9A7-E526-2F7A-4F13-F5EE0AB3B4BC}"/>
              </a:ext>
            </a:extLst>
          </p:cNvPr>
          <p:cNvSpPr txBox="1"/>
          <p:nvPr/>
        </p:nvSpPr>
        <p:spPr>
          <a:xfrm>
            <a:off x="120121" y="1589650"/>
            <a:ext cx="394106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Players evaluated mostly via coach observation without objective, measurable metrics</a:t>
            </a:r>
          </a:p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personalized progress analytics to track player improvement across sessions.</a:t>
            </a:r>
          </a:p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data on stroke speed, intensity, consistency, and fatigue during training.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CCA5DB-6BBB-9720-4B58-CDA8D634D271}"/>
              </a:ext>
            </a:extLst>
          </p:cNvPr>
          <p:cNvSpPr txBox="1"/>
          <p:nvPr/>
        </p:nvSpPr>
        <p:spPr>
          <a:xfrm>
            <a:off x="93207" y="1271886"/>
            <a:ext cx="2331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/ Challenge 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7B9A6C-8B91-BC47-C729-EAAC0ACE57C6}"/>
              </a:ext>
            </a:extLst>
          </p:cNvPr>
          <p:cNvSpPr txBox="1"/>
          <p:nvPr/>
        </p:nvSpPr>
        <p:spPr>
          <a:xfrm>
            <a:off x="147034" y="3992955"/>
            <a:ext cx="3941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systems track basic</a:t>
            </a:r>
            <a:r>
              <a:rPr lang="en-IN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stroke counts, swing speed, and activity using standard wearable sensors and IMUs.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04CA09-62BC-3A0F-FD2D-677A00C7DC98}"/>
              </a:ext>
            </a:extLst>
          </p:cNvPr>
          <p:cNvSpPr txBox="1"/>
          <p:nvPr/>
        </p:nvSpPr>
        <p:spPr>
          <a:xfrm>
            <a:off x="147034" y="3562013"/>
            <a:ext cx="2532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 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910730-3AAD-72DB-659F-BD668EC5A349}"/>
              </a:ext>
            </a:extLst>
          </p:cNvPr>
          <p:cNvSpPr txBox="1"/>
          <p:nvPr/>
        </p:nvSpPr>
        <p:spPr>
          <a:xfrm>
            <a:off x="4273994" y="1269065"/>
            <a:ext cx="75674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AI/ML-Based Player Assessment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Analyse strokes and performance using sensor data.</a:t>
            </a:r>
          </a:p>
          <a:p>
            <a:pPr lvl="0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Personalized Training Analytics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Track individual baselines, strengths and improvement.</a:t>
            </a:r>
          </a:p>
          <a:p>
            <a:pPr lvl="0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Fitness &amp; Performance Monitoring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Monitor intensity, consistency, workload and fatigue.</a:t>
            </a:r>
          </a:p>
          <a:p>
            <a:pPr lvl="0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Smart Player Profiling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Combine session and benchmark data for player insights.</a:t>
            </a:r>
          </a:p>
          <a:p>
            <a:pPr lvl="0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Affordable Smart-Racket Platform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 a compact solution for training and assessment.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94364D-EB17-3F9C-53F9-F1CCA93FF041}"/>
              </a:ext>
            </a:extLst>
          </p:cNvPr>
          <p:cNvSpPr txBox="1"/>
          <p:nvPr/>
        </p:nvSpPr>
        <p:spPr>
          <a:xfrm>
            <a:off x="4287450" y="939765"/>
            <a:ext cx="322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Proposed Solution 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044263-C418-7962-D36A-DE2229D9269B}"/>
              </a:ext>
            </a:extLst>
          </p:cNvPr>
          <p:cNvSpPr txBox="1"/>
          <p:nvPr/>
        </p:nvSpPr>
        <p:spPr>
          <a:xfrm>
            <a:off x="4322191" y="4270569"/>
            <a:ext cx="8794242" cy="1525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Dual-Signal Stroke Validation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IMU  confirms racket–shuttle impact. </a:t>
            </a:r>
          </a:p>
          <a:p>
            <a:pPr lvl="0"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Two-Stage Data Processing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Threshold detection followed by ML analysis. </a:t>
            </a:r>
          </a:p>
          <a:p>
            <a:pPr lvl="0"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Multi-Model Intelligence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Separate ML models for stroke and intensity classification. </a:t>
            </a:r>
          </a:p>
          <a:p>
            <a:pPr lvl="0"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Benchmark Gap Analysis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Compare player data with trained pro-player reference data.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1445A0-75D2-8337-2D1D-69658FDB5865}"/>
              </a:ext>
            </a:extLst>
          </p:cNvPr>
          <p:cNvSpPr txBox="1"/>
          <p:nvPr/>
        </p:nvSpPr>
        <p:spPr>
          <a:xfrm>
            <a:off x="4287450" y="4039122"/>
            <a:ext cx="322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and Uniqueness :</a:t>
            </a:r>
          </a:p>
        </p:txBody>
      </p:sp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21F4E27F-00B7-0F1D-95A2-E4B0A8D2E79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95591" y="148752"/>
            <a:ext cx="1471595" cy="81159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NOVA TITANS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EE133C-D9CA-D091-2825-AD2542273E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232708" y="4689958"/>
            <a:ext cx="1171441" cy="20825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12551" y="88034"/>
            <a:ext cx="1783645" cy="82408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NOVA</a:t>
            </a:r>
            <a:r>
              <a:rPr lang="en-GB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GB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TITANS</a:t>
            </a:r>
            <a:endParaRPr lang="en-IN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10589316" y="51891"/>
            <a:ext cx="1490133" cy="8963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5ADA13-9121-EDD2-2642-5C64D7DBF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399" y="1033872"/>
            <a:ext cx="5450049" cy="34103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290298-EFE4-AD3F-ABED-363BB301A96D}"/>
              </a:ext>
            </a:extLst>
          </p:cNvPr>
          <p:cNvSpPr txBox="1"/>
          <p:nvPr/>
        </p:nvSpPr>
        <p:spPr>
          <a:xfrm>
            <a:off x="3669030" y="99193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endParaRPr lang="en-IN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DF0D4CF-9F56-EDF1-ABFC-C4B3136FD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10" y="4367502"/>
            <a:ext cx="3005527" cy="172240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A5C37B6-E9E4-02CD-0C64-BCE09DA80E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7537" y="842552"/>
            <a:ext cx="3346183" cy="347870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7D2E804-DFFF-18B7-FBA4-7CFA4CDD1A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8699" y="4541396"/>
            <a:ext cx="3112587" cy="1694192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1B13B5D4-3C13-85B1-AD51-F2A8DB5CA9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7333" y="4733998"/>
            <a:ext cx="2899329" cy="124333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3A16DA6-698E-64EF-8E8D-7496869A1C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" y="948267"/>
            <a:ext cx="2421232" cy="2480733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F5CC54E8-61FD-26F6-6F79-BC533E196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813" y="6362989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05241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C86ACCE-A5C1-E76F-71E7-5D2B589F8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ext 0"/>
          <p:cNvSpPr txBox="1"/>
          <p:nvPr/>
        </p:nvSpPr>
        <p:spPr>
          <a:xfrm>
            <a:off x="228600" y="2286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GAP ANALYSIS: COMMERCIAL VS OUR PRODUCT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453896" y="859536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327047"/>
              </p:ext>
            </p:extLst>
          </p:nvPr>
        </p:nvGraphicFramePr>
        <p:xfrm>
          <a:off x="365760" y="1143000"/>
          <a:ext cx="11430000" cy="4681728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link / article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of the commercial 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Features (Price: ₹2,000)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3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Victor "Intelligence" smart racket chip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56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 end-cap sensor; app for smash power, shot mix, session trends.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3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Price: not announced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u="sng" dirty="0">
                          <a:solidFill>
                            <a:srgbClr val="0B5C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3" tooltip="https://breathbadminton.com/smart-badminton-racket-victor-intelligence-new/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Breath Badminton article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u="sng" dirty="0">
                          <a:solidFill>
                            <a:srgbClr val="0B5C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4" tooltip="https://www.youtube.com/watch?v=fioHQbU0Quo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Badminton Insight video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Unreleased; only smash power and shot mix.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Injury prediction, swing filter, intensity classes, pro benchmark.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3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Coollang Xiaoyu 2.0 / 3.0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56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Racket-end Bluetooth sensor.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3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Price: ~₹7,320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u="sng" dirty="0">
                          <a:solidFill>
                            <a:srgbClr val="0B5C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5" tooltip="https://www.coollang-asia.com/badminton-sensor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Coollang product page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drop shot, benchmark or injury prediction.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Drop-shot detection, intensity classes, pro benchmark, injury prediction.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3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 3.0 Smart Badminton Swing Analyzer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56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Racket sensor + phone app. </a:t>
                      </a:r>
                      <a:r>
                        <a:rPr lang="en-US" sz="1100" b="1" dirty="0">
                          <a:solidFill>
                            <a:srgbClr val="0B3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Price: ₹11,520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u="sng" dirty="0">
                          <a:solidFill>
                            <a:srgbClr val="0B5C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6" tooltip="https://www.supremetennisathlete.com/products/sta-smart-badminton-training-swing-analyzer-bluetooth-activity-tracker-compatible-with-android-ios-phon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STA product page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shot count, speed and calories.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Stroke classes, intensity, swing filter, tracking, injury prediction.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3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Usense Badminton Performance Sensor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56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g racket sensor with 3D replay. </a:t>
                      </a:r>
                      <a:r>
                        <a:rPr lang="en-US" sz="1100" b="1" dirty="0">
                          <a:solidFill>
                            <a:srgbClr val="0B3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Price: ₹6,790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u="sng" dirty="0">
                          <a:solidFill>
                            <a:srgbClr val="0B5C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7" tooltip="https://www.badmintonbay.com/usense-wireless-badminton-sensor-tracker.html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BadmintonBay product page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swing replay and string advice.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Stroke and intensity classes, swing filter, injury prediction.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3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Garmin "Badminton AI" watch app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56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Wrist accelerometer stroke counter. </a:t>
                      </a:r>
                      <a:r>
                        <a:rPr lang="en-US" sz="1100" b="1" dirty="0">
                          <a:solidFill>
                            <a:srgbClr val="0B3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Price: ~₹770 one-time (app) + Garmin watch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u="sng" dirty="0">
                          <a:solidFill>
                            <a:srgbClr val="0B5C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8" tooltip="https://apps.garmin.com/en-US/apps/48d817d2-364e-486d-8209-1e7483b96d5f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Garmin Connect IQ store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counts strokes; needs a Garmin watch.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Racket-mounted IMU: stroke, intensity, validity and injury prediction.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85F0D8-484A-3333-151E-38E6D90EA29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070" y="0"/>
            <a:ext cx="1937930" cy="915054"/>
          </a:xfrm>
          <a:prstGeom prst="rect">
            <a:avLst/>
          </a:prstGeom>
        </p:spPr>
      </p:pic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05ED8BD6-EE89-5C46-57E0-9FEE87A6E58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74264"/>
            <a:ext cx="1471595" cy="81159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NOVA TITANS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81A9636-46B5-B9BE-2FB5-7CE2D8BE8F01}"/>
              </a:ext>
            </a:extLst>
          </p:cNvPr>
          <p:cNvSpPr/>
          <p:nvPr/>
        </p:nvSpPr>
        <p:spPr>
          <a:xfrm>
            <a:off x="7936475" y="948973"/>
            <a:ext cx="4108152" cy="1370939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4FF3F5F-AD96-5432-35B8-3D6B9F0DE306}"/>
              </a:ext>
            </a:extLst>
          </p:cNvPr>
          <p:cNvSpPr/>
          <p:nvPr/>
        </p:nvSpPr>
        <p:spPr>
          <a:xfrm>
            <a:off x="7936475" y="4538088"/>
            <a:ext cx="4108152" cy="139636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344C046-BDC8-ED29-2B9A-BA8BA12462F4}"/>
              </a:ext>
            </a:extLst>
          </p:cNvPr>
          <p:cNvSpPr/>
          <p:nvPr/>
        </p:nvSpPr>
        <p:spPr>
          <a:xfrm>
            <a:off x="7936475" y="2500034"/>
            <a:ext cx="4108152" cy="178850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5299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319254"/>
            <a:ext cx="109728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610" y="-97356"/>
            <a:ext cx="1612390" cy="761341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56241453-686F-6874-C12D-E165E335320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6132" y="41934"/>
            <a:ext cx="147159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NOVA TITANS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41BE6E-9015-74AC-E2C4-5E4A95E96A7B}"/>
              </a:ext>
            </a:extLst>
          </p:cNvPr>
          <p:cNvSpPr txBox="1"/>
          <p:nvPr/>
        </p:nvSpPr>
        <p:spPr>
          <a:xfrm>
            <a:off x="7936475" y="1046157"/>
            <a:ext cx="4288533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Product uses readily available imu and esp32 hardware.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Modular design supports future sensor and analytics upgrades. </a:t>
            </a:r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Sensor Noise: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Racket vibration may cause false impact detection. 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Power: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loss and battery consumption during continuous operation. 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Personalization: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Different playing styles make universal baselines difficult. </a:t>
            </a: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IMU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filtering and player-specific calibration. 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buffering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communication reliability. 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Longitudinal analysis and Multi-session baselines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efficiency and personalization.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694382-12D1-F016-2B80-1A759CAC9EEA}"/>
              </a:ext>
            </a:extLst>
          </p:cNvPr>
          <p:cNvSpPr txBox="1"/>
          <p:nvPr/>
        </p:nvSpPr>
        <p:spPr>
          <a:xfrm>
            <a:off x="2117327" y="461218"/>
            <a:ext cx="4283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D61E80-2796-AE42-6912-68B0C41A3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23253"/>
            <a:ext cx="7741404" cy="25120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8D8775B-1056-EDDD-06B8-8E7FC06B04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99" y="3512453"/>
            <a:ext cx="7852660" cy="233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874060CA-0A97-9E1B-3F76-6F2055623136}"/>
              </a:ext>
            </a:extLst>
          </p:cNvPr>
          <p:cNvSpPr/>
          <p:nvPr/>
        </p:nvSpPr>
        <p:spPr>
          <a:xfrm>
            <a:off x="8057646" y="4346458"/>
            <a:ext cx="3999775" cy="164306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41F121E8-E5DB-514A-A466-A779284D0DA1}"/>
              </a:ext>
            </a:extLst>
          </p:cNvPr>
          <p:cNvSpPr/>
          <p:nvPr/>
        </p:nvSpPr>
        <p:spPr>
          <a:xfrm>
            <a:off x="3852425" y="4389082"/>
            <a:ext cx="3999775" cy="164306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42D081D-26F7-2FBE-A9AB-0B00A5D60407}"/>
              </a:ext>
            </a:extLst>
          </p:cNvPr>
          <p:cNvSpPr/>
          <p:nvPr/>
        </p:nvSpPr>
        <p:spPr>
          <a:xfrm>
            <a:off x="83844" y="4410394"/>
            <a:ext cx="3589831" cy="164306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1C5C6B3-0FCF-0A7E-790A-95B7F769797F}"/>
              </a:ext>
            </a:extLst>
          </p:cNvPr>
          <p:cNvSpPr/>
          <p:nvPr/>
        </p:nvSpPr>
        <p:spPr>
          <a:xfrm>
            <a:off x="7852200" y="1560574"/>
            <a:ext cx="4254456" cy="156845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57AC30E-5510-8CB8-21D8-A43B7AB954CA}"/>
              </a:ext>
            </a:extLst>
          </p:cNvPr>
          <p:cNvSpPr/>
          <p:nvPr/>
        </p:nvSpPr>
        <p:spPr>
          <a:xfrm>
            <a:off x="3564683" y="1560574"/>
            <a:ext cx="4060714" cy="156845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E42AF86-1BC7-6D7D-772C-D26C2B949529}"/>
              </a:ext>
            </a:extLst>
          </p:cNvPr>
          <p:cNvSpPr/>
          <p:nvPr/>
        </p:nvSpPr>
        <p:spPr>
          <a:xfrm>
            <a:off x="4017880" y="656310"/>
            <a:ext cx="4060715" cy="392744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Audience Impact Analysis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DCDFAFD-44A5-0FA0-2774-52995261CA1E}"/>
              </a:ext>
            </a:extLst>
          </p:cNvPr>
          <p:cNvSpPr/>
          <p:nvPr/>
        </p:nvSpPr>
        <p:spPr>
          <a:xfrm>
            <a:off x="303727" y="1604987"/>
            <a:ext cx="2944368" cy="156845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807334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2720" y="1501"/>
            <a:ext cx="1697216" cy="801394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4A23C977-0787-7DC7-195D-8258CD9A659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04439"/>
            <a:ext cx="147159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NOVA TITANS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14DDD6-ED69-6F0D-CF83-27ADFC72D000}"/>
              </a:ext>
            </a:extLst>
          </p:cNvPr>
          <p:cNvSpPr txBox="1"/>
          <p:nvPr/>
        </p:nvSpPr>
        <p:spPr>
          <a:xfrm>
            <a:off x="349020" y="1604987"/>
            <a:ext cx="294436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Players &amp; Beginners</a:t>
            </a:r>
          </a:p>
          <a:p>
            <a:pPr lvl="0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measurable feedback on stroke quality, consistency and progress. Identify individual strengths and areas for improvement.</a:t>
            </a:r>
          </a:p>
          <a:p>
            <a:pPr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886E37-9904-B50C-FDCB-189F8CC7BAC0}"/>
              </a:ext>
            </a:extLst>
          </p:cNvPr>
          <p:cNvSpPr txBox="1"/>
          <p:nvPr/>
        </p:nvSpPr>
        <p:spPr>
          <a:xfrm>
            <a:off x="3542437" y="1503466"/>
            <a:ext cx="40607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Coaches &amp; Badminton Academies</a:t>
            </a:r>
          </a:p>
          <a:p>
            <a:pPr lvl="0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data-driven player evaluation beyond visual observation. Monitor player performance and development across training sessions.</a:t>
            </a:r>
            <a:r>
              <a:rPr lang="en-IN" sz="1600" dirty="0"/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training needs and support personalized coaching strategies</a:t>
            </a:r>
            <a:r>
              <a:rPr lang="en-IN" sz="1600" dirty="0"/>
              <a:t>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150284-8075-AFAA-BE79-E954E6E34787}"/>
              </a:ext>
            </a:extLst>
          </p:cNvPr>
          <p:cNvSpPr txBox="1"/>
          <p:nvPr/>
        </p:nvSpPr>
        <p:spPr>
          <a:xfrm>
            <a:off x="7969222" y="1560574"/>
            <a:ext cx="40607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Schools &amp; Talent Programs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low-cost talent identification and structured grassroots coaching across schools, colleges and district academies.</a:t>
            </a:r>
          </a:p>
          <a:p>
            <a:pPr algn="just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FE5F2BA1-A6D9-1037-6A98-8411CC8128A8}"/>
              </a:ext>
            </a:extLst>
          </p:cNvPr>
          <p:cNvCxnSpPr>
            <a:cxnSpLocks/>
            <a:stCxn id="9" idx="3"/>
            <a:endCxn id="16" idx="0"/>
          </p:cNvCxnSpPr>
          <p:nvPr/>
        </p:nvCxnSpPr>
        <p:spPr>
          <a:xfrm>
            <a:off x="8078595" y="852682"/>
            <a:ext cx="1920984" cy="70789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6ECD6E4-40BF-722A-03AE-4C1A7B33EB0D}"/>
              </a:ext>
            </a:extLst>
          </p:cNvPr>
          <p:cNvCxnSpPr>
            <a:cxnSpLocks/>
          </p:cNvCxnSpPr>
          <p:nvPr/>
        </p:nvCxnSpPr>
        <p:spPr>
          <a:xfrm>
            <a:off x="5956798" y="1049054"/>
            <a:ext cx="0" cy="511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18874953-3A5A-D633-E611-0EFED953B7B2}"/>
              </a:ext>
            </a:extLst>
          </p:cNvPr>
          <p:cNvCxnSpPr>
            <a:cxnSpLocks/>
            <a:stCxn id="38" idx="1"/>
            <a:endCxn id="40" idx="0"/>
          </p:cNvCxnSpPr>
          <p:nvPr/>
        </p:nvCxnSpPr>
        <p:spPr>
          <a:xfrm rot="10800000" flipV="1">
            <a:off x="1824265" y="3564924"/>
            <a:ext cx="2193617" cy="86678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6790B74-4B70-C932-F5A3-5407124155B8}"/>
              </a:ext>
            </a:extLst>
          </p:cNvPr>
          <p:cNvSpPr/>
          <p:nvPr/>
        </p:nvSpPr>
        <p:spPr>
          <a:xfrm>
            <a:off x="4017881" y="3368552"/>
            <a:ext cx="4060715" cy="392744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Analysis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B3B73D2-19B1-6727-4A36-2B5BF48790ED}"/>
              </a:ext>
            </a:extLst>
          </p:cNvPr>
          <p:cNvSpPr txBox="1"/>
          <p:nvPr/>
        </p:nvSpPr>
        <p:spPr>
          <a:xfrm>
            <a:off x="83844" y="4431706"/>
            <a:ext cx="348083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&amp; Performance Benefits</a:t>
            </a:r>
          </a:p>
          <a:p>
            <a:pPr lvl="0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session-wise and long-term performance tracking. Helps establish measurable benchmarks for player development.</a:t>
            </a:r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C9627F-0CB5-4682-4131-DC761069FCF8}"/>
              </a:ext>
            </a:extLst>
          </p:cNvPr>
          <p:cNvSpPr txBox="1"/>
          <p:nvPr/>
        </p:nvSpPr>
        <p:spPr>
          <a:xfrm>
            <a:off x="3852425" y="4389082"/>
            <a:ext cx="3917479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&amp; Technology Benefits</a:t>
            </a:r>
          </a:p>
          <a:p>
            <a:pPr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IMU design can extend to other racket sports through retrained ML models, with cloud-ready data pipelines for future upgrades.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314D6D7-5289-B110-1927-C3A4BAA0E25E}"/>
              </a:ext>
            </a:extLst>
          </p:cNvPr>
          <p:cNvSpPr txBox="1"/>
          <p:nvPr/>
        </p:nvSpPr>
        <p:spPr>
          <a:xfrm>
            <a:off x="8120487" y="4310025"/>
            <a:ext cx="3758184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Benefits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Affordable and portable compared with high-end sports analytics systems.  Can be deployed across multiple players and training centres at relatively low hardware cost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D26DC32C-C5E3-1664-F584-8A8A34E1E140}"/>
              </a:ext>
            </a:extLst>
          </p:cNvPr>
          <p:cNvCxnSpPr>
            <a:cxnSpLocks/>
            <a:stCxn id="38" idx="3"/>
            <a:endCxn id="43" idx="0"/>
          </p:cNvCxnSpPr>
          <p:nvPr/>
        </p:nvCxnSpPr>
        <p:spPr>
          <a:xfrm>
            <a:off x="8078596" y="3564924"/>
            <a:ext cx="1920983" cy="74510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519F5DCE-B5DB-D264-F1C1-C11247C93E6A}"/>
              </a:ext>
            </a:extLst>
          </p:cNvPr>
          <p:cNvCxnSpPr>
            <a:cxnSpLocks/>
            <a:stCxn id="9" idx="1"/>
            <a:endCxn id="5" idx="0"/>
          </p:cNvCxnSpPr>
          <p:nvPr/>
        </p:nvCxnSpPr>
        <p:spPr>
          <a:xfrm rot="10800000" flipV="1">
            <a:off x="1821204" y="852681"/>
            <a:ext cx="2196676" cy="75230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7F6E373-6B00-CD13-9338-2A4C90C95C40}"/>
              </a:ext>
            </a:extLst>
          </p:cNvPr>
          <p:cNvCxnSpPr>
            <a:cxnSpLocks/>
          </p:cNvCxnSpPr>
          <p:nvPr/>
        </p:nvCxnSpPr>
        <p:spPr>
          <a:xfrm>
            <a:off x="5969996" y="3761296"/>
            <a:ext cx="0" cy="627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60475" y="-135022"/>
            <a:ext cx="109728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A227D7E2-6140-1BE3-89BE-6551EB650C9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60475" y="198690"/>
            <a:ext cx="147159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NOVA TITANS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3E6EF7-F7F1-CE8F-6A40-D3C83A139138}"/>
              </a:ext>
            </a:extLst>
          </p:cNvPr>
          <p:cNvSpPr txBox="1"/>
          <p:nvPr/>
        </p:nvSpPr>
        <p:spPr>
          <a:xfrm>
            <a:off x="329773" y="1144500"/>
            <a:ext cx="10326624" cy="4562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Wearable Sensing &amp; AI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Jin, G., LI, X. Wearable sensing for badminton stroke recognition with one-dimensional convolutional neural network. 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 Rep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41236 (2025).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https://doi.org/10.1038/s41598-025-25158-2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Badminton Biomechanics &amp; Performance Dataset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Seong, M., Kim, G., Yeo, D. 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MultiSenseBadminton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Wearable Sensor–Based Biomechanical Dataset for Evaluation of Badminton Performance. 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 Data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343 (2024).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https://doi.org/10.1038/s41597-024-03144-z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AI-Based Badminton Motion Analysis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Zhu, X., Liu, L., Huang, J. 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analysis of motion recognition model for badminton player movements using machine learning. 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 Rep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19030 (2025).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https://doi.org/10.1038/s41598-025-02771-9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Jacob, Alvin, Wan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Nurshazwani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Wan Zakaria, and Mohd Razali Bin Md Tomari. "Implementation of IMU sensor for elbow movement measurement of badminton players." 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2016 2nd IEEE International Symposium on Robotics and Manufacturing Automation (ROMA)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IEEE, 2016.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Li, Li, and Feng Li. "Recognizing badminton hitting movements Based on Multi-sensor trajectory recognition algorithm." 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 3rd International Conference on Information Technology and Contemporary Sports (TCS)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IEEE, 2023.</a:t>
            </a:r>
          </a:p>
          <a:p>
            <a:endParaRPr lang="en-IN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8778</TotalTime>
  <Words>1128</Words>
  <Application>Microsoft Office PowerPoint</Application>
  <PresentationFormat>Widescreen</PresentationFormat>
  <Paragraphs>122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AI Powered Smart Badminton Fitness and  Performance Analytics System</vt:lpstr>
      <vt:lpstr>PowerPoint Presentation</vt:lpstr>
      <vt:lpstr>PowerPoint Presentation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Aswin Raaj</cp:lastModifiedBy>
  <cp:revision>252</cp:revision>
  <cp:lastPrinted>2026-09-01T09:40:56Z</cp:lastPrinted>
  <dcterms:created xsi:type="dcterms:W3CDTF">2013-12-12T18:46:50Z</dcterms:created>
  <dcterms:modified xsi:type="dcterms:W3CDTF">2026-09-22T14:02:25Z</dcterms:modified>
</cp:coreProperties>
</file>