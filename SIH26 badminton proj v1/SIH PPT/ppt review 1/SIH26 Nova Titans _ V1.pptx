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C5FE1-BFD5-4F09-BC55-AE2D76A0A692}">
          <p14:sldIdLst>
            <p14:sldId id="291"/>
            <p14:sldId id="281"/>
            <p14:sldId id="290"/>
            <p14:sldId id="293"/>
            <p14:sldId id="294"/>
          </p14:sldIdLst>
        </p14:section>
        <p14:section name="Untitled Section" id="{17163A6D-CB89-4F9F-9BA0-C47CDD78CDB8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5-02771-9" TargetMode="External"/><Relationship Id="rId5" Type="http://schemas.openxmlformats.org/officeDocument/2006/relationships/hyperlink" Target="https://doi.org/10.1038/s41597-024-03144-z" TargetMode="External"/><Relationship Id="rId4" Type="http://schemas.openxmlformats.org/officeDocument/2006/relationships/hyperlink" Target="https://doi.org/10.1038/s41598-025-2515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02093" y="163907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572" y="438411"/>
            <a:ext cx="7861738" cy="508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 26213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Badminton Fitness and Performance Analytics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FCD2E4-5A1C-9178-484F-F6AA869B10A3}"/>
              </a:ext>
            </a:extLst>
          </p:cNvPr>
          <p:cNvSpPr/>
          <p:nvPr/>
        </p:nvSpPr>
        <p:spPr>
          <a:xfrm>
            <a:off x="4232512" y="3917136"/>
            <a:ext cx="7797423" cy="2301104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52AEB-1BCB-48E7-7290-BBCBAB499D4D}"/>
              </a:ext>
            </a:extLst>
          </p:cNvPr>
          <p:cNvSpPr/>
          <p:nvPr/>
        </p:nvSpPr>
        <p:spPr>
          <a:xfrm>
            <a:off x="4273994" y="925233"/>
            <a:ext cx="7722415" cy="279216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F2BA2-0B6C-AB09-F090-1EBE6F065494}"/>
              </a:ext>
            </a:extLst>
          </p:cNvPr>
          <p:cNvSpPr/>
          <p:nvPr/>
        </p:nvSpPr>
        <p:spPr>
          <a:xfrm>
            <a:off x="52837" y="4989898"/>
            <a:ext cx="3935974" cy="126137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64413-89CB-EEBD-3D7F-59237B18DB4B}"/>
              </a:ext>
            </a:extLst>
          </p:cNvPr>
          <p:cNvSpPr/>
          <p:nvPr/>
        </p:nvSpPr>
        <p:spPr>
          <a:xfrm>
            <a:off x="52837" y="3332185"/>
            <a:ext cx="3967978" cy="15645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8CF34-715A-AF20-E0F4-EFD1C7ADCC5B}"/>
              </a:ext>
            </a:extLst>
          </p:cNvPr>
          <p:cNvSpPr/>
          <p:nvPr/>
        </p:nvSpPr>
        <p:spPr>
          <a:xfrm>
            <a:off x="93207" y="953797"/>
            <a:ext cx="3941064" cy="2169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5591" y="148752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591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 Powered Smart Badminton Fitness and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Performance Analytics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1E9A7-E526-2F7A-4F13-F5EE0AB3B4BC}"/>
              </a:ext>
            </a:extLst>
          </p:cNvPr>
          <p:cNvSpPr txBox="1"/>
          <p:nvPr/>
        </p:nvSpPr>
        <p:spPr>
          <a:xfrm>
            <a:off x="93207" y="1291752"/>
            <a:ext cx="3941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evaluated mostly via coach observation without objective, measurable metrics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personalized progress analytics to track player improvement across sessions.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on stroke speed, intensity, consistency, and fatigue during training.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CA5DB-6BBB-9720-4B58-CDA8D634D271}"/>
              </a:ext>
            </a:extLst>
          </p:cNvPr>
          <p:cNvSpPr txBox="1"/>
          <p:nvPr/>
        </p:nvSpPr>
        <p:spPr>
          <a:xfrm>
            <a:off x="93207" y="953797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Challenge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B9A6C-8B91-BC47-C729-EAAC0ACE57C6}"/>
              </a:ext>
            </a:extLst>
          </p:cNvPr>
          <p:cNvSpPr txBox="1"/>
          <p:nvPr/>
        </p:nvSpPr>
        <p:spPr>
          <a:xfrm>
            <a:off x="93207" y="3734232"/>
            <a:ext cx="39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track basic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counts, swing speed, and activity using standard wearable sensors and IMUs.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4CA09-62BC-3A0F-FD2D-677A00C7DC98}"/>
              </a:ext>
            </a:extLst>
          </p:cNvPr>
          <p:cNvSpPr txBox="1"/>
          <p:nvPr/>
        </p:nvSpPr>
        <p:spPr>
          <a:xfrm>
            <a:off x="93207" y="3348062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C80C3-B310-6BCB-B3EF-D55836CCEDEC}"/>
              </a:ext>
            </a:extLst>
          </p:cNvPr>
          <p:cNvSpPr txBox="1"/>
          <p:nvPr/>
        </p:nvSpPr>
        <p:spPr>
          <a:xfrm>
            <a:off x="66294" y="5338769"/>
            <a:ext cx="39225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Player Assessment 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Skill + Fitness Analysis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&amp; Affordable Racket System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BBEC8-032F-6AD4-1388-3681C733DCCC}"/>
              </a:ext>
            </a:extLst>
          </p:cNvPr>
          <p:cNvSpPr txBox="1"/>
          <p:nvPr/>
        </p:nvSpPr>
        <p:spPr>
          <a:xfrm>
            <a:off x="66294" y="5033278"/>
            <a:ext cx="271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10730-3AAD-72DB-659F-BD668EC5A349}"/>
              </a:ext>
            </a:extLst>
          </p:cNvPr>
          <p:cNvSpPr txBox="1"/>
          <p:nvPr/>
        </p:nvSpPr>
        <p:spPr>
          <a:xfrm>
            <a:off x="4273994" y="1269065"/>
            <a:ext cx="75674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AI/ML-Based Player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strokes and performance using sensor data.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Personalized Training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individual baselines, strengths and improvement.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Fitness &amp; Performance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intensity, consistency, workload and fatigue.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Smart Player Profiling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session and benchmark data for player insights.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Affordable Smart-Racket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compact solution for training and assessment.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4364D-EB17-3F9C-53F9-F1CCA93FF041}"/>
              </a:ext>
            </a:extLst>
          </p:cNvPr>
          <p:cNvSpPr txBox="1"/>
          <p:nvPr/>
        </p:nvSpPr>
        <p:spPr>
          <a:xfrm>
            <a:off x="4287450" y="939765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4263-C418-7962-D36A-DE2229D9269B}"/>
              </a:ext>
            </a:extLst>
          </p:cNvPr>
          <p:cNvSpPr txBox="1"/>
          <p:nvPr/>
        </p:nvSpPr>
        <p:spPr>
          <a:xfrm>
            <a:off x="4313047" y="4270569"/>
            <a:ext cx="8794242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Dual-Signal Stroke Validation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IMU + piezo confirms racket–shuttle impact.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Two-Stage Data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Threshold detection followed by ML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Multi-Model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ML models for stroke and intensity classification.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Benchmark Gap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player data with trained pro-player reference data.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V1 → V2 Evolution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Upgrade the proven prototype with better sensing and connectivity.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445A0-75D2-8337-2D1D-69658FDB5865}"/>
              </a:ext>
            </a:extLst>
          </p:cNvPr>
          <p:cNvSpPr txBox="1"/>
          <p:nvPr/>
        </p:nvSpPr>
        <p:spPr>
          <a:xfrm>
            <a:off x="4287450" y="4039122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3269B5-4A71-EEF2-07A3-C75EE23C0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94364">
            <a:off x="678642" y="110058"/>
            <a:ext cx="2269128" cy="403400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9406288-1EB1-6288-D142-E0FDEFFE413C}"/>
              </a:ext>
            </a:extLst>
          </p:cNvPr>
          <p:cNvSpPr/>
          <p:nvPr/>
        </p:nvSpPr>
        <p:spPr>
          <a:xfrm>
            <a:off x="676000" y="3497711"/>
            <a:ext cx="6904376" cy="26266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AD7D53-4ACB-1F84-EC65-17A65B83A158}"/>
              </a:ext>
            </a:extLst>
          </p:cNvPr>
          <p:cNvSpPr/>
          <p:nvPr/>
        </p:nvSpPr>
        <p:spPr>
          <a:xfrm>
            <a:off x="3587978" y="1014055"/>
            <a:ext cx="4536092" cy="224829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3566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34242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21679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69574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-101245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3D84645-D49C-7561-115D-60B26E4B8B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53758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CC5B-AB0B-35E2-6923-7C63A1CBA987}"/>
              </a:ext>
            </a:extLst>
          </p:cNvPr>
          <p:cNvSpPr txBox="1"/>
          <p:nvPr/>
        </p:nvSpPr>
        <p:spPr>
          <a:xfrm>
            <a:off x="3722060" y="1414925"/>
            <a:ext cx="44020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 nRF52840, MPU6050 IMU, Piezo vibration sensor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Communication: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BLE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Programming: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C/C++, Python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multiple classification models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Analytics: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NumPy, Streamlit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 / Player Benchmark Dataset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C6E49-1705-D44A-E79C-118A23CFB5D5}"/>
              </a:ext>
            </a:extLst>
          </p:cNvPr>
          <p:cNvSpPr txBox="1"/>
          <p:nvPr/>
        </p:nvSpPr>
        <p:spPr>
          <a:xfrm>
            <a:off x="3689230" y="1014055"/>
            <a:ext cx="313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2F6F3-3D88-0373-0152-51D96B77CCB1}"/>
              </a:ext>
            </a:extLst>
          </p:cNvPr>
          <p:cNvSpPr txBox="1"/>
          <p:nvPr/>
        </p:nvSpPr>
        <p:spPr>
          <a:xfrm>
            <a:off x="856173" y="3497711"/>
            <a:ext cx="337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1 ( Working Prototype 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B6A9FB9-61D1-F7E2-E99C-C9E71BD37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060" y="321033"/>
            <a:ext cx="8423849" cy="61055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3C18B74-CFD0-C510-DA0D-E7B8A014B114}"/>
              </a:ext>
            </a:extLst>
          </p:cNvPr>
          <p:cNvSpPr txBox="1"/>
          <p:nvPr/>
        </p:nvSpPr>
        <p:spPr>
          <a:xfrm>
            <a:off x="856172" y="3816048"/>
            <a:ext cx="71244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Smart Racket Prototype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ESP32 + MPU6050 sensor integration completed.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Real-Time Swing Detection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Sensor data acquisition and swing detection implemented.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Speed, impact, duration and related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 features calculated.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ML Classification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Stroke(Smash, Drop, Clear, Drive) and Swing (Weak, Medium, Strong) classification implemented.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Performance 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Streamlit-based session analysis, comparison and player insights developed.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1A9636-46B5-B9BE-2FB5-7CE2D8BE8F01}"/>
              </a:ext>
            </a:extLst>
          </p:cNvPr>
          <p:cNvSpPr/>
          <p:nvPr/>
        </p:nvSpPr>
        <p:spPr>
          <a:xfrm>
            <a:off x="7776732" y="768118"/>
            <a:ext cx="4108152" cy="172934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FF3F5F-AD96-5432-35B8-3D6B9F0DE306}"/>
              </a:ext>
            </a:extLst>
          </p:cNvPr>
          <p:cNvSpPr/>
          <p:nvPr/>
        </p:nvSpPr>
        <p:spPr>
          <a:xfrm>
            <a:off x="7776732" y="4283511"/>
            <a:ext cx="4108152" cy="17293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44C046-BDC8-ED29-2B9A-BA8BA12462F4}"/>
              </a:ext>
            </a:extLst>
          </p:cNvPr>
          <p:cNvSpPr/>
          <p:nvPr/>
        </p:nvSpPr>
        <p:spPr>
          <a:xfrm>
            <a:off x="7776732" y="2601591"/>
            <a:ext cx="4108152" cy="16504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187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610" y="-97356"/>
            <a:ext cx="1612390" cy="76134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6241453-686F-6874-C12D-E165E33532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132" y="41934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5B5F43-235B-E509-FAD9-C05667A55BE5}"/>
              </a:ext>
            </a:extLst>
          </p:cNvPr>
          <p:cNvCxnSpPr>
            <a:cxnSpLocks/>
          </p:cNvCxnSpPr>
          <p:nvPr/>
        </p:nvCxnSpPr>
        <p:spPr>
          <a:xfrm>
            <a:off x="7741403" y="512064"/>
            <a:ext cx="0" cy="583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41BE6E-9015-74AC-E2C4-5E4A95E96A7B}"/>
              </a:ext>
            </a:extLst>
          </p:cNvPr>
          <p:cNvSpPr txBox="1"/>
          <p:nvPr/>
        </p:nvSpPr>
        <p:spPr>
          <a:xfrm>
            <a:off x="7741403" y="816942"/>
            <a:ext cx="428853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V1 prototype validates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sensing, swing detection and ML processing.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V2 uses readily available IMU, Piezo and BLE hardware.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Modular design supports future sensor and analytics upgrades.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Noise: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Racket vibration may cause false impact detection.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BLE &amp; Power: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loss and battery consumption during continuous operation.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playing styles make universal baselines difficult. 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IMU + Piezo fusion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filtering and player-specific calibration.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buffering + SD/Wi-Fi fallback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communication reliability.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Adaptive power modes + multi-session baselines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efficiency and personalization.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94382-12D1-F016-2B80-1A759CAC9EEA}"/>
              </a:ext>
            </a:extLst>
          </p:cNvPr>
          <p:cNvSpPr txBox="1"/>
          <p:nvPr/>
        </p:nvSpPr>
        <p:spPr>
          <a:xfrm>
            <a:off x="2117327" y="461218"/>
            <a:ext cx="42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1 – Performance Dashboard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A27151E-6ABC-AAB0-C076-CEC276E88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0550"/>
            <a:ext cx="7706075" cy="55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4060CA-0A97-9E1B-3F76-6F2055623136}"/>
              </a:ext>
            </a:extLst>
          </p:cNvPr>
          <p:cNvSpPr/>
          <p:nvPr/>
        </p:nvSpPr>
        <p:spPr>
          <a:xfrm>
            <a:off x="8057646" y="4346458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F121E8-E5DB-514A-A466-A779284D0DA1}"/>
              </a:ext>
            </a:extLst>
          </p:cNvPr>
          <p:cNvSpPr/>
          <p:nvPr/>
        </p:nvSpPr>
        <p:spPr>
          <a:xfrm>
            <a:off x="3852425" y="4389082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2D081D-26F7-2FBE-A9AB-0B00A5D60407}"/>
              </a:ext>
            </a:extLst>
          </p:cNvPr>
          <p:cNvSpPr/>
          <p:nvPr/>
        </p:nvSpPr>
        <p:spPr>
          <a:xfrm>
            <a:off x="83844" y="4410394"/>
            <a:ext cx="3589831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5C6B3-0FCF-0A7E-790A-95B7F769797F}"/>
              </a:ext>
            </a:extLst>
          </p:cNvPr>
          <p:cNvSpPr/>
          <p:nvPr/>
        </p:nvSpPr>
        <p:spPr>
          <a:xfrm>
            <a:off x="7852200" y="1560574"/>
            <a:ext cx="4254456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7AC30E-5510-8CB8-21D8-A43B7AB954CA}"/>
              </a:ext>
            </a:extLst>
          </p:cNvPr>
          <p:cNvSpPr/>
          <p:nvPr/>
        </p:nvSpPr>
        <p:spPr>
          <a:xfrm>
            <a:off x="3564683" y="1560574"/>
            <a:ext cx="4060714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42AF86-1BC7-6D7D-772C-D26C2B949529}"/>
              </a:ext>
            </a:extLst>
          </p:cNvPr>
          <p:cNvSpPr/>
          <p:nvPr/>
        </p:nvSpPr>
        <p:spPr>
          <a:xfrm>
            <a:off x="4017880" y="656310"/>
            <a:ext cx="4060715" cy="3927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DFAFD-44A5-0FA0-2774-52995261CA1E}"/>
              </a:ext>
            </a:extLst>
          </p:cNvPr>
          <p:cNvSpPr/>
          <p:nvPr/>
        </p:nvSpPr>
        <p:spPr>
          <a:xfrm>
            <a:off x="303727" y="1604987"/>
            <a:ext cx="2944368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1501"/>
            <a:ext cx="1697216" cy="80139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23C977-0787-7DC7-195D-8258CD9A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4439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4DDD6-ED69-6F0D-CF83-27ADFC72D000}"/>
              </a:ext>
            </a:extLst>
          </p:cNvPr>
          <p:cNvSpPr txBox="1"/>
          <p:nvPr/>
        </p:nvSpPr>
        <p:spPr>
          <a:xfrm>
            <a:off x="349020" y="1604987"/>
            <a:ext cx="29443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Players &amp; Beginners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measurable feedback on stroke quality, consistency and progress. Identify individual strengths and areas for improvement.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86E37-9904-B50C-FDCB-189F8CC7BAC0}"/>
              </a:ext>
            </a:extLst>
          </p:cNvPr>
          <p:cNvSpPr txBox="1"/>
          <p:nvPr/>
        </p:nvSpPr>
        <p:spPr>
          <a:xfrm>
            <a:off x="3542437" y="1503466"/>
            <a:ext cx="4060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Coaches &amp; Badminton Academies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player evaluation beyond visual observation. Monitor player performance and development across training sessions.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 and support personalized coaching strategies</a:t>
            </a:r>
            <a:r>
              <a:rPr lang="en-IN" sz="16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50284-8075-AFAA-BE79-E954E6E34787}"/>
              </a:ext>
            </a:extLst>
          </p:cNvPr>
          <p:cNvSpPr txBox="1"/>
          <p:nvPr/>
        </p:nvSpPr>
        <p:spPr>
          <a:xfrm>
            <a:off x="7969222" y="1560574"/>
            <a:ext cx="4060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Sports &amp; Biomedical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early identification of performance decline and injury-risk indicators through changes in movement patterns.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5F2BA1-A6D9-1037-6A98-8411CC8128A8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8078595" y="852682"/>
            <a:ext cx="1920984" cy="7078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CD6E4-40BF-722A-03AE-4C1A7B33EB0D}"/>
              </a:ext>
            </a:extLst>
          </p:cNvPr>
          <p:cNvCxnSpPr>
            <a:cxnSpLocks/>
          </p:cNvCxnSpPr>
          <p:nvPr/>
        </p:nvCxnSpPr>
        <p:spPr>
          <a:xfrm>
            <a:off x="5956798" y="1049054"/>
            <a:ext cx="0" cy="5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8874953-3A5A-D633-E611-0EFED953B7B2}"/>
              </a:ext>
            </a:extLst>
          </p:cNvPr>
          <p:cNvCxnSpPr>
            <a:cxnSpLocks/>
            <a:stCxn id="38" idx="1"/>
            <a:endCxn id="40" idx="0"/>
          </p:cNvCxnSpPr>
          <p:nvPr/>
        </p:nvCxnSpPr>
        <p:spPr>
          <a:xfrm rot="10800000" flipV="1">
            <a:off x="1824265" y="3564924"/>
            <a:ext cx="2193617" cy="866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790B74-4B70-C932-F5A3-5407124155B8}"/>
              </a:ext>
            </a:extLst>
          </p:cNvPr>
          <p:cNvSpPr/>
          <p:nvPr/>
        </p:nvSpPr>
        <p:spPr>
          <a:xfrm>
            <a:off x="4017881" y="3368552"/>
            <a:ext cx="4060715" cy="39274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3B73D2-19B1-6727-4A36-2B5BF48790ED}"/>
              </a:ext>
            </a:extLst>
          </p:cNvPr>
          <p:cNvSpPr txBox="1"/>
          <p:nvPr/>
        </p:nvSpPr>
        <p:spPr>
          <a:xfrm>
            <a:off x="83844" y="4431706"/>
            <a:ext cx="34808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Performance Benefits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session-wise and long-term performance tracking. Helps establish measurable benchmarks for player development.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27F-0CB5-4682-4131-DC761069FCF8}"/>
              </a:ext>
            </a:extLst>
          </p:cNvPr>
          <p:cNvSpPr txBox="1"/>
          <p:nvPr/>
        </p:nvSpPr>
        <p:spPr>
          <a:xfrm>
            <a:off x="3852425" y="4389082"/>
            <a:ext cx="391747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&amp; Sports Science Benefits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structured datasets for sports biomechanics and movement research. Can support future integration with physiological sensors for more comprehensive fitness assessment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4D6D7-5289-B110-1927-C3A4BAA0E25E}"/>
              </a:ext>
            </a:extLst>
          </p:cNvPr>
          <p:cNvSpPr txBox="1"/>
          <p:nvPr/>
        </p:nvSpPr>
        <p:spPr>
          <a:xfrm>
            <a:off x="8120487" y="4310025"/>
            <a:ext cx="3758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portable compared with high-end sports analytics systems.  Can be deployed across multiple players and training centres at relatively low 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6DC32C-C5E3-1664-F584-8A8A34E1E140}"/>
              </a:ext>
            </a:extLst>
          </p:cNvPr>
          <p:cNvCxnSpPr>
            <a:cxnSpLocks/>
            <a:stCxn id="38" idx="3"/>
            <a:endCxn id="43" idx="0"/>
          </p:cNvCxnSpPr>
          <p:nvPr/>
        </p:nvCxnSpPr>
        <p:spPr>
          <a:xfrm>
            <a:off x="8078596" y="3564924"/>
            <a:ext cx="1920983" cy="7451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19F5DCE-B5DB-D264-F1C1-C11247C93E6A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1821204" y="852681"/>
            <a:ext cx="2196676" cy="7523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F6E373-6B00-CD13-9338-2A4C90C95C40}"/>
              </a:ext>
            </a:extLst>
          </p:cNvPr>
          <p:cNvCxnSpPr>
            <a:cxnSpLocks/>
          </p:cNvCxnSpPr>
          <p:nvPr/>
        </p:nvCxnSpPr>
        <p:spPr>
          <a:xfrm>
            <a:off x="5969996" y="3761296"/>
            <a:ext cx="0" cy="6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475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227D7E2-6140-1BE3-89BE-6551EB650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475" y="198690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6EF7-F7F1-CE8F-6A40-D3C83A139138}"/>
              </a:ext>
            </a:extLst>
          </p:cNvPr>
          <p:cNvSpPr txBox="1"/>
          <p:nvPr/>
        </p:nvSpPr>
        <p:spPr>
          <a:xfrm>
            <a:off x="329773" y="1144500"/>
            <a:ext cx="10326624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Wearable Sensing &amp; AI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Jin, G., LI, X. Wearable sensing for badminton stroke recognition with one-dimensional convolutional neural network.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41236 (2025).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https://doi.org/10.1038/s41598-025-25158-2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Badminton Biomechanics &amp; Performance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Seong, M., Kim, G., Yeo, D.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MultiSenseBadminton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Wearable Sensor–Based Biomechanical Dataset for Evaluation of Badminton Performance.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343 (2024).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https://doi.org/10.1038/s41597-024-03144-z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Badminton Motion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Liu, L., Huang, J.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analysis of motion recognition model for badminton player movements using machine learning.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19030 (2025).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https://doi.org/10.1038/s41598-025-02771-9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Jacob, Alvin, 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Nurshazwani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Zakaria, and Mohd Razali Bin Md Tomari. "Implementation of IMU sensor for elbow movement measurement of badminton players."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2nd IEEE International Symposium on Robotics and Manufacturing Automation (ROMA)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2016.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Li, and Feng Li. "Recognizing badminton hitting movements Based on Multi-sensor trajectory recognition algorithm."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3rd International Conference on Information Technology and Contemporary Sports (TCS)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2023.</a:t>
            </a:r>
          </a:p>
          <a:p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8230</TotalTime>
  <Words>986</Words>
  <Application>Microsoft Office PowerPoint</Application>
  <PresentationFormat>Widescreen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 Powered Smart Badminton Fitness and  Performance Analytics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Aswin Raaj</cp:lastModifiedBy>
  <cp:revision>203</cp:revision>
  <cp:lastPrinted>2026-09-01T09:40:56Z</cp:lastPrinted>
  <dcterms:created xsi:type="dcterms:W3CDTF">2013-12-12T18:46:50Z</dcterms:created>
  <dcterms:modified xsi:type="dcterms:W3CDTF">2026-09-08T17:38:34Z</dcterms:modified>
  <cp:category/>
</cp:coreProperties>
</file>