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7" r:id="rId4"/>
    <p:sldId id="256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C5FE1-BFD5-4F09-BC55-AE2D76A0A692}">
          <p14:sldIdLst>
            <p14:sldId id="291"/>
            <p14:sldId id="281"/>
            <p14:sldId id="297"/>
            <p14:sldId id="256"/>
          </p14:sldIdLst>
        </p14:section>
        <p14:section name="Untitled Section" id="{FF0BA2A1-DC18-4F6F-A16F-E86BC12CC707}">
          <p14:sldIdLst>
            <p14:sldId id="293"/>
            <p14:sldId id="294"/>
          </p14:sldIdLst>
        </p14:section>
        <p14:section name="Untitled Section" id="{17163A6D-CB89-4F9F-9BA0-C47CDD78CDB8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2D050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Victor "Intelligence" smart racket chip
https://breathbadminton.com/smart-badminton-racket-victor-intelligence-new/
https://www.youtube.com/watch?v=fioHQbU0Quo
Coollang Xiaoyu 2.0 / 3.0
https://www.coollang-asia.com/badminton-sensor
STA 3.0 Smart Badminton Swing Analyzer
https://www.supremetennisathlete.com/products/sta-smart-badminton-training-swing-analyzer-bluetooth-activity-tracker-compatible-with-android-ios-phone
Usense Badminton Performance Sensor
https://www.badmintonbay.com/usense-wireless-badminton-sensor-tracker.html
Garmin "Badminton AI" watch app
https://apps.garmin.com/en-US/apps/48d817d2-364e-486d-8209-1e7483b96d5f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2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garmin.com/en-US/apps/48d817d2-364e-486d-8209-1e7483b96d5f" TargetMode="External"/><Relationship Id="rId3" Type="http://schemas.openxmlformats.org/officeDocument/2006/relationships/hyperlink" Target="https://breathbadminton.com/smart-badminton-racket-victor-intelligence-new/" TargetMode="External"/><Relationship Id="rId7" Type="http://schemas.openxmlformats.org/officeDocument/2006/relationships/hyperlink" Target="https://www.badmintonbay.com/usense-wireless-badminton-sensor-tracker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supremetennisathlete.com/products/sta-smart-badminton-training-swing-analyzer-bluetooth-activity-tracker-compatible-with-android-ios-phone" TargetMode="External"/><Relationship Id="rId5" Type="http://schemas.openxmlformats.org/officeDocument/2006/relationships/hyperlink" Target="https://www.coollang-asia.com/badminton-sensor" TargetMode="External"/><Relationship Id="rId4" Type="http://schemas.openxmlformats.org/officeDocument/2006/relationships/hyperlink" Target="https://www.youtube.com/watch?v=fioHQbU0Quo" TargetMode="Externa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5-02771-9" TargetMode="External"/><Relationship Id="rId5" Type="http://schemas.openxmlformats.org/officeDocument/2006/relationships/hyperlink" Target="https://doi.org/10.1038/s41597-024-03144-z" TargetMode="External"/><Relationship Id="rId4" Type="http://schemas.openxmlformats.org/officeDocument/2006/relationships/hyperlink" Target="https://doi.org/10.1038/s41598-025-2515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602093" y="163907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572" y="438411"/>
            <a:ext cx="7861738" cy="5827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 26213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Badminton Fitness and Performance Analytics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Sports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FCD2E4-5A1C-9178-484F-F6AA869B10A3}"/>
              </a:ext>
            </a:extLst>
          </p:cNvPr>
          <p:cNvSpPr/>
          <p:nvPr/>
        </p:nvSpPr>
        <p:spPr>
          <a:xfrm>
            <a:off x="4310514" y="3841210"/>
            <a:ext cx="7797423" cy="20770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52AEB-1BCB-48E7-7290-BBCBAB499D4D}"/>
              </a:ext>
            </a:extLst>
          </p:cNvPr>
          <p:cNvSpPr/>
          <p:nvPr/>
        </p:nvSpPr>
        <p:spPr>
          <a:xfrm>
            <a:off x="4273994" y="925233"/>
            <a:ext cx="7722415" cy="279216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64413-89CB-EEBD-3D7F-59237B18DB4B}"/>
              </a:ext>
            </a:extLst>
          </p:cNvPr>
          <p:cNvSpPr/>
          <p:nvPr/>
        </p:nvSpPr>
        <p:spPr>
          <a:xfrm>
            <a:off x="79750" y="3522498"/>
            <a:ext cx="3967978" cy="15645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8CF34-715A-AF20-E0F4-EFD1C7ADCC5B}"/>
              </a:ext>
            </a:extLst>
          </p:cNvPr>
          <p:cNvSpPr/>
          <p:nvPr/>
        </p:nvSpPr>
        <p:spPr>
          <a:xfrm>
            <a:off x="106664" y="1217870"/>
            <a:ext cx="3941064" cy="21699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1937930" cy="915054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591" y="-7916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 Powered Smart Badminton Fitness and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Performance Analytics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1E9A7-E526-2F7A-4F13-F5EE0AB3B4BC}"/>
              </a:ext>
            </a:extLst>
          </p:cNvPr>
          <p:cNvSpPr txBox="1"/>
          <p:nvPr/>
        </p:nvSpPr>
        <p:spPr>
          <a:xfrm>
            <a:off x="120121" y="1589650"/>
            <a:ext cx="3941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evaluated mostly via coach observation without objective, measurable metrics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personalized progress analytics to track player improvement across sessions.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on stroke speed, intensity, consistency, and fatigue during training.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CA5DB-6BBB-9720-4B58-CDA8D634D271}"/>
              </a:ext>
            </a:extLst>
          </p:cNvPr>
          <p:cNvSpPr txBox="1"/>
          <p:nvPr/>
        </p:nvSpPr>
        <p:spPr>
          <a:xfrm>
            <a:off x="93207" y="1271886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Challenge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B9A6C-8B91-BC47-C729-EAAC0ACE57C6}"/>
              </a:ext>
            </a:extLst>
          </p:cNvPr>
          <p:cNvSpPr txBox="1"/>
          <p:nvPr/>
        </p:nvSpPr>
        <p:spPr>
          <a:xfrm>
            <a:off x="147034" y="3992955"/>
            <a:ext cx="39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track basic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counts, swing speed, and activity using standard wearable sensors and IMUs.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4CA09-62BC-3A0F-FD2D-677A00C7DC98}"/>
              </a:ext>
            </a:extLst>
          </p:cNvPr>
          <p:cNvSpPr txBox="1"/>
          <p:nvPr/>
        </p:nvSpPr>
        <p:spPr>
          <a:xfrm>
            <a:off x="147034" y="3562013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10730-3AAD-72DB-659F-BD668EC5A349}"/>
              </a:ext>
            </a:extLst>
          </p:cNvPr>
          <p:cNvSpPr txBox="1"/>
          <p:nvPr/>
        </p:nvSpPr>
        <p:spPr>
          <a:xfrm>
            <a:off x="4273994" y="1269065"/>
            <a:ext cx="75674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AI/ML-Based Player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strokes and performance using sensor data.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Personalized Training Analytics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 individual baselines, strengths and improvement.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Fitness &amp; Performance Monitoring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intensity, consistency, workload and fatigue.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Smart Player Profiling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session and benchmark data for player insights.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Affordable Smart-Racket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compact solution for training and assessment.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4364D-EB17-3F9C-53F9-F1CCA93FF041}"/>
              </a:ext>
            </a:extLst>
          </p:cNvPr>
          <p:cNvSpPr txBox="1"/>
          <p:nvPr/>
        </p:nvSpPr>
        <p:spPr>
          <a:xfrm>
            <a:off x="4287450" y="939765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44263-C418-7962-D36A-DE2229D9269B}"/>
              </a:ext>
            </a:extLst>
          </p:cNvPr>
          <p:cNvSpPr txBox="1"/>
          <p:nvPr/>
        </p:nvSpPr>
        <p:spPr>
          <a:xfrm>
            <a:off x="4322191" y="4270569"/>
            <a:ext cx="8794242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Dual-Signal Stroke Validation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IMU  confirms racket–shuttle impact.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Two-Stage Data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Threshold detection followed by ML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Multi-Model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ML models for stroke and intensity classification.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Benchmark Gap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player data with trained pro-player reference data.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445A0-75D2-8337-2D1D-69658FDB5865}"/>
              </a:ext>
            </a:extLst>
          </p:cNvPr>
          <p:cNvSpPr txBox="1"/>
          <p:nvPr/>
        </p:nvSpPr>
        <p:spPr>
          <a:xfrm>
            <a:off x="4287450" y="4039122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: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21F4E27F-00B7-0F1D-95A2-E4B0A8D2E7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5591" y="148752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EE133C-D9CA-D091-2825-AD2542273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232708" y="4689958"/>
            <a:ext cx="1171441" cy="20825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12551" y="88034"/>
            <a:ext cx="1783645" cy="8240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TITANS</a:t>
            </a:r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589316" y="51891"/>
            <a:ext cx="1490133" cy="8963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90298-EFE4-AD3F-ABED-363BB301A96D}"/>
              </a:ext>
            </a:extLst>
          </p:cNvPr>
          <p:cNvSpPr txBox="1"/>
          <p:nvPr/>
        </p:nvSpPr>
        <p:spPr>
          <a:xfrm>
            <a:off x="3669030" y="99193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DF0D4CF-9F56-EDF1-ABFC-C4B3136FD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10" y="4367502"/>
            <a:ext cx="3005527" cy="17224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5C37B6-E9E4-02CD-0C64-BCE09DA80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537" y="842552"/>
            <a:ext cx="3346183" cy="34787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7D2E804-DFFF-18B7-FBA4-7CFA4CDD1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031" y="4630057"/>
            <a:ext cx="3112587" cy="16941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13B5D4-3C13-85B1-AD51-F2A8DB5CA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333" y="4733998"/>
            <a:ext cx="2899329" cy="124333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3A16DA6-698E-64EF-8E8D-7496869A1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48267"/>
            <a:ext cx="2779775" cy="284808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5CC54E8-61FD-26F6-6F79-BC533E19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13" y="636298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ADA13-9121-EDD2-2642-5C64D7DBFE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9419" y="500078"/>
            <a:ext cx="8410418" cy="52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4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86ACCE-A5C1-E76F-71E7-5D2B589F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22860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ANALYSIS: COMMERCIAL VS OUR PRODUCT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453896" y="85953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27047"/>
              </p:ext>
            </p:extLst>
          </p:nvPr>
        </p:nvGraphicFramePr>
        <p:xfrm>
          <a:off x="365760" y="1143000"/>
          <a:ext cx="11430000" cy="46817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link / article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of the commercial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Features (Price: ₹2,000)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 "Intelligence" smart racket chip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end-cap sensor; app for smash power, shot mix, session trends.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not announced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tooltip="https://breathbadminton.com/smart-badminton-racket-victor-intelligence-new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Breath Badminton article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tooltip="https://www.youtube.com/watch?v=fioHQbU0Quo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Badminton Insight video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Unreleased; only smash power and shot mix.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 prediction, swing filter, intensity classes, pro benchmark.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Coollang Xiaoyu 2.0 / 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Racket-end Bluetooth sensor.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~₹7,320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tooltip="https://www.coollang-asia.com/badminton-sensor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Coollang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drop shot, benchmark or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Drop-shot detection, intensity classes, pro benchmark,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 3.0 Smart Badminton Swing Analyzer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 sensor + phone app.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₹11,520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tooltip="https://www.supremetennisathlete.com/products/sta-smart-badminton-training-swing-analyzer-bluetooth-activity-tracker-compatible-with-android-ios-phon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shot count, speed and calories.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classes, intensity, swing filter, tracking,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Usense Badminton Performance Sensor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 racket sensor with 3D replay.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₹6,790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tooltip="https://www.badmintonbay.com/usense-wireless-badminton-sensor-tracker.html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BadmintonBay product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swing replay and string advice.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and intensity classes, swing filter,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Garmin "Badminton AI" watch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accelerometer stroke counter. </a:t>
                      </a:r>
                      <a:r>
                        <a:rPr lang="en-US" sz="11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Price: ~₹770 one-time (app) + Garmin watch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u="sng" dirty="0">
                          <a:solidFill>
                            <a:srgbClr val="0B5C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tooltip="https://apps.garmin.com/en-US/apps/48d817d2-364e-486d-8209-1e7483b96d5f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Garmin Connect IQ store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counts strokes; needs a Garmin watch.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Racket-mounted IMU: stroke, intensity, validity and injury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85F0D8-484A-3333-151E-38E6D90EA2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070" y="0"/>
            <a:ext cx="1937930" cy="915054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05ED8BD6-EE89-5C46-57E0-9FEE87A6E5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74264"/>
            <a:ext cx="1471595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1A9636-46B5-B9BE-2FB5-7CE2D8BE8F01}"/>
              </a:ext>
            </a:extLst>
          </p:cNvPr>
          <p:cNvSpPr/>
          <p:nvPr/>
        </p:nvSpPr>
        <p:spPr>
          <a:xfrm>
            <a:off x="7936475" y="948973"/>
            <a:ext cx="4108152" cy="137093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FF3F5F-AD96-5432-35B8-3D6B9F0DE306}"/>
              </a:ext>
            </a:extLst>
          </p:cNvPr>
          <p:cNvSpPr/>
          <p:nvPr/>
        </p:nvSpPr>
        <p:spPr>
          <a:xfrm>
            <a:off x="7936475" y="4538088"/>
            <a:ext cx="4108152" cy="13963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44C046-BDC8-ED29-2B9A-BA8BA12462F4}"/>
              </a:ext>
            </a:extLst>
          </p:cNvPr>
          <p:cNvSpPr/>
          <p:nvPr/>
        </p:nvSpPr>
        <p:spPr>
          <a:xfrm>
            <a:off x="7936475" y="2500034"/>
            <a:ext cx="4108152" cy="17885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29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192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610" y="-97356"/>
            <a:ext cx="1612390" cy="76134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6241453-686F-6874-C12D-E165E33532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132" y="41934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1BE6E-9015-74AC-E2C4-5E4A95E96A7B}"/>
              </a:ext>
            </a:extLst>
          </p:cNvPr>
          <p:cNvSpPr txBox="1"/>
          <p:nvPr/>
        </p:nvSpPr>
        <p:spPr>
          <a:xfrm>
            <a:off x="7936475" y="1046157"/>
            <a:ext cx="428853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 uses readily available imu and esp32 hardware.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Modular design supports future sensor and analytics upgrades.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Sensor Noise: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Racket vibration may cause false impact detection.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Power: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loss and battery consumption during continuous operation.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Personalization: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playing styles make universal baselines difficult. 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filtering and player-specific calibration.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buffering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communication reliability.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Longitudinal analysis and Multi-session baselines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efficiency and personalization.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94382-12D1-F016-2B80-1A759CAC9EEA}"/>
              </a:ext>
            </a:extLst>
          </p:cNvPr>
          <p:cNvSpPr txBox="1"/>
          <p:nvPr/>
        </p:nvSpPr>
        <p:spPr>
          <a:xfrm>
            <a:off x="2117327" y="461218"/>
            <a:ext cx="42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61E80-2796-AE42-6912-68B0C41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3253"/>
            <a:ext cx="7741404" cy="2512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D8775B-1056-EDDD-06B8-8E7FC06B0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9" y="3512453"/>
            <a:ext cx="7852660" cy="23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74060CA-0A97-9E1B-3F76-6F2055623136}"/>
              </a:ext>
            </a:extLst>
          </p:cNvPr>
          <p:cNvSpPr/>
          <p:nvPr/>
        </p:nvSpPr>
        <p:spPr>
          <a:xfrm>
            <a:off x="8057646" y="4346458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F121E8-E5DB-514A-A466-A779284D0DA1}"/>
              </a:ext>
            </a:extLst>
          </p:cNvPr>
          <p:cNvSpPr/>
          <p:nvPr/>
        </p:nvSpPr>
        <p:spPr>
          <a:xfrm>
            <a:off x="3852425" y="4389082"/>
            <a:ext cx="3999775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42D081D-26F7-2FBE-A9AB-0B00A5D60407}"/>
              </a:ext>
            </a:extLst>
          </p:cNvPr>
          <p:cNvSpPr/>
          <p:nvPr/>
        </p:nvSpPr>
        <p:spPr>
          <a:xfrm>
            <a:off x="83844" y="4410394"/>
            <a:ext cx="3589831" cy="16430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C5C6B3-0FCF-0A7E-790A-95B7F769797F}"/>
              </a:ext>
            </a:extLst>
          </p:cNvPr>
          <p:cNvSpPr/>
          <p:nvPr/>
        </p:nvSpPr>
        <p:spPr>
          <a:xfrm>
            <a:off x="7852200" y="1560574"/>
            <a:ext cx="4254456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7AC30E-5510-8CB8-21D8-A43B7AB954CA}"/>
              </a:ext>
            </a:extLst>
          </p:cNvPr>
          <p:cNvSpPr/>
          <p:nvPr/>
        </p:nvSpPr>
        <p:spPr>
          <a:xfrm>
            <a:off x="3564683" y="1560574"/>
            <a:ext cx="4060714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42AF86-1BC7-6D7D-772C-D26C2B949529}"/>
              </a:ext>
            </a:extLst>
          </p:cNvPr>
          <p:cNvSpPr/>
          <p:nvPr/>
        </p:nvSpPr>
        <p:spPr>
          <a:xfrm>
            <a:off x="4017880" y="656310"/>
            <a:ext cx="4060715" cy="39274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DFAFD-44A5-0FA0-2774-52995261CA1E}"/>
              </a:ext>
            </a:extLst>
          </p:cNvPr>
          <p:cNvSpPr/>
          <p:nvPr/>
        </p:nvSpPr>
        <p:spPr>
          <a:xfrm>
            <a:off x="303727" y="1604987"/>
            <a:ext cx="2944368" cy="156845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20" y="1501"/>
            <a:ext cx="1697216" cy="80139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23C977-0787-7DC7-195D-8258CD9A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04439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4DDD6-ED69-6F0D-CF83-27ADFC72D000}"/>
              </a:ext>
            </a:extLst>
          </p:cNvPr>
          <p:cNvSpPr txBox="1"/>
          <p:nvPr/>
        </p:nvSpPr>
        <p:spPr>
          <a:xfrm>
            <a:off x="349020" y="1604987"/>
            <a:ext cx="29443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Players &amp; Beginners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measurable feedback on stroke quality, consistency and progress. Identify individual strengths and areas for improvement.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86E37-9904-B50C-FDCB-189F8CC7BAC0}"/>
              </a:ext>
            </a:extLst>
          </p:cNvPr>
          <p:cNvSpPr txBox="1"/>
          <p:nvPr/>
        </p:nvSpPr>
        <p:spPr>
          <a:xfrm>
            <a:off x="3542437" y="1503466"/>
            <a:ext cx="40607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Coaches &amp; Badminton Academies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player evaluation beyond visual observation. Monitor player performance and development across training sessions.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 and support personalized coaching strategies</a:t>
            </a:r>
            <a:r>
              <a:rPr lang="en-IN" sz="1600" dirty="0"/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50284-8075-AFAA-BE79-E954E6E34787}"/>
              </a:ext>
            </a:extLst>
          </p:cNvPr>
          <p:cNvSpPr txBox="1"/>
          <p:nvPr/>
        </p:nvSpPr>
        <p:spPr>
          <a:xfrm>
            <a:off x="7969222" y="1560574"/>
            <a:ext cx="4060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Schools &amp; Talent Programs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low-cost talent identification and structured grassroots coaching across schools, colleges and district academies.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5F2BA1-A6D9-1037-6A98-8411CC8128A8}"/>
              </a:ext>
            </a:extLst>
          </p:cNvPr>
          <p:cNvCxnSpPr>
            <a:cxnSpLocks/>
            <a:stCxn id="9" idx="3"/>
            <a:endCxn id="16" idx="0"/>
          </p:cNvCxnSpPr>
          <p:nvPr/>
        </p:nvCxnSpPr>
        <p:spPr>
          <a:xfrm>
            <a:off x="8078595" y="852682"/>
            <a:ext cx="1920984" cy="7078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ECD6E4-40BF-722A-03AE-4C1A7B33EB0D}"/>
              </a:ext>
            </a:extLst>
          </p:cNvPr>
          <p:cNvCxnSpPr>
            <a:cxnSpLocks/>
          </p:cNvCxnSpPr>
          <p:nvPr/>
        </p:nvCxnSpPr>
        <p:spPr>
          <a:xfrm>
            <a:off x="5956798" y="1049054"/>
            <a:ext cx="0" cy="5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8874953-3A5A-D633-E611-0EFED953B7B2}"/>
              </a:ext>
            </a:extLst>
          </p:cNvPr>
          <p:cNvCxnSpPr>
            <a:cxnSpLocks/>
            <a:stCxn id="38" idx="1"/>
            <a:endCxn id="40" idx="0"/>
          </p:cNvCxnSpPr>
          <p:nvPr/>
        </p:nvCxnSpPr>
        <p:spPr>
          <a:xfrm rot="10800000" flipV="1">
            <a:off x="1824265" y="3564924"/>
            <a:ext cx="2193617" cy="866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790B74-4B70-C932-F5A3-5407124155B8}"/>
              </a:ext>
            </a:extLst>
          </p:cNvPr>
          <p:cNvSpPr/>
          <p:nvPr/>
        </p:nvSpPr>
        <p:spPr>
          <a:xfrm>
            <a:off x="4017881" y="3368552"/>
            <a:ext cx="4060715" cy="39274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3B73D2-19B1-6727-4A36-2B5BF48790ED}"/>
              </a:ext>
            </a:extLst>
          </p:cNvPr>
          <p:cNvSpPr txBox="1"/>
          <p:nvPr/>
        </p:nvSpPr>
        <p:spPr>
          <a:xfrm>
            <a:off x="83844" y="4431706"/>
            <a:ext cx="34808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Performance Benefits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session-wise and long-term performance tracking. Helps establish measurable benchmarks for player development.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27F-0CB5-4682-4131-DC761069FCF8}"/>
              </a:ext>
            </a:extLst>
          </p:cNvPr>
          <p:cNvSpPr txBox="1"/>
          <p:nvPr/>
        </p:nvSpPr>
        <p:spPr>
          <a:xfrm>
            <a:off x="3852425" y="4389082"/>
            <a:ext cx="391747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Technology Benefits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IMU design can extend to other racket sports through retrained ML models, with cloud-ready data pipelines for future upgrades.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4D6D7-5289-B110-1927-C3A4BAA0E25E}"/>
              </a:ext>
            </a:extLst>
          </p:cNvPr>
          <p:cNvSpPr txBox="1"/>
          <p:nvPr/>
        </p:nvSpPr>
        <p:spPr>
          <a:xfrm>
            <a:off x="8120487" y="4310025"/>
            <a:ext cx="375818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portable compared with high-end sports analytics systems.  Can be deployed across multiple players and training centres at relatively low 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26DC32C-C5E3-1664-F584-8A8A34E1E140}"/>
              </a:ext>
            </a:extLst>
          </p:cNvPr>
          <p:cNvCxnSpPr>
            <a:cxnSpLocks/>
            <a:stCxn id="38" idx="3"/>
            <a:endCxn id="43" idx="0"/>
          </p:cNvCxnSpPr>
          <p:nvPr/>
        </p:nvCxnSpPr>
        <p:spPr>
          <a:xfrm>
            <a:off x="8078596" y="3564924"/>
            <a:ext cx="1920983" cy="7451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19F5DCE-B5DB-D264-F1C1-C11247C93E6A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1821204" y="852681"/>
            <a:ext cx="2196676" cy="7523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F6E373-6B00-CD13-9338-2A4C90C95C40}"/>
              </a:ext>
            </a:extLst>
          </p:cNvPr>
          <p:cNvCxnSpPr>
            <a:cxnSpLocks/>
          </p:cNvCxnSpPr>
          <p:nvPr/>
        </p:nvCxnSpPr>
        <p:spPr>
          <a:xfrm>
            <a:off x="5969996" y="3761296"/>
            <a:ext cx="0" cy="6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475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227D7E2-6140-1BE3-89BE-6551EB650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0475" y="198690"/>
            <a:ext cx="14715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TITANS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6EF7-F7F1-CE8F-6A40-D3C83A139138}"/>
              </a:ext>
            </a:extLst>
          </p:cNvPr>
          <p:cNvSpPr txBox="1"/>
          <p:nvPr/>
        </p:nvSpPr>
        <p:spPr>
          <a:xfrm>
            <a:off x="329773" y="1144500"/>
            <a:ext cx="10326624" cy="456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Wearable Sensing &amp; AI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Jin, G., LI, X. Wearable sensing for badminton stroke recognition with one-dimensional convolutional neural network.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41236 (2025).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https://doi.org/10.1038/s41598-025-25158-2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Badminton Biomechanics &amp; Performance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Seong, M., Kim, G., Yeo, D.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MultiSenseBadminton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Wearable Sensor–Based Biomechanical Dataset for Evaluation of Badminton Performance.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343 (2024).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https://doi.org/10.1038/s41597-024-03144-z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Badminton Motion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Liu, L., Huang, J.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analysis of motion recognition model for badminton player movements using machine learning.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19030 (2025).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https://doi.org/10.1038/s41598-025-02771-9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Jacob, Alvin, 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Nurshazwani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Zakaria, and Mohd Razali Bin Md Tomari. "Implementation of IMU sensor for elbow movement measurement of badminton players."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2nd IEEE International Symposium on Robotics and Manufacturing Automation (ROMA)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2016.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Li, and Feng Li. "Recognizing badminton hitting movements Based on Multi-sensor trajectory recognition algorithm."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3rd International Conference on Information Technology and Contemporary Sports (TCS)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2023.</a:t>
            </a:r>
          </a:p>
          <a:p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8905</TotalTime>
  <Words>1128</Words>
  <Application>Microsoft Office PowerPoint</Application>
  <PresentationFormat>Widescreen</PresentationFormat>
  <Paragraphs>122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AI Powered Smart Badminton Fitness and  Performance Analytics System</vt:lpstr>
      <vt:lpstr>PowerPoint Presentation</vt:lpstr>
      <vt:lpstr>PowerPoint Presentation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Aswin Raaj</cp:lastModifiedBy>
  <cp:revision>254</cp:revision>
  <cp:lastPrinted>2026-09-01T09:40:56Z</cp:lastPrinted>
  <dcterms:created xsi:type="dcterms:W3CDTF">2013-12-12T18:46:50Z</dcterms:created>
  <dcterms:modified xsi:type="dcterms:W3CDTF">2026-09-26T06:06:43Z</dcterms:modified>
</cp:coreProperties>
</file>