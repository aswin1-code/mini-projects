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6" r:id="rId2"/>
    <p:sldId id="322" r:id="rId3"/>
    <p:sldId id="351" r:id="rId4"/>
    <p:sldId id="352" r:id="rId5"/>
    <p:sldId id="361" r:id="rId6"/>
    <p:sldId id="353" r:id="rId7"/>
    <p:sldId id="354" r:id="rId8"/>
    <p:sldId id="355" r:id="rId9"/>
    <p:sldId id="356" r:id="rId10"/>
    <p:sldId id="357" r:id="rId11"/>
    <p:sldId id="358" r:id="rId12"/>
    <p:sldId id="299" r:id="rId13"/>
    <p:sldId id="304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B0595"/>
    <a:srgbClr val="FF0909"/>
    <a:srgbClr val="B31D98"/>
    <a:srgbClr val="F4EBE2"/>
    <a:srgbClr val="FFD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7" autoAdjust="0"/>
    <p:restoredTop sz="94624" autoAdjust="0"/>
  </p:normalViewPr>
  <p:slideViewPr>
    <p:cSldViewPr>
      <p:cViewPr varScale="1">
        <p:scale>
          <a:sx n="89" d="100"/>
          <a:sy n="89" d="100"/>
        </p:scale>
        <p:origin x="1546" y="58"/>
      </p:cViewPr>
      <p:guideLst>
        <p:guide orient="horz" pos="2160"/>
        <p:guide pos="2928"/>
      </p:guideLst>
    </p:cSldViewPr>
  </p:slideViewPr>
  <p:outlineViewPr>
    <p:cViewPr>
      <p:scale>
        <a:sx n="33" d="100"/>
        <a:sy n="33" d="100"/>
      </p:scale>
      <p:origin x="0" y="46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F7680E-169A-A704-87FE-4ADC0A5903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2A24E-CE6B-15F2-B907-C34DF809814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8AAC2CB-9909-4597-A297-626359C96841}" type="datetimeFigureOut">
              <a:rPr lang="en-US"/>
              <a:pPr>
                <a:defRPr/>
              </a:pPr>
              <a:t>9/21/2026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50453D9-7178-AE84-A41F-997C94023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CC655B9-77D0-4B47-3392-6D0863D75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EA624-C286-2413-5595-12355B7633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C0E5F-C13E-ABC7-EE67-6F693542E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6BBB4D-4916-494C-BF68-66BAB50853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25B34BBB-AC75-B6A5-988D-A7E2B5268EC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9" name="Text Placeholder 2">
            <a:extLst>
              <a:ext uri="{FF2B5EF4-FFF2-40B4-BE49-F238E27FC236}">
                <a16:creationId xmlns:a16="http://schemas.microsoft.com/office/drawing/2014/main" id="{9325E3CB-FF91-56E2-F384-061C96C4A617}"/>
              </a:ext>
            </a:extLst>
          </p:cNvPr>
          <p:cNvSpPr>
            <a:spLocks noGrp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EC1899E-10C7-E286-7C5A-6193CDD464D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2A9AE41-0D2A-8177-3552-2D65D02EB7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8EFA0-8B82-4E8F-83AB-751EC3FCF2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350699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170E70E-9F5C-F2B6-1AC3-41B5A78A30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6469CC-9E20-4468-066D-7A6ACC3C476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89518-C392-463E-AD8A-A8268765D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9642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197950C-C4BC-4E33-24BA-545FDA5B4F7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46EB078-EF0D-EF8A-C7EA-B7798280E02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573971-39CA-46CF-A895-61FAB428F7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321949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FA8E5E-9CC8-1E02-4019-EA2D3352FA2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AFC90B-C151-9FFA-F2E1-FC5B78CA7C5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B9629F-B0F8-4D9F-9141-82A53696BF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93971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83DA635-4A46-6AC2-B6EF-5BA02CCEF7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E200FD7-8D8B-70CB-2887-CD078F9B62D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940B97-C6A5-4BC4-8266-53C67604F3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890618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F3C5371-6321-CA22-9693-C9CB652798F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0C2B3D6-5B3A-7B95-9EF7-9F1B150327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70BF8-D139-4659-89E5-5F851F75F5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70496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45DBCD2E-B548-3100-B472-C43538D6E13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8449C9F-4F23-45D5-29A1-7E607AA6D9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9DF58-7ECB-44FF-9950-625F3172FF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628327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A58542-EB59-5CE2-F351-5C1A14692AD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A5FA53-17C6-C86E-2617-1936235B2F8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55833-97CF-48E6-BA91-773693F6C0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262974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C6BACE-9708-B7C3-652A-3EA7175488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A96E1D-9B83-9D09-72C7-9097C45DF27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7AC6A0-C935-4611-B957-BD76BFBB1B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82928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38AF2D-8758-B239-FE6B-2198C009BE0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FD493F2-BF53-D93F-F717-F1342F389AB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0BA3C-B5B3-49B5-844D-83F2066BA1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689717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BD9DBB6-2121-C3F1-CB6B-DE0E2D0845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9BFF119-593A-FF7C-3E7C-73A01A466AC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AD8F4-1758-4CB0-A1B8-A47B84BBF7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820019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B8D885-228D-A51A-23CC-BC5022A98B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C8099FB-3C3C-3E67-0F7D-6A5B2F4F222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266424-2A66-4F3B-AFF3-B6811C4084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850375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0BFD69-F9D0-8156-7896-63E8213885F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21C937E-613D-ED9C-A42F-1E2C139D79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73D7BB-74AD-430A-B6C1-F79F4FF35A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800523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pic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D51F56E-8F12-41C3-094A-E072E899A34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16278CF-8470-37D3-7F78-99D5AB78AF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C3C231-2E8B-4C9E-9FCF-D646EFC782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05090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5DA51F5-0CA2-5BFA-0DC0-4DD165D8AB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76C1F61-F817-AE0F-CF82-2D7B8F4E5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40A0874-7104-AFBF-1116-69634E31CB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 sz="1400" b="0">
                <a:solidFill>
                  <a:srgbClr val="0000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818E478-B68F-C1E2-1935-6D6D4C42B0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3500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AAFF3DE-0B95-4689-9E52-034F7E7E02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Line 7">
            <a:extLst>
              <a:ext uri="{FF2B5EF4-FFF2-40B4-BE49-F238E27FC236}">
                <a16:creationId xmlns:a16="http://schemas.microsoft.com/office/drawing/2014/main" id="{DE25827C-87BA-3254-4AAA-16A930F4A2A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990600"/>
            <a:ext cx="84582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031" name="Text Box 9">
            <a:extLst>
              <a:ext uri="{FF2B5EF4-FFF2-40B4-BE49-F238E27FC236}">
                <a16:creationId xmlns:a16="http://schemas.microsoft.com/office/drawing/2014/main" id="{F7D50A28-A522-6E34-2AF9-FF9F53F84D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14400" y="6248400"/>
            <a:ext cx="19812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sz="1200" dirty="0">
              <a:latin typeface="Verdana" panose="020B0604030504040204" pitchFamily="34" charset="0"/>
            </a:endParaRPr>
          </a:p>
        </p:txBody>
      </p:sp>
      <p:sp>
        <p:nvSpPr>
          <p:cNvPr id="1032" name="Text Box 10">
            <a:extLst>
              <a:ext uri="{FF2B5EF4-FFF2-40B4-BE49-F238E27FC236}">
                <a16:creationId xmlns:a16="http://schemas.microsoft.com/office/drawing/2014/main" id="{50122BE8-8277-CE9B-4B6F-0B13B8347B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" y="6324600"/>
            <a:ext cx="28956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1D98EE8B-037D-4AA1-9C79-2D0BD37144CF}" type="datetime3">
              <a:rPr lang="en-US" sz="1200" smtClean="0">
                <a:solidFill>
                  <a:srgbClr val="0000FF"/>
                </a:solidFill>
                <a:latin typeface="Verdan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21 September 2026</a:t>
            </a:fld>
            <a:endParaRPr lang="en-US" sz="1200" dirty="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  <p:sp>
        <p:nvSpPr>
          <p:cNvPr id="1033" name="Text Box 11">
            <a:extLst>
              <a:ext uri="{FF2B5EF4-FFF2-40B4-BE49-F238E27FC236}">
                <a16:creationId xmlns:a16="http://schemas.microsoft.com/office/drawing/2014/main" id="{0498752C-4BA1-BFAA-57D0-32606EFF93F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88300" y="6583363"/>
            <a:ext cx="1155700" cy="274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03F5EF0B-FE30-4A8B-A3C8-A04FF47E8BDE}" type="slidenum">
              <a:rPr lang="en-US" altLang="en-US" sz="1200" smtClean="0">
                <a:latin typeface="Verdan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en-US" sz="1200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pubmed.ncbi.nlm.nih.gov/38580698/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Box 2">
            <a:extLst>
              <a:ext uri="{FF2B5EF4-FFF2-40B4-BE49-F238E27FC236}">
                <a16:creationId xmlns:a16="http://schemas.microsoft.com/office/drawing/2014/main" id="{CB1A0DFA-A208-FCD2-7BCA-ACAC53E51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976788"/>
            <a:ext cx="3508375" cy="18158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Times New Roman" panose="02020603050405020304" pitchFamily="18" charset="0"/>
              </a:rPr>
              <a:t>Team Members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Aswin Raaj .R</a:t>
            </a: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Mani Balaji .S</a:t>
            </a: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Tharun .V.S</a:t>
            </a:r>
          </a:p>
        </p:txBody>
      </p:sp>
      <p:sp>
        <p:nvSpPr>
          <p:cNvPr id="3076" name="TextBox 3">
            <a:extLst>
              <a:ext uri="{FF2B5EF4-FFF2-40B4-BE49-F238E27FC236}">
                <a16:creationId xmlns:a16="http://schemas.microsoft.com/office/drawing/2014/main" id="{88701D58-5D33-1B3B-4DD4-4CC9BD059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225" y="3976688"/>
            <a:ext cx="4200189" cy="286232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Guided by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algn="just">
              <a:buFontTx/>
              <a:buNone/>
              <a:defRPr/>
            </a:pPr>
            <a:r>
              <a:rPr lang="en-US" sz="2000" b="1" dirty="0">
                <a:latin typeface="+mj-lt"/>
              </a:rPr>
              <a:t>Dr.G.Pandiaraj</a:t>
            </a:r>
          </a:p>
          <a:p>
            <a:pPr algn="just">
              <a:buFontTx/>
              <a:buNone/>
              <a:defRPr/>
            </a:pPr>
            <a:r>
              <a:rPr lang="en-US" sz="2000" dirty="0">
                <a:latin typeface="+mj-lt"/>
              </a:rPr>
              <a:t>Assistant Professor (Sl. Grade)</a:t>
            </a:r>
          </a:p>
          <a:p>
            <a:pPr algn="just">
              <a:buFontTx/>
              <a:buNone/>
              <a:defRPr/>
            </a:pPr>
            <a:r>
              <a:rPr lang="en-US" sz="2000" dirty="0">
                <a:latin typeface="+mj-lt"/>
              </a:rPr>
              <a:t>Electrical and Electronics Engineering</a:t>
            </a:r>
          </a:p>
          <a:p>
            <a:pPr algn="just">
              <a:buFontTx/>
              <a:buNone/>
              <a:defRPr/>
            </a:pPr>
            <a:r>
              <a:rPr lang="en-US" sz="2000" dirty="0">
                <a:latin typeface="+mj-lt"/>
              </a:rPr>
              <a:t>MSEC, Sivakasi</a:t>
            </a:r>
          </a:p>
          <a:p>
            <a:pPr eaLnBrk="1" hangingPunct="1">
              <a:buFontTx/>
              <a:buNone/>
              <a:defRPr/>
            </a:pPr>
            <a:endParaRPr lang="en-US" altLang="en-US" sz="2000" dirty="0"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A1A34-8A56-BFF5-690D-DE6E7D4010CC}"/>
              </a:ext>
            </a:extLst>
          </p:cNvPr>
          <p:cNvSpPr txBox="1"/>
          <p:nvPr/>
        </p:nvSpPr>
        <p:spPr>
          <a:xfrm>
            <a:off x="821531" y="620688"/>
            <a:ext cx="7500937" cy="25545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Badminton Swing Analyzer </a:t>
            </a:r>
          </a:p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using </a:t>
            </a:r>
          </a:p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MPU6050 with ML</a:t>
            </a:r>
          </a:p>
          <a:p>
            <a:pPr algn="ctr">
              <a:defRPr/>
            </a:pPr>
            <a:endParaRPr lang="en-US" sz="4000" dirty="0">
              <a:solidFill>
                <a:srgbClr val="FF0000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712C2C-2C3A-F82F-F456-925E13A53409}"/>
              </a:ext>
            </a:extLst>
          </p:cNvPr>
          <p:cNvSpPr txBox="1"/>
          <p:nvPr/>
        </p:nvSpPr>
        <p:spPr>
          <a:xfrm>
            <a:off x="971600" y="908720"/>
            <a:ext cx="748883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Problem Statement:</a:t>
            </a:r>
            <a:endParaRPr lang="en-US" altLang="en-US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+mj-lt"/>
              </a:rPr>
              <a:t>Traditional badminton training is </a:t>
            </a:r>
            <a:r>
              <a:rPr lang="en-US" altLang="en-US" u="sng" dirty="0">
                <a:latin typeface="+mj-lt"/>
              </a:rPr>
              <a:t>largely dependent on subjective coaching</a:t>
            </a:r>
            <a:r>
              <a:rPr lang="en-US" altLang="en-US" dirty="0">
                <a:latin typeface="+mj-lt"/>
              </a:rPr>
              <a:t> and visual observation, leading to inconsistent performance evaluation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+mj-lt"/>
              </a:rPr>
              <a:t>There is a </a:t>
            </a:r>
            <a:r>
              <a:rPr lang="en-US" altLang="en-US" u="sng" dirty="0">
                <a:latin typeface="+mj-lt"/>
              </a:rPr>
              <a:t>lack of an intelligent and automated system</a:t>
            </a:r>
            <a:r>
              <a:rPr lang="en-US" altLang="en-US" dirty="0">
                <a:latin typeface="+mj-lt"/>
              </a:rPr>
              <a:t> to accurately analyze swing quality, stroke classification, and player efficiency in real time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Motivation: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</a:t>
            </a:r>
            <a:r>
              <a:rPr lang="en-US" u="sng" dirty="0">
                <a:latin typeface="+mj-lt"/>
              </a:rPr>
              <a:t>integrate embedded systems and machine learning </a:t>
            </a:r>
            <a:r>
              <a:rPr lang="en-US" dirty="0">
                <a:latin typeface="+mj-lt"/>
              </a:rPr>
              <a:t>for intelligent sports performance tracking.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provide feedback </a:t>
            </a:r>
            <a:r>
              <a:rPr lang="en-US" u="sng" dirty="0">
                <a:latin typeface="+mj-lt"/>
              </a:rPr>
              <a:t>for improving player technique and training efficiency</a:t>
            </a:r>
            <a:r>
              <a:rPr lang="en-US" dirty="0">
                <a:latin typeface="+mj-lt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Objective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design a smart system that </a:t>
            </a:r>
            <a:r>
              <a:rPr lang="en-US" u="sng" dirty="0">
                <a:latin typeface="+mj-lt"/>
              </a:rPr>
              <a:t>detects and classifies badminton strokes</a:t>
            </a:r>
            <a:r>
              <a:rPr lang="en-US" dirty="0">
                <a:latin typeface="+mj-lt"/>
              </a:rPr>
              <a:t> using sensor data and AI models.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</a:t>
            </a:r>
            <a:r>
              <a:rPr lang="en-US" u="sng" dirty="0">
                <a:latin typeface="+mj-lt"/>
              </a:rPr>
              <a:t>analyze player performance metrics </a:t>
            </a:r>
            <a:r>
              <a:rPr lang="en-US" dirty="0">
                <a:latin typeface="+mj-lt"/>
              </a:rPr>
              <a:t>such as speed, impact, power, and consistency in real time.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29C24-B821-FDAA-25AD-88C505EC07E5}"/>
              </a:ext>
            </a:extLst>
          </p:cNvPr>
          <p:cNvSpPr txBox="1"/>
          <p:nvPr/>
        </p:nvSpPr>
        <p:spPr>
          <a:xfrm>
            <a:off x="2663788" y="116632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411950991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22F528-5BB8-DA53-4416-4D9846E3459B}"/>
              </a:ext>
            </a:extLst>
          </p:cNvPr>
          <p:cNvSpPr txBox="1"/>
          <p:nvPr/>
        </p:nvSpPr>
        <p:spPr>
          <a:xfrm>
            <a:off x="827584" y="620688"/>
            <a:ext cx="37444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Working Principle: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The MPU6050 is a </a:t>
            </a:r>
            <a:r>
              <a:rPr lang="en-IN" b="1" dirty="0">
                <a:latin typeface="+mj-lt"/>
              </a:rPr>
              <a:t>6-axis IMU sensor</a:t>
            </a:r>
            <a:r>
              <a:rPr lang="en-IN" dirty="0">
                <a:latin typeface="+mj-lt"/>
              </a:rPr>
              <a:t> combining: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3-axis Accelerometer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3-axis Gyroscope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Accelerometer</a:t>
            </a:r>
            <a:r>
              <a:rPr lang="en-IN" dirty="0">
                <a:latin typeface="+mj-lt"/>
              </a:rPr>
              <a:t> measures linear motion along X, Y, Z axes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Gyroscope</a:t>
            </a:r>
            <a:r>
              <a:rPr lang="en-IN" dirty="0">
                <a:latin typeface="+mj-lt"/>
              </a:rPr>
              <a:t> measures angular rotation of the racket </a:t>
            </a:r>
          </a:p>
          <a:p>
            <a:endParaRPr lang="en-IN" b="1" dirty="0">
              <a:latin typeface="+mj-lt"/>
            </a:endParaRPr>
          </a:p>
          <a:p>
            <a:pPr>
              <a:buNone/>
            </a:pPr>
            <a:r>
              <a:rPr lang="en-IN" b="1" dirty="0">
                <a:latin typeface="+mj-lt"/>
              </a:rPr>
              <a:t> </a:t>
            </a:r>
            <a:endParaRPr lang="en-IN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B08509-097A-0E85-D301-2F30F76EAFF1}"/>
              </a:ext>
            </a:extLst>
          </p:cNvPr>
          <p:cNvSpPr txBox="1"/>
          <p:nvPr/>
        </p:nvSpPr>
        <p:spPr>
          <a:xfrm>
            <a:off x="1647777" y="159023"/>
            <a:ext cx="6120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MPU6050 IMU Sensor</a:t>
            </a:r>
            <a:endParaRPr lang="en-IN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EB26BB-6F0F-64B9-7960-9CAB32F36EB2}"/>
              </a:ext>
            </a:extLst>
          </p:cNvPr>
          <p:cNvSpPr txBox="1"/>
          <p:nvPr/>
        </p:nvSpPr>
        <p:spPr>
          <a:xfrm>
            <a:off x="4860032" y="908720"/>
            <a:ext cx="381160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Data Processing: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+mj-lt"/>
              </a:rPr>
              <a:t>Sensor outputs raw data via </a:t>
            </a:r>
          </a:p>
          <a:p>
            <a:r>
              <a:rPr lang="en-IN" sz="1800" b="1" dirty="0">
                <a:latin typeface="+mj-lt"/>
              </a:rPr>
              <a:t>     I2C communication</a:t>
            </a:r>
            <a:r>
              <a:rPr lang="en-IN" sz="1800" dirty="0">
                <a:latin typeface="+mj-lt"/>
              </a:rPr>
              <a:t> to ESP32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+mj-lt"/>
              </a:rPr>
              <a:t>Acceleration + angular velocity are continuously monitored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+mj-lt"/>
              </a:rPr>
              <a:t>Total acceleration is computed to detect swing motion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8D9346-5DB7-8D18-CD4C-04CE7F489416}"/>
              </a:ext>
            </a:extLst>
          </p:cNvPr>
          <p:cNvSpPr txBox="1"/>
          <p:nvPr/>
        </p:nvSpPr>
        <p:spPr>
          <a:xfrm>
            <a:off x="4105271" y="3485435"/>
            <a:ext cx="45720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Role in Project: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Detects start and end of badminton swings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Captures </a:t>
            </a:r>
            <a:r>
              <a:rPr lang="en-IN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motion characteristics </a:t>
            </a:r>
            <a:r>
              <a:rPr lang="en-IN" dirty="0">
                <a:latin typeface="+mj-lt"/>
              </a:rPr>
              <a:t>like: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Speed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Impact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Direction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Provides input for feature extraction and ML models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29951E-FB80-91FD-365D-722618D9D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94" y="3598624"/>
            <a:ext cx="3448308" cy="256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846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6E9BCF-16C2-4208-E143-E8663BCC9792}"/>
              </a:ext>
            </a:extLst>
          </p:cNvPr>
          <p:cNvSpPr txBox="1"/>
          <p:nvPr/>
        </p:nvSpPr>
        <p:spPr>
          <a:xfrm>
            <a:off x="827584" y="423150"/>
            <a:ext cx="8928992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Working Logic: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Continuously read accelerometer &amp; gyroscope data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Compute total acceleration magnitude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If acceleration </a:t>
            </a:r>
            <a:r>
              <a:rPr lang="en-IN" sz="1600" b="1" dirty="0">
                <a:latin typeface="+mj-lt"/>
              </a:rPr>
              <a:t>&gt;</a:t>
            </a:r>
            <a:r>
              <a:rPr lang="en-IN" sz="1600" dirty="0">
                <a:latin typeface="+mj-lt"/>
              </a:rPr>
              <a:t> </a:t>
            </a:r>
            <a:r>
              <a:rPr lang="en-IN" sz="1600" b="1" dirty="0">
                <a:latin typeface="+mj-lt"/>
              </a:rPr>
              <a:t>START_THRESHOLD</a:t>
            </a:r>
            <a:r>
              <a:rPr lang="en-IN" sz="1600" dirty="0">
                <a:latin typeface="+mj-lt"/>
              </a:rPr>
              <a:t> 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 </a:t>
            </a:r>
            <a:r>
              <a:rPr lang="en-IN" sz="1600" dirty="0">
                <a:latin typeface="+mj-lt"/>
              </a:rPr>
              <a:t>Start swing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Track </a:t>
            </a:r>
            <a:r>
              <a:rPr lang="en-IN" sz="1600" b="1" dirty="0">
                <a:latin typeface="+mj-lt"/>
              </a:rPr>
              <a:t>peak speed</a:t>
            </a:r>
            <a:r>
              <a:rPr lang="en-IN" sz="1600" dirty="0">
                <a:latin typeface="+mj-lt"/>
              </a:rPr>
              <a:t> and </a:t>
            </a:r>
            <a:r>
              <a:rPr lang="en-IN" sz="1600" b="1" dirty="0">
                <a:latin typeface="+mj-lt"/>
              </a:rPr>
              <a:t>maximum impact</a:t>
            </a:r>
            <a:r>
              <a:rPr lang="en-IN" sz="1600" dirty="0">
                <a:latin typeface="+mj-lt"/>
              </a:rPr>
              <a:t> during motion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If acceleration </a:t>
            </a:r>
            <a:r>
              <a:rPr lang="en-IN" sz="1600" b="1" dirty="0">
                <a:latin typeface="+mj-lt"/>
              </a:rPr>
              <a:t>&lt;</a:t>
            </a:r>
            <a:r>
              <a:rPr lang="en-IN" sz="1600" dirty="0">
                <a:latin typeface="+mj-lt"/>
              </a:rPr>
              <a:t> </a:t>
            </a:r>
            <a:r>
              <a:rPr lang="en-IN" sz="1600" b="1" dirty="0">
                <a:latin typeface="+mj-lt"/>
              </a:rPr>
              <a:t>END_THRESHOLD</a:t>
            </a:r>
            <a:r>
              <a:rPr lang="en-IN" sz="1600" dirty="0">
                <a:latin typeface="+mj-lt"/>
              </a:rPr>
              <a:t> AND duration &gt; </a:t>
            </a:r>
            <a:r>
              <a:rPr lang="en-IN" sz="1600" b="1" dirty="0">
                <a:latin typeface="+mj-lt"/>
              </a:rPr>
              <a:t>MIN_DURATION</a:t>
            </a:r>
            <a:r>
              <a:rPr lang="en-IN" sz="1600" dirty="0">
                <a:latin typeface="+mj-lt"/>
              </a:rPr>
              <a:t> 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en-IN" sz="1600" dirty="0">
                <a:latin typeface="+mj-lt"/>
              </a:rPr>
              <a:t>End swing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Store swing data for further processing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1600" dirty="0">
              <a:latin typeface="+mj-lt"/>
            </a:endParaRP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Parameters ( Tuned ): 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START_THRESHOLD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detects swing beginning </a:t>
            </a:r>
            <a:endParaRPr lang="en-IN" sz="16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END_THRESHOLD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detects swing completion </a:t>
            </a:r>
            <a:endParaRPr lang="en-IN" sz="16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MIN_DURATION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removes false short movements </a:t>
            </a:r>
            <a:endParaRPr lang="en-IN" sz="16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COOLDOWN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avoids duplicate detection 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Ensures only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valid badminton strokes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are captured </a:t>
            </a:r>
            <a:endParaRPr lang="en-I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Removes noise from random hand movement </a:t>
            </a:r>
            <a:endParaRPr lang="en-I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Forms the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foundation for ML accuracy</a:t>
            </a:r>
            <a:endParaRPr lang="en-IN" sz="1600" dirty="0"/>
          </a:p>
          <a:p>
            <a:pPr>
              <a:lnSpc>
                <a:spcPct val="150000"/>
              </a:lnSpc>
            </a:pPr>
            <a:endParaRPr lang="en-IN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+mj-lt"/>
            </a:endParaRPr>
          </a:p>
          <a:p>
            <a:pPr>
              <a:buNone/>
            </a:pP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27E42-74FD-9B3D-24D7-C8592605CEC7}"/>
              </a:ext>
            </a:extLst>
          </p:cNvPr>
          <p:cNvSpPr txBox="1"/>
          <p:nvPr/>
        </p:nvSpPr>
        <p:spPr>
          <a:xfrm>
            <a:off x="2267744" y="24738"/>
            <a:ext cx="49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Swing Detection Algorithm</a:t>
            </a:r>
          </a:p>
        </p:txBody>
      </p:sp>
    </p:spTree>
    <p:extLst>
      <p:ext uri="{BB962C8B-B14F-4D97-AF65-F5344CB8AC3E}">
        <p14:creationId xmlns:p14="http://schemas.microsoft.com/office/powerpoint/2010/main" val="88300333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215CF4-F935-F997-AE6B-6DC48D760E64}"/>
              </a:ext>
            </a:extLst>
          </p:cNvPr>
          <p:cNvSpPr txBox="1"/>
          <p:nvPr/>
        </p:nvSpPr>
        <p:spPr>
          <a:xfrm>
            <a:off x="3203848" y="44624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Block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947EF-7CC9-B80D-6CCE-B380439E8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2" y="692696"/>
            <a:ext cx="9144000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22853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6AE160-8D8F-DD2F-C354-7E0542161DFE}"/>
              </a:ext>
            </a:extLst>
          </p:cNvPr>
          <p:cNvSpPr txBox="1"/>
          <p:nvPr/>
        </p:nvSpPr>
        <p:spPr>
          <a:xfrm>
            <a:off x="683568" y="980728"/>
            <a:ext cx="3888432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Feature Engineering: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Raw IMU data is converted into meaningful features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Key features extracted: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Speed</a:t>
            </a: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 (from ang. velocity)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Impact</a:t>
            </a: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 (from acc. magnitude)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Duration</a:t>
            </a: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 (swing time)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Derived features: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Power = </a:t>
            </a:r>
            <a:r>
              <a:rPr lang="en-US" sz="1600" dirty="0">
                <a:latin typeface="+mj-lt"/>
              </a:rPr>
              <a:t>Speed × Impact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Efficiency = </a:t>
            </a:r>
            <a:r>
              <a:rPr lang="en-US" sz="1600" dirty="0">
                <a:latin typeface="+mj-lt"/>
              </a:rPr>
              <a:t>Impact / Duration </a:t>
            </a:r>
          </a:p>
          <a:p>
            <a:pPr>
              <a:buNone/>
            </a:pPr>
            <a:endParaRPr lang="en-US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6398E-15CC-F5AC-FF6B-5A396DEDE6A7}"/>
              </a:ext>
            </a:extLst>
          </p:cNvPr>
          <p:cNvSpPr txBox="1"/>
          <p:nvPr/>
        </p:nvSpPr>
        <p:spPr>
          <a:xfrm>
            <a:off x="4644008" y="3456559"/>
            <a:ext cx="4572000" cy="1679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600" dirty="0">
              <a:latin typeface="+mj-lt"/>
            </a:endParaRPr>
          </a:p>
          <a:p>
            <a:pPr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Classification Logic: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Power &lt; Weak Threshold → </a:t>
            </a:r>
            <a:r>
              <a:rPr lang="en-US" sz="1600" b="1" dirty="0">
                <a:latin typeface="+mj-lt"/>
              </a:rPr>
              <a:t>WEAK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Power between thresholds → </a:t>
            </a:r>
            <a:r>
              <a:rPr lang="en-US" sz="1600" b="1" dirty="0">
                <a:latin typeface="+mj-lt"/>
              </a:rPr>
              <a:t>MEDIUM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Power &gt; Strong Threshold → </a:t>
            </a:r>
            <a:r>
              <a:rPr lang="en-US" sz="1600" b="1" dirty="0">
                <a:latin typeface="+mj-lt"/>
              </a:rPr>
              <a:t>STRONG</a:t>
            </a:r>
            <a:endParaRPr lang="en-US" sz="16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AE201-AABA-103E-BD58-C6EA49E9B716}"/>
              </a:ext>
            </a:extLst>
          </p:cNvPr>
          <p:cNvSpPr txBox="1"/>
          <p:nvPr/>
        </p:nvSpPr>
        <p:spPr>
          <a:xfrm>
            <a:off x="2502388" y="188640"/>
            <a:ext cx="4787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Feature Engineering &amp; Calibration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4C7723-0445-9044-FE93-D0CF25A87C1F}"/>
              </a:ext>
            </a:extLst>
          </p:cNvPr>
          <p:cNvSpPr txBox="1"/>
          <p:nvPr/>
        </p:nvSpPr>
        <p:spPr>
          <a:xfrm>
            <a:off x="4644008" y="905451"/>
            <a:ext cx="4860984" cy="220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Calibration (Personalized Thresholding):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First </a:t>
            </a:r>
            <a:r>
              <a:rPr lang="en-US" sz="1600" b="1" dirty="0">
                <a:latin typeface="+mj-lt"/>
              </a:rPr>
              <a:t>30 swings </a:t>
            </a:r>
            <a:r>
              <a:rPr lang="en-US" sz="1600" dirty="0">
                <a:latin typeface="+mj-lt"/>
              </a:rPr>
              <a:t>recorded in </a:t>
            </a:r>
            <a:r>
              <a:rPr lang="en-US" sz="1600" b="1" dirty="0">
                <a:latin typeface="+mj-lt"/>
              </a:rPr>
              <a:t>calibration mode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Used to create </a:t>
            </a:r>
            <a:r>
              <a:rPr lang="en-US" sz="1600" b="1" dirty="0">
                <a:latin typeface="+mj-lt"/>
              </a:rPr>
              <a:t>player-specific baseline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Thresholds computed using: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25th </a:t>
            </a:r>
            <a:r>
              <a:rPr lang="en-US" sz="1600" dirty="0">
                <a:latin typeface="+mj-lt"/>
              </a:rPr>
              <a:t>percentile </a:t>
            </a:r>
            <a:r>
              <a:rPr lang="en-US" sz="1600" b="1" dirty="0">
                <a:latin typeface="+mj-lt"/>
              </a:rPr>
              <a:t>→ Weak threshold</a:t>
            </a:r>
            <a:r>
              <a:rPr lang="en-US" sz="1600" dirty="0"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75th </a:t>
            </a:r>
            <a:r>
              <a:rPr lang="en-US" sz="1600" dirty="0">
                <a:latin typeface="+mj-lt"/>
              </a:rPr>
              <a:t>percentile</a:t>
            </a:r>
            <a:r>
              <a:rPr lang="en-US" sz="1600" b="1" dirty="0">
                <a:latin typeface="+mj-lt"/>
              </a:rPr>
              <a:t> → Strong threshold</a:t>
            </a:r>
            <a:r>
              <a:rPr lang="en-US" sz="160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714986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8F5CDA-5F9C-F22F-E76E-B7B37D9FA28A}"/>
              </a:ext>
            </a:extLst>
          </p:cNvPr>
          <p:cNvSpPr txBox="1"/>
          <p:nvPr/>
        </p:nvSpPr>
        <p:spPr>
          <a:xfrm>
            <a:off x="800338" y="548680"/>
            <a:ext cx="4059694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Data Sources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Real Sensor Data -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Collected using ESP32 + IMU during gameplay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Includes speed, impact, duration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CB0595"/>
                </a:solidFill>
                <a:latin typeface="+mj-lt"/>
              </a:rPr>
              <a:t>Synthetic Data (MATLAB Generated) -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Created to simulate different swing patterns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Used to balance dataset and improve robustness </a:t>
            </a: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  <a:p>
            <a:pPr>
              <a:buNone/>
            </a:pPr>
            <a:endParaRPr lang="en-IN" sz="1600" dirty="0">
              <a:latin typeface="+mj-lt"/>
            </a:endParaRPr>
          </a:p>
          <a:p>
            <a:pPr>
              <a:buNone/>
            </a:pP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D65B3-E5ED-7511-2D10-88C7BBF3A805}"/>
              </a:ext>
            </a:extLst>
          </p:cNvPr>
          <p:cNvSpPr txBox="1"/>
          <p:nvPr/>
        </p:nvSpPr>
        <p:spPr>
          <a:xfrm>
            <a:off x="5004048" y="4077072"/>
            <a:ext cx="4572000" cy="180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Final Dataset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Features -</a:t>
            </a:r>
            <a:r>
              <a:rPr lang="en-IN" sz="1600" b="1" dirty="0"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Speed, Impact, Duration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Power, Efficiency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Acceleration &amp; Gyro metrics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FBB183-64CE-45E6-A6FD-257A275C0060}"/>
              </a:ext>
            </a:extLst>
          </p:cNvPr>
          <p:cNvSpPr txBox="1"/>
          <p:nvPr/>
        </p:nvSpPr>
        <p:spPr>
          <a:xfrm>
            <a:off x="1894081" y="72903"/>
            <a:ext cx="62199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Machine Learning Pipeline (Training &amp; Data)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02236-FDE8-EBA5-43CF-2E71D4569CEB}"/>
              </a:ext>
            </a:extLst>
          </p:cNvPr>
          <p:cNvSpPr txBox="1"/>
          <p:nvPr/>
        </p:nvSpPr>
        <p:spPr>
          <a:xfrm>
            <a:off x="5148064" y="756098"/>
            <a:ext cx="4572000" cy="324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Synthetic Data Logic (MATLAB)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Generate signals</a:t>
            </a:r>
            <a:r>
              <a:rPr lang="en-IN" sz="1600" b="1" dirty="0">
                <a:latin typeface="+mj-lt"/>
              </a:rPr>
              <a:t> </a:t>
            </a:r>
            <a:r>
              <a:rPr lang="en-IN" sz="1600" dirty="0">
                <a:latin typeface="+mj-lt"/>
              </a:rPr>
              <a:t>based on: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Acceleration patterns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Angular velocity variations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Apply</a:t>
            </a:r>
            <a:r>
              <a:rPr lang="en-IN" sz="1600" dirty="0">
                <a:latin typeface="+mj-lt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Noise injection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Scaling (weak → strong swings)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Time variation (fast vs slow strokes)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To Simulates realistic badminton swings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58B01E-E15B-92DD-446D-C378FC1AE31C}"/>
              </a:ext>
            </a:extLst>
          </p:cNvPr>
          <p:cNvSpPr txBox="1"/>
          <p:nvPr/>
        </p:nvSpPr>
        <p:spPr>
          <a:xfrm>
            <a:off x="800338" y="4105295"/>
            <a:ext cx="4787660" cy="2171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Data Augmentation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CB0595"/>
                </a:solidFill>
                <a:latin typeface="+mj-lt"/>
              </a:rPr>
              <a:t>Combine</a:t>
            </a:r>
            <a:r>
              <a:rPr lang="en-IN" sz="1600" b="1" dirty="0">
                <a:latin typeface="+mj-lt"/>
              </a:rPr>
              <a:t> real + synthetic data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Improves -</a:t>
            </a:r>
            <a:r>
              <a:rPr lang="en-IN" sz="1600" b="1" dirty="0"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Model generalization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Accuracy across players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Handling of edge cases </a:t>
            </a:r>
          </a:p>
        </p:txBody>
      </p:sp>
    </p:spTree>
    <p:extLst>
      <p:ext uri="{BB962C8B-B14F-4D97-AF65-F5344CB8AC3E}">
        <p14:creationId xmlns:p14="http://schemas.microsoft.com/office/powerpoint/2010/main" val="331819705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FB8314-EE67-D681-28B4-DF4EF6B06412}"/>
              </a:ext>
            </a:extLst>
          </p:cNvPr>
          <p:cNvSpPr txBox="1"/>
          <p:nvPr/>
        </p:nvSpPr>
        <p:spPr>
          <a:xfrm>
            <a:off x="899592" y="836712"/>
            <a:ext cx="457200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Algorithm: Random Forest Classifier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Ensemble learning method using </a:t>
            </a:r>
            <a:r>
              <a:rPr lang="en-IN" sz="1600" b="1" dirty="0">
                <a:latin typeface="+mj-lt"/>
              </a:rPr>
              <a:t>multiple decision trees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Improves accuracy through </a:t>
            </a:r>
            <a:r>
              <a:rPr lang="en-IN" sz="1600" b="1" dirty="0">
                <a:latin typeface="+mj-lt"/>
              </a:rPr>
              <a:t>majority voting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Robust against </a:t>
            </a:r>
            <a:r>
              <a:rPr lang="en-IN" sz="1600" b="1" dirty="0">
                <a:latin typeface="+mj-lt"/>
              </a:rPr>
              <a:t>noise and overfitting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600" dirty="0">
              <a:latin typeface="+mj-lt"/>
            </a:endParaRP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Swing Classification Model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Input Features:</a:t>
            </a:r>
            <a:r>
              <a:rPr lang="en-IN" sz="1600" dirty="0">
                <a:latin typeface="+mj-lt"/>
              </a:rPr>
              <a:t> Speed, Impact, Power, Efficiency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Output Classes:</a:t>
            </a:r>
            <a:r>
              <a:rPr lang="en-IN" sz="1600" dirty="0">
                <a:latin typeface="+mj-lt"/>
              </a:rPr>
              <a:t> WEAK / MEDIUM / STRONG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Learns patterns in </a:t>
            </a:r>
            <a:r>
              <a:rPr lang="en-IN" sz="1600" b="1" dirty="0">
                <a:latin typeface="+mj-lt"/>
              </a:rPr>
              <a:t>swing strength and performance quality</a:t>
            </a:r>
            <a:r>
              <a:rPr lang="en-IN" sz="1600" dirty="0">
                <a:latin typeface="+mj-lt"/>
              </a:rPr>
              <a:t> </a:t>
            </a:r>
          </a:p>
          <a:p>
            <a:endParaRPr lang="en-IN" sz="1600" dirty="0">
              <a:latin typeface="+mj-lt"/>
            </a:endParaRP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Stroke Classification Model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Input Features:</a:t>
            </a:r>
            <a:r>
              <a:rPr lang="en-IN" sz="1600" dirty="0">
                <a:latin typeface="+mj-lt"/>
              </a:rPr>
              <a:t> Acceleration magnitude, Gyro magnitude, Peak values, Energy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Output Classes:</a:t>
            </a:r>
            <a:r>
              <a:rPr lang="en-IN" sz="1600" dirty="0">
                <a:latin typeface="+mj-lt"/>
              </a:rPr>
              <a:t> SMASH / DROP / CLEAR / DRIVE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Identifies </a:t>
            </a:r>
            <a:r>
              <a:rPr lang="en-IN" sz="1600" b="1" dirty="0">
                <a:latin typeface="+mj-lt"/>
              </a:rPr>
              <a:t>type of badminton stroke based on motion patterns</a:t>
            </a:r>
            <a:endParaRPr lang="en-IN" sz="1600" dirty="0">
              <a:latin typeface="+mj-lt"/>
            </a:endParaRP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B0C05-3E79-514E-CC92-C4F3364AE4E0}"/>
              </a:ext>
            </a:extLst>
          </p:cNvPr>
          <p:cNvSpPr txBox="1"/>
          <p:nvPr/>
        </p:nvSpPr>
        <p:spPr>
          <a:xfrm>
            <a:off x="2915816" y="18864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ML Models &amp; Deployment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55E112-BE9B-35B5-66C9-BF20B4C65629}"/>
              </a:ext>
            </a:extLst>
          </p:cNvPr>
          <p:cNvSpPr txBox="1"/>
          <p:nvPr/>
        </p:nvSpPr>
        <p:spPr>
          <a:xfrm>
            <a:off x="5292080" y="1484784"/>
            <a:ext cx="5040560" cy="1463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Training Process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Supervised learning </a:t>
            </a:r>
            <a:r>
              <a:rPr lang="en-IN" sz="1600" dirty="0">
                <a:latin typeface="+mj-lt"/>
              </a:rPr>
              <a:t>using labelled dataset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Input: engineered features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Model learns patterns between motion and stroke type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2FC629-F47C-0F83-F475-6C62D6BEE737}"/>
              </a:ext>
            </a:extLst>
          </p:cNvPr>
          <p:cNvSpPr txBox="1"/>
          <p:nvPr/>
        </p:nvSpPr>
        <p:spPr>
          <a:xfrm>
            <a:off x="5292080" y="3429000"/>
            <a:ext cx="4572000" cy="1463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Model Deployment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Trained models saved as </a:t>
            </a:r>
            <a:r>
              <a:rPr lang="en-IN" sz="1600" b="1" dirty="0">
                <a:latin typeface="+mj-lt"/>
              </a:rPr>
              <a:t>.</a:t>
            </a:r>
            <a:r>
              <a:rPr lang="en-IN" sz="1600" b="1" dirty="0" err="1">
                <a:latin typeface="+mj-lt"/>
              </a:rPr>
              <a:t>pkl</a:t>
            </a:r>
            <a:r>
              <a:rPr lang="en-IN" sz="1600" b="1" dirty="0">
                <a:latin typeface="+mj-lt"/>
              </a:rPr>
              <a:t> files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Loaded in Python using </a:t>
            </a:r>
            <a:r>
              <a:rPr lang="en-IN" sz="1600" b="1" dirty="0" err="1">
                <a:latin typeface="+mj-lt"/>
              </a:rPr>
              <a:t>joblib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Used for real-time prediction after each swing </a:t>
            </a:r>
          </a:p>
        </p:txBody>
      </p:sp>
    </p:spTree>
    <p:extLst>
      <p:ext uri="{BB962C8B-B14F-4D97-AF65-F5344CB8AC3E}">
        <p14:creationId xmlns:p14="http://schemas.microsoft.com/office/powerpoint/2010/main" val="38456340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1C6FAFC-4D7E-EB7F-1728-F5BECC57C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245" y="4924501"/>
            <a:ext cx="9252520" cy="20850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251A7F-00B3-5BC7-D875-7D7A919623BB}"/>
              </a:ext>
            </a:extLst>
          </p:cNvPr>
          <p:cNvSpPr txBox="1"/>
          <p:nvPr/>
        </p:nvSpPr>
        <p:spPr>
          <a:xfrm>
            <a:off x="2286000" y="-8955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F64BA-359A-A6B2-FE03-2A139EAD3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910"/>
            <a:ext cx="5446539" cy="2337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96B7D7-98F1-F4FE-CB3C-7A10BF6CE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245" y="2648305"/>
            <a:ext cx="4165197" cy="2703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5855F6-B6C3-84B9-170D-75228E28A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9952" y="2648305"/>
            <a:ext cx="5202905" cy="27031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E32370-83C4-FB21-B6CE-AEAB08ACF1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6539" y="310910"/>
            <a:ext cx="3697461" cy="241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6234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CF0000-CE40-AD69-A3B3-451D657F9FAE}"/>
              </a:ext>
            </a:extLst>
          </p:cNvPr>
          <p:cNvSpPr txBox="1"/>
          <p:nvPr/>
        </p:nvSpPr>
        <p:spPr>
          <a:xfrm>
            <a:off x="3383868" y="195608"/>
            <a:ext cx="28083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Key Innovations</a:t>
            </a:r>
          </a:p>
          <a:p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91281-727B-49A6-9AFC-F9B42C1A2CD2}"/>
              </a:ext>
            </a:extLst>
          </p:cNvPr>
          <p:cNvSpPr txBox="1"/>
          <p:nvPr/>
        </p:nvSpPr>
        <p:spPr>
          <a:xfrm>
            <a:off x="899592" y="980728"/>
            <a:ext cx="403244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Hybrid Classification Approach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Combines </a:t>
            </a:r>
            <a:r>
              <a:rPr lang="en-IN" sz="1600" b="1" dirty="0">
                <a:latin typeface="+mj-lt"/>
              </a:rPr>
              <a:t>threshold-based detection with ML</a:t>
            </a:r>
            <a:r>
              <a:rPr lang="en-IN" sz="1600" dirty="0">
                <a:latin typeface="+mj-lt"/>
              </a:rPr>
              <a:t> prediction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Ensures </a:t>
            </a:r>
            <a:r>
              <a:rPr lang="en-IN" sz="1600" u="sng" dirty="0">
                <a:latin typeface="+mj-lt"/>
              </a:rPr>
              <a:t>high reliability + intelligent decision </a:t>
            </a:r>
            <a:r>
              <a:rPr lang="en-IN" sz="1600" dirty="0">
                <a:latin typeface="+mj-lt"/>
              </a:rPr>
              <a:t>making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u="sng" dirty="0">
                <a:latin typeface="+mj-lt"/>
              </a:rPr>
              <a:t>Improves system accuracy </a:t>
            </a: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Personalized Calibration System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Uses </a:t>
            </a:r>
            <a:r>
              <a:rPr lang="en-IN" sz="1600" b="1" dirty="0">
                <a:latin typeface="+mj-lt"/>
              </a:rPr>
              <a:t>first 30 swings as baseline data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Generates </a:t>
            </a:r>
            <a:r>
              <a:rPr lang="en-IN" sz="1600" u="sng" dirty="0">
                <a:latin typeface="+mj-lt"/>
              </a:rPr>
              <a:t>dynamic, player-specific thresholds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Adapts to different playing styles automatically </a:t>
            </a: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1733F-C070-F6C8-8975-5E4770038391}"/>
              </a:ext>
            </a:extLst>
          </p:cNvPr>
          <p:cNvSpPr txBox="1"/>
          <p:nvPr/>
        </p:nvSpPr>
        <p:spPr>
          <a:xfrm>
            <a:off x="4607145" y="1803068"/>
            <a:ext cx="4572000" cy="3618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600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Synthetic Data Augmentation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MATLAB-generated realistic swing data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Includes noise, variation, and scaling effects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u="sng" dirty="0">
                <a:latin typeface="+mj-lt"/>
              </a:rPr>
              <a:t>Improves model generalization </a:t>
            </a:r>
            <a:r>
              <a:rPr lang="en-IN" sz="1600" dirty="0">
                <a:latin typeface="+mj-lt"/>
              </a:rPr>
              <a:t>and robustness </a:t>
            </a: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Dual Machine Learning Models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Swing Model</a:t>
            </a:r>
            <a:r>
              <a:rPr lang="en-IN" sz="1600" dirty="0">
                <a:latin typeface="+mj-lt"/>
              </a:rPr>
              <a:t> → Weak / Medium / Strong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Stroke Model</a:t>
            </a:r>
            <a:r>
              <a:rPr lang="en-IN" sz="1600" dirty="0">
                <a:latin typeface="+mj-lt"/>
              </a:rPr>
              <a:t> → Smash / Drop / Clear / Drive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Enables </a:t>
            </a:r>
            <a:r>
              <a:rPr lang="en-IN" sz="1600" b="1" dirty="0">
                <a:latin typeface="+mj-lt"/>
              </a:rPr>
              <a:t>multi-level performance analysis</a:t>
            </a:r>
            <a:r>
              <a:rPr lang="en-IN" sz="160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088967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04140E-6186-66CF-8F34-B8C45C1E0AF9}"/>
              </a:ext>
            </a:extLst>
          </p:cNvPr>
          <p:cNvSpPr txBox="1"/>
          <p:nvPr/>
        </p:nvSpPr>
        <p:spPr>
          <a:xfrm>
            <a:off x="2843808" y="145593"/>
            <a:ext cx="3744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909"/>
                </a:solidFill>
                <a:latin typeface="+mj-lt"/>
              </a:rPr>
              <a:t>Key Challenges &amp; Solutions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13A095-7785-FE9A-E91F-EE6AFB33F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645914"/>
              </p:ext>
            </p:extLst>
          </p:nvPr>
        </p:nvGraphicFramePr>
        <p:xfrm>
          <a:off x="1043608" y="1052736"/>
          <a:ext cx="7704856" cy="4610699"/>
        </p:xfrm>
        <a:graphic>
          <a:graphicData uri="http://schemas.openxmlformats.org/drawingml/2006/table">
            <a:tbl>
              <a:tblPr/>
              <a:tblGrid>
                <a:gridCol w="634509">
                  <a:extLst>
                    <a:ext uri="{9D8B030D-6E8A-4147-A177-3AD203B41FA5}">
                      <a16:colId xmlns:a16="http://schemas.microsoft.com/office/drawing/2014/main" val="3966177876"/>
                    </a:ext>
                  </a:extLst>
                </a:gridCol>
                <a:gridCol w="3974003">
                  <a:extLst>
                    <a:ext uri="{9D8B030D-6E8A-4147-A177-3AD203B41FA5}">
                      <a16:colId xmlns:a16="http://schemas.microsoft.com/office/drawing/2014/main" val="1053752057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614335731"/>
                    </a:ext>
                  </a:extLst>
                </a:gridCol>
              </a:tblGrid>
              <a:tr h="3251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S.no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Challenges Faced</a:t>
                      </a:r>
                      <a:endParaRPr lang="en-IN" sz="2000" dirty="0"/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Solutions </a:t>
                      </a:r>
                      <a:r>
                        <a:rPr lang="en-I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Implemented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9841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1.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Sensor saturation during high-impact smashes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Applied </a:t>
                      </a:r>
                      <a:r>
                        <a:rPr lang="en-US" sz="1600" b="1" dirty="0"/>
                        <a:t>threshold tuning </a:t>
                      </a:r>
                      <a:r>
                        <a:rPr lang="en-US" sz="1600" dirty="0"/>
                        <a:t>and signal scaling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914465"/>
                  </a:ext>
                </a:extLst>
              </a:tr>
              <a:tr h="562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2.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Noise and drift in IMU data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Used </a:t>
                      </a:r>
                      <a:r>
                        <a:rPr lang="en-US" sz="1600" b="1" dirty="0"/>
                        <a:t>Kalman filtering </a:t>
                      </a:r>
                      <a:r>
                        <a:rPr lang="en-US" sz="1600" dirty="0"/>
                        <a:t>and gravity compensation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712943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3.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Offset calibration instability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Implemented </a:t>
                      </a:r>
                      <a:r>
                        <a:rPr lang="en-US" sz="1600" b="1" dirty="0"/>
                        <a:t>proper sensor offset correction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40212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4.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Swing boundary detection (start/end)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Designed </a:t>
                      </a:r>
                      <a:r>
                        <a:rPr lang="en-IN" sz="1600" b="1" dirty="0"/>
                        <a:t>threshold + duration-based algorithm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242060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5.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False swing detection (random movements)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Added </a:t>
                      </a:r>
                      <a:r>
                        <a:rPr lang="en-US" sz="1600" b="1" dirty="0"/>
                        <a:t>minimum duration and cooldown logic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826758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6.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Limited real-world dataset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Generated </a:t>
                      </a:r>
                      <a:r>
                        <a:rPr lang="en-US" sz="1600" b="1" dirty="0"/>
                        <a:t>synthetic data </a:t>
                      </a:r>
                      <a:r>
                        <a:rPr lang="en-US" sz="1600" dirty="0"/>
                        <a:t>using MATLAB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237417"/>
                  </a:ext>
                </a:extLst>
              </a:tr>
              <a:tr h="8037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7.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Model generalization across players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Used </a:t>
                      </a:r>
                      <a:r>
                        <a:rPr lang="en-US" sz="1600" b="1" dirty="0"/>
                        <a:t>personalized calibration </a:t>
                      </a:r>
                      <a:r>
                        <a:rPr lang="en-US" sz="1600" dirty="0"/>
                        <a:t>(first 30 swings)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34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5391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03A873-16C4-007F-30B8-7C0FD5C53DD4}"/>
              </a:ext>
            </a:extLst>
          </p:cNvPr>
          <p:cNvSpPr txBox="1"/>
          <p:nvPr/>
        </p:nvSpPr>
        <p:spPr>
          <a:xfrm>
            <a:off x="521494" y="260648"/>
            <a:ext cx="8101012" cy="5232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FF0000"/>
                </a:solidFill>
                <a:latin typeface="+mj-lt"/>
              </a:rPr>
              <a:t>References</a:t>
            </a:r>
            <a:endParaRPr lang="en-IN" sz="32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63DFC-A076-EED5-6B98-FF0C79C8F702}"/>
              </a:ext>
            </a:extLst>
          </p:cNvPr>
          <p:cNvSpPr txBox="1"/>
          <p:nvPr/>
        </p:nvSpPr>
        <p:spPr>
          <a:xfrm>
            <a:off x="1115616" y="1052736"/>
            <a:ext cx="792088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effectLst/>
                <a:latin typeface="Arial" panose="020B0604020202020204" pitchFamily="34" charset="0"/>
              </a:rPr>
              <a:t>Rodrigues, João Victor Oliveira, et al. "Performance evaluation of accelerometers ADXL345 and MPU6050 exposed to random vibrational input." </a:t>
            </a:r>
            <a:r>
              <a:rPr lang="en-US" sz="1400" b="0" i="1" dirty="0">
                <a:effectLst/>
                <a:latin typeface="Arial" panose="020B0604020202020204" pitchFamily="34" charset="0"/>
              </a:rPr>
              <a:t>Research, Society and Development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 10.15 (2021): e286101523082-e286101523082.</a:t>
            </a:r>
          </a:p>
          <a:p>
            <a:endParaRPr lang="en-US" sz="1400" dirty="0"/>
          </a:p>
          <a:p>
            <a:r>
              <a:rPr lang="en-US" sz="1400" b="0" i="0" dirty="0">
                <a:effectLst/>
                <a:latin typeface="Arial" panose="020B0604020202020204" pitchFamily="34" charset="0"/>
              </a:rPr>
              <a:t>Fedorov, D. S., et al. "Using of measuring system MPU6050 for the determination of the angular velocities and linear accelerations." </a:t>
            </a:r>
            <a:r>
              <a:rPr lang="en-US" sz="1400" b="0" i="1" dirty="0">
                <a:effectLst/>
                <a:latin typeface="Arial" panose="020B0604020202020204" pitchFamily="34" charset="0"/>
              </a:rPr>
              <a:t>Automatics &amp; Software Enginery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 11.1 (2015): 75-80.</a:t>
            </a:r>
          </a:p>
          <a:p>
            <a:endParaRPr lang="en-US" sz="1400" dirty="0"/>
          </a:p>
          <a:p>
            <a:r>
              <a:rPr lang="en-IN" sz="1400" b="0" i="0" dirty="0">
                <a:effectLst/>
                <a:latin typeface="Arial" panose="020B0604020202020204" pitchFamily="34" charset="0"/>
              </a:rPr>
              <a:t>Jacob, Alvin, Wan Nurshazwani Wan Zakaria, and Mohd Razali Bin Md Tomari. "Implementation of IMU sensor for elbow movement measurement of badminton players." </a:t>
            </a:r>
            <a:r>
              <a:rPr lang="en-IN" sz="1400" b="0" i="1" dirty="0">
                <a:effectLst/>
                <a:latin typeface="Arial" panose="020B0604020202020204" pitchFamily="34" charset="0"/>
              </a:rPr>
              <a:t>2016 2nd IEEE International Symposium on Robotics and Manufacturing Automation (ROMA)</a:t>
            </a:r>
            <a:r>
              <a:rPr lang="en-IN" sz="1400" b="0" i="0" dirty="0">
                <a:effectLst/>
                <a:latin typeface="Arial" panose="020B0604020202020204" pitchFamily="34" charset="0"/>
              </a:rPr>
              <a:t>. IEEE, 2016.</a:t>
            </a:r>
          </a:p>
          <a:p>
            <a:endParaRPr lang="en-IN" sz="1400" dirty="0"/>
          </a:p>
          <a:p>
            <a:r>
              <a:rPr lang="en-IN" sz="1400" b="0" i="0" dirty="0">
                <a:effectLst/>
                <a:latin typeface="Arial" panose="020B0604020202020204" pitchFamily="34" charset="0"/>
              </a:rPr>
              <a:t>Li, Li, and Feng Li. "Recognizing badminton hitting movements Based on Multi-sensor trajectory recognition algorithm." </a:t>
            </a:r>
            <a:r>
              <a:rPr lang="en-IN" sz="1400" b="0" i="1" dirty="0">
                <a:effectLst/>
                <a:latin typeface="Arial" panose="020B0604020202020204" pitchFamily="34" charset="0"/>
              </a:rPr>
              <a:t>2023 3rd International Conference on Information Technology and Contemporary Sports (TCS)</a:t>
            </a:r>
            <a:r>
              <a:rPr lang="en-IN" sz="1400" b="0" i="0" dirty="0">
                <a:effectLst/>
                <a:latin typeface="Arial" panose="020B0604020202020204" pitchFamily="34" charset="0"/>
              </a:rPr>
              <a:t>. IEEE, 2023.</a:t>
            </a:r>
          </a:p>
          <a:p>
            <a:endParaRPr lang="en-IN" sz="1400" dirty="0"/>
          </a:p>
          <a:p>
            <a:r>
              <a:rPr lang="en-IN" sz="1400" dirty="0">
                <a:latin typeface="+mj-lt"/>
              </a:rPr>
              <a:t>https://ijsrst.com/home/issue/view/article.php?id=IJSRST52310620</a:t>
            </a:r>
          </a:p>
          <a:p>
            <a:endParaRPr lang="en-IN" sz="1400" dirty="0">
              <a:latin typeface="+mj-lt"/>
            </a:endParaRPr>
          </a:p>
          <a:p>
            <a:r>
              <a:rPr lang="en-IN" sz="1400" dirty="0"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https://pubmed.ncbi.nlm.nih.gov/38580698/</a:t>
            </a:r>
            <a:endParaRPr lang="en-IN" sz="1400" dirty="0">
              <a:latin typeface="+mj-lt"/>
            </a:endParaRPr>
          </a:p>
          <a:p>
            <a:endParaRPr lang="en-IN" sz="1400" dirty="0">
              <a:latin typeface="+mj-lt"/>
            </a:endParaRPr>
          </a:p>
          <a:p>
            <a:r>
              <a:rPr lang="en-IN" sz="1400" dirty="0">
                <a:latin typeface="+mj-lt"/>
              </a:rPr>
              <a:t>http://www.jurnal.nips.ru/sites/default/files/A&amp;SE-1-2015-11_0.pdf</a:t>
            </a:r>
          </a:p>
          <a:p>
            <a:endParaRPr lang="en-IN" sz="1400" dirty="0">
              <a:latin typeface="+mj-lt"/>
            </a:endParaRPr>
          </a:p>
          <a:p>
            <a:endParaRPr lang="en-IN" sz="1400" dirty="0">
              <a:latin typeface="+mj-lt"/>
            </a:endParaRPr>
          </a:p>
          <a:p>
            <a:endParaRPr lang="en-IN" sz="1400" b="0" i="0" dirty="0">
              <a:effectLst/>
              <a:latin typeface="Arial" panose="020B0604020202020204" pitchFamily="34" charset="0"/>
            </a:endParaRPr>
          </a:p>
          <a:p>
            <a:endParaRPr lang="en-IN" sz="1400" dirty="0"/>
          </a:p>
          <a:p>
            <a:endParaRPr lang="en-IN" sz="1400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FF227-8F5B-4241-30F4-B49EB5839066}"/>
              </a:ext>
            </a:extLst>
          </p:cNvPr>
          <p:cNvSpPr txBox="1"/>
          <p:nvPr/>
        </p:nvSpPr>
        <p:spPr>
          <a:xfrm>
            <a:off x="3203575" y="2270125"/>
            <a:ext cx="3024188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4000" dirty="0">
                <a:latin typeface="+mj-lt"/>
              </a:rPr>
              <a:t>Thank You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6984</TotalTime>
  <Words>1125</Words>
  <Application>Microsoft Office PowerPoint</Application>
  <PresentationFormat>On-screen Show (4:3)</PresentationFormat>
  <Paragraphs>204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Times New Roman</vt:lpstr>
      <vt:lpstr>Verdana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Aswin Raaj</cp:lastModifiedBy>
  <cp:revision>937</cp:revision>
  <dcterms:created xsi:type="dcterms:W3CDTF">2015-03-06T06:18:00Z</dcterms:created>
  <dcterms:modified xsi:type="dcterms:W3CDTF">2026-09-21T08:22:56Z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1033-11.2.0.9984</vt:lpwstr>
  </property>
</Properties>
</file>