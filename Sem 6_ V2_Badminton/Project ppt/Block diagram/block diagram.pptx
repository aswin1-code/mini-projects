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B376-9E2A-6D0E-17E0-371F69A0D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6E8AC-8F8F-90A7-3C30-F5169D7B7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E6B35-958F-D59E-F02D-DDF92B07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CCB83-1D2A-FEF8-CA89-0425067D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CBA61-4F88-6C54-4BCB-FB83C2EE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57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01F1-44CD-CC1C-D062-16C6A666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3364A-4193-B487-3C30-CF61B1CED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AD2FB-C9D1-A503-8D64-5BCEA01C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1200A-53BA-9DFF-C734-5609C153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48C78-28BB-4A77-7190-01D4D178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35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52DF-E7EE-4509-1247-54E31D5E7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FCE86-6C54-8AEA-266A-4C32FA15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2354B-4226-320A-5CAB-93E805E0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83E54-15D6-041F-5180-34BA6809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3752-3C6A-54FE-4B14-2E435A17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78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1D65-8040-E4EF-394E-9C5DA24F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1765D-9F1A-CA01-E977-AE4741F2B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80A61-A5D7-A05C-3147-02FAA6AB9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134A1-AACB-69B3-DCD3-A83A79E6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903F8-76E7-C520-C789-BAA47579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0872F-753A-42FE-6F53-D3D4054B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5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3D9C-C02D-7D34-F471-8FF5F7892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05A14-B1AD-FBD0-5246-8AA05CC10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127E3-4C9E-FF3A-FB90-79BB6B3FB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2DC04-15C9-4873-1CD7-DE556FCFE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0ADC6-796F-57BB-71D6-12A85754C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D3B18-A4C7-61A2-6A72-4B1B788D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FB906-2E4F-FB42-D65F-83FBCEA3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BBEB-FF7F-7A62-0ED2-A251B3CA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67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61E8-0019-75AB-346D-AB6F924E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87C14-13C5-C66B-DF19-0E75BD52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59FE6-5804-B4B2-6B40-7BBDFD33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D4BA2-C245-7C05-6C87-FDAD071A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93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287FF-B92A-731F-27FA-45797BFB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49F9-C0BD-7AE6-5CCB-413BE6E5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E38A3-9F1E-A239-D2C7-4EF0ED34F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56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E067-4B70-C825-259C-DB2D167E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A4559-63A0-8756-1360-3CF3B104D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44DD8-F428-BB20-9342-BC29C34F1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B59F0-6537-29FF-3FCD-2DBD48B0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78BDB-D91F-EB8D-DC60-3BC6A3A7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FC84B-FA16-686F-03C4-3C6868C2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46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F304B-01C2-D29E-5F9A-920DE3D5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D25C8-01E0-8E6E-EB01-06CC0BA3E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120D4-E61C-B914-CF62-31870D3DC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EC4A6-1257-404A-31F2-4260BB33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367FF-D107-69C6-BFF8-6907E41C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ED100-22A8-08DA-C999-EF739EC4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5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53F2-1E6C-0232-2793-6B6D1636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C994E-A3C6-3EE9-85A7-27E731744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8C6D0-415D-96AF-A94C-E5ECCA7E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60B5B-87D8-42F7-5D5E-B72C4E44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A9345-21EC-7D19-568B-76EB22B6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032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5ECD2-ABAE-69EC-0443-CA03C3516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6FF89-F09A-3A70-9D4F-99452A136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E1551-774B-F0FA-FB07-B75CF417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6896-DECF-F415-FD63-B5AB491C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9CACC-5AD0-2BB9-B448-66B3258C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65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C3F3E-C141-F944-7B9C-69B7A948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2A372-A261-0A75-257B-AC6A78BED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E6F53-1E66-319B-4CDB-217B92B51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FA8BA-45CC-4CC9-8C38-FE2EE4C94F3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9E488-655C-62CC-38CC-53C22EFD6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B1899-18CF-9186-19EF-552FABC6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5C1F4-8FB1-4780-A432-1F4266CC6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9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128410-FE8A-F1CD-A60C-D7962ECB9F2B}"/>
              </a:ext>
            </a:extLst>
          </p:cNvPr>
          <p:cNvSpPr/>
          <p:nvPr/>
        </p:nvSpPr>
        <p:spPr>
          <a:xfrm>
            <a:off x="483421" y="188247"/>
            <a:ext cx="3087799" cy="5658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11536-8A94-DA4E-114B-992B2816E8C5}"/>
              </a:ext>
            </a:extLst>
          </p:cNvPr>
          <p:cNvSpPr txBox="1"/>
          <p:nvPr/>
        </p:nvSpPr>
        <p:spPr>
          <a:xfrm>
            <a:off x="602292" y="215839"/>
            <a:ext cx="284957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Badminton Racket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13BD9B-D3F2-80F0-04F3-8C5FB530709A}"/>
              </a:ext>
            </a:extLst>
          </p:cNvPr>
          <p:cNvSpPr/>
          <p:nvPr/>
        </p:nvSpPr>
        <p:spPr>
          <a:xfrm>
            <a:off x="844610" y="777873"/>
            <a:ext cx="1121350" cy="431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D494D-2721-D96E-F78C-FB852E4A771E}"/>
              </a:ext>
            </a:extLst>
          </p:cNvPr>
          <p:cNvSpPr txBox="1"/>
          <p:nvPr/>
        </p:nvSpPr>
        <p:spPr>
          <a:xfrm>
            <a:off x="858326" y="802843"/>
            <a:ext cx="122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5EB0A1-69B8-2186-F21B-E1DF7BD2796D}"/>
              </a:ext>
            </a:extLst>
          </p:cNvPr>
          <p:cNvSpPr/>
          <p:nvPr/>
        </p:nvSpPr>
        <p:spPr>
          <a:xfrm flipV="1">
            <a:off x="844610" y="1146755"/>
            <a:ext cx="1121350" cy="62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6EA253E-85EE-85AE-3101-B65A883F0FB9}"/>
              </a:ext>
            </a:extLst>
          </p:cNvPr>
          <p:cNvSpPr/>
          <p:nvPr/>
        </p:nvSpPr>
        <p:spPr>
          <a:xfrm rot="5400000">
            <a:off x="950214" y="1401912"/>
            <a:ext cx="646173" cy="260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293D43-7388-4A6B-9C07-132DFC2A7416}"/>
              </a:ext>
            </a:extLst>
          </p:cNvPr>
          <p:cNvSpPr/>
          <p:nvPr/>
        </p:nvSpPr>
        <p:spPr>
          <a:xfrm>
            <a:off x="483421" y="676847"/>
            <a:ext cx="308779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62B6F9-9089-7DB4-8B87-F43EAEA74478}"/>
              </a:ext>
            </a:extLst>
          </p:cNvPr>
          <p:cNvSpPr/>
          <p:nvPr/>
        </p:nvSpPr>
        <p:spPr>
          <a:xfrm>
            <a:off x="1243584" y="4548308"/>
            <a:ext cx="2001520" cy="72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8A646A-B47F-9367-3CB7-02D729F8EC3E}"/>
              </a:ext>
            </a:extLst>
          </p:cNvPr>
          <p:cNvSpPr txBox="1"/>
          <p:nvPr/>
        </p:nvSpPr>
        <p:spPr>
          <a:xfrm>
            <a:off x="1214680" y="4596744"/>
            <a:ext cx="2119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3.7V Li-Po 1000mAh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EFCB94-0752-FC85-61B6-A2DC22012D29}"/>
              </a:ext>
            </a:extLst>
          </p:cNvPr>
          <p:cNvSpPr/>
          <p:nvPr/>
        </p:nvSpPr>
        <p:spPr>
          <a:xfrm>
            <a:off x="3608002" y="3230196"/>
            <a:ext cx="2469866" cy="1282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024A0249-A3F7-F862-1A62-BE391108E7B9}"/>
              </a:ext>
            </a:extLst>
          </p:cNvPr>
          <p:cNvSpPr/>
          <p:nvPr/>
        </p:nvSpPr>
        <p:spPr>
          <a:xfrm rot="10800000">
            <a:off x="1403603" y="3544060"/>
            <a:ext cx="229517" cy="10042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538F5E6-3FEF-1BB0-67D2-2CC1BD0EABF3}"/>
              </a:ext>
            </a:extLst>
          </p:cNvPr>
          <p:cNvSpPr/>
          <p:nvPr/>
        </p:nvSpPr>
        <p:spPr>
          <a:xfrm>
            <a:off x="1287732" y="5808524"/>
            <a:ext cx="1957370" cy="76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042EE1-914A-6679-BC69-3F0279FBBD82}"/>
              </a:ext>
            </a:extLst>
          </p:cNvPr>
          <p:cNvSpPr txBox="1"/>
          <p:nvPr/>
        </p:nvSpPr>
        <p:spPr>
          <a:xfrm>
            <a:off x="1257589" y="5893868"/>
            <a:ext cx="1773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TP4056 Charging Module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CDE1ED71-CC11-A0A7-AB29-FD759B456CB3}"/>
              </a:ext>
            </a:extLst>
          </p:cNvPr>
          <p:cNvSpPr/>
          <p:nvPr/>
        </p:nvSpPr>
        <p:spPr>
          <a:xfrm rot="16200000">
            <a:off x="1298390" y="5442760"/>
            <a:ext cx="507920" cy="1615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2FF5FAF-F1B4-B00A-FAD6-9AB8835CF6C4}"/>
              </a:ext>
            </a:extLst>
          </p:cNvPr>
          <p:cNvSpPr/>
          <p:nvPr/>
        </p:nvSpPr>
        <p:spPr>
          <a:xfrm>
            <a:off x="602293" y="1855299"/>
            <a:ext cx="2642809" cy="1688762"/>
          </a:xfrm>
          <a:prstGeom prst="rect">
            <a:avLst/>
          </a:prstGeom>
          <a:solidFill>
            <a:schemeClr val="bg1"/>
          </a:solidFill>
          <a:effectLst>
            <a:glow rad="4572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FE9E4F-B4CD-F327-F8A5-600F085DC3E3}"/>
              </a:ext>
            </a:extLst>
          </p:cNvPr>
          <p:cNvSpPr txBox="1"/>
          <p:nvPr/>
        </p:nvSpPr>
        <p:spPr>
          <a:xfrm>
            <a:off x="602292" y="1798351"/>
            <a:ext cx="1363668" cy="368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ESP32 MCU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AF23FE-AAF7-DD1A-9AE6-DFD6C8A019EF}"/>
              </a:ext>
            </a:extLst>
          </p:cNvPr>
          <p:cNvSpPr txBox="1"/>
          <p:nvPr/>
        </p:nvSpPr>
        <p:spPr>
          <a:xfrm>
            <a:off x="623068" y="2094261"/>
            <a:ext cx="28945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Sensor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Swing Detection Logic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(speed, impact, power)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CF35DD7-8B5C-0DC6-B971-928F3945704D}"/>
              </a:ext>
            </a:extLst>
          </p:cNvPr>
          <p:cNvSpPr/>
          <p:nvPr/>
        </p:nvSpPr>
        <p:spPr>
          <a:xfrm>
            <a:off x="3154680" y="5998464"/>
            <a:ext cx="90422" cy="338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2E3A8B-1CE6-4665-C699-9596BC5C4603}"/>
              </a:ext>
            </a:extLst>
          </p:cNvPr>
          <p:cNvSpPr txBox="1"/>
          <p:nvPr/>
        </p:nvSpPr>
        <p:spPr>
          <a:xfrm>
            <a:off x="1403603" y="1289119"/>
            <a:ext cx="275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b="1" dirty="0"/>
              <a:t>I2C </a:t>
            </a:r>
            <a:r>
              <a:rPr lang="en-IN" dirty="0"/>
              <a:t>Communication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3F97C6-40CA-75D1-4D3D-FF9C32155862}"/>
              </a:ext>
            </a:extLst>
          </p:cNvPr>
          <p:cNvSpPr/>
          <p:nvPr/>
        </p:nvSpPr>
        <p:spPr>
          <a:xfrm>
            <a:off x="2274487" y="3294334"/>
            <a:ext cx="970615" cy="2631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28DF33-BAEB-6505-6350-1DD6F1664D86}"/>
              </a:ext>
            </a:extLst>
          </p:cNvPr>
          <p:cNvSpPr txBox="1"/>
          <p:nvPr/>
        </p:nvSpPr>
        <p:spPr>
          <a:xfrm>
            <a:off x="2274487" y="3236771"/>
            <a:ext cx="1279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Wi-fi Host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7CE2988-EC4B-058D-DD35-2C78E6472B8C}"/>
              </a:ext>
            </a:extLst>
          </p:cNvPr>
          <p:cNvSpPr/>
          <p:nvPr/>
        </p:nvSpPr>
        <p:spPr>
          <a:xfrm>
            <a:off x="4445350" y="2111470"/>
            <a:ext cx="2359152" cy="1463856"/>
          </a:xfrm>
          <a:prstGeom prst="rect">
            <a:avLst/>
          </a:prstGeom>
          <a:noFill/>
          <a:effectLst>
            <a:glow rad="3429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B42F2CC-D4CE-2A8D-A601-D7C03E1544EE}"/>
              </a:ext>
            </a:extLst>
          </p:cNvPr>
          <p:cNvSpPr/>
          <p:nvPr/>
        </p:nvSpPr>
        <p:spPr>
          <a:xfrm>
            <a:off x="4462941" y="2111469"/>
            <a:ext cx="1717012" cy="2833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B47B94-FAB9-723D-3F27-B319D7E22EDE}"/>
              </a:ext>
            </a:extLst>
          </p:cNvPr>
          <p:cNvSpPr txBox="1"/>
          <p:nvPr/>
        </p:nvSpPr>
        <p:spPr>
          <a:xfrm>
            <a:off x="4398233" y="2111469"/>
            <a:ext cx="23694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Web-Dashboard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Timestamp, Speed, Impact, Duration, Swing count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3608C4E-2392-0609-5545-F260E204F278}"/>
              </a:ext>
            </a:extLst>
          </p:cNvPr>
          <p:cNvSpPr/>
          <p:nvPr/>
        </p:nvSpPr>
        <p:spPr>
          <a:xfrm>
            <a:off x="4754880" y="3358472"/>
            <a:ext cx="1425073" cy="2168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390F45-1FE5-4CEB-A079-768B4CB05DE4}"/>
              </a:ext>
            </a:extLst>
          </p:cNvPr>
          <p:cNvSpPr txBox="1"/>
          <p:nvPr/>
        </p:nvSpPr>
        <p:spPr>
          <a:xfrm>
            <a:off x="4682920" y="3266600"/>
            <a:ext cx="199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Download CSV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BC08E99-9F6C-A6EE-3F64-FFDBAE123EEC}"/>
              </a:ext>
            </a:extLst>
          </p:cNvPr>
          <p:cNvSpPr/>
          <p:nvPr/>
        </p:nvSpPr>
        <p:spPr>
          <a:xfrm>
            <a:off x="4642768" y="4101203"/>
            <a:ext cx="3108960" cy="2377440"/>
          </a:xfrm>
          <a:prstGeom prst="rect">
            <a:avLst/>
          </a:prstGeom>
          <a:noFill/>
          <a:effectLst>
            <a:glow rad="101600">
              <a:schemeClr val="accent2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Arrow: Down 84">
            <a:extLst>
              <a:ext uri="{FF2B5EF4-FFF2-40B4-BE49-F238E27FC236}">
                <a16:creationId xmlns:a16="http://schemas.microsoft.com/office/drawing/2014/main" id="{00B9C34A-0029-DBFF-9AF8-1516090DBD53}"/>
              </a:ext>
            </a:extLst>
          </p:cNvPr>
          <p:cNvSpPr/>
          <p:nvPr/>
        </p:nvSpPr>
        <p:spPr>
          <a:xfrm>
            <a:off x="4928616" y="3575325"/>
            <a:ext cx="229517" cy="5454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FA93531-7104-B50D-995E-872E741DC337}"/>
              </a:ext>
            </a:extLst>
          </p:cNvPr>
          <p:cNvSpPr txBox="1"/>
          <p:nvPr/>
        </p:nvSpPr>
        <p:spPr>
          <a:xfrm>
            <a:off x="4816504" y="4183499"/>
            <a:ext cx="2935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models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:(Random forest)</a:t>
            </a:r>
            <a:endParaRPr lang="en-IN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Swing classification (.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classification (.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classification: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Weak, medium, strong</a:t>
            </a:r>
          </a:p>
          <a:p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(Gap Analysis, Fatigue Detection, Consistency Score, Player Type)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1F99729-00BF-CF0A-812E-B378FC707A97}"/>
              </a:ext>
            </a:extLst>
          </p:cNvPr>
          <p:cNvSpPr/>
          <p:nvPr/>
        </p:nvSpPr>
        <p:spPr>
          <a:xfrm>
            <a:off x="5693056" y="3777068"/>
            <a:ext cx="2057400" cy="3241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63D511-5964-A4F4-871B-B9D8EB122D64}"/>
              </a:ext>
            </a:extLst>
          </p:cNvPr>
          <p:cNvSpPr txBox="1"/>
          <p:nvPr/>
        </p:nvSpPr>
        <p:spPr>
          <a:xfrm>
            <a:off x="5702445" y="3792931"/>
            <a:ext cx="213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Processing in Laptop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333A55AA-7688-5FED-7A33-D285E9EE5B2A}"/>
              </a:ext>
            </a:extLst>
          </p:cNvPr>
          <p:cNvSpPr/>
          <p:nvPr/>
        </p:nvSpPr>
        <p:spPr>
          <a:xfrm>
            <a:off x="8202168" y="292607"/>
            <a:ext cx="3657600" cy="618603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glow rad="2794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Arrow: Down 89">
            <a:extLst>
              <a:ext uri="{FF2B5EF4-FFF2-40B4-BE49-F238E27FC236}">
                <a16:creationId xmlns:a16="http://schemas.microsoft.com/office/drawing/2014/main" id="{D8EB3964-6A8D-CC2F-865D-3F7B096B9F22}"/>
              </a:ext>
            </a:extLst>
          </p:cNvPr>
          <p:cNvSpPr/>
          <p:nvPr/>
        </p:nvSpPr>
        <p:spPr>
          <a:xfrm rot="16200000">
            <a:off x="7815612" y="4679219"/>
            <a:ext cx="321402" cy="4517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5B98C7-498F-6FAA-CB2E-695CF3E680B1}"/>
              </a:ext>
            </a:extLst>
          </p:cNvPr>
          <p:cNvSpPr/>
          <p:nvPr/>
        </p:nvSpPr>
        <p:spPr>
          <a:xfrm>
            <a:off x="623067" y="1855298"/>
            <a:ext cx="1160013" cy="238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8A8E93-84F0-1329-8D68-60E8F559A0FE}"/>
              </a:ext>
            </a:extLst>
          </p:cNvPr>
          <p:cNvSpPr/>
          <p:nvPr/>
        </p:nvSpPr>
        <p:spPr>
          <a:xfrm>
            <a:off x="8705088" y="292608"/>
            <a:ext cx="2633472" cy="3842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3179CFB-F95A-CCDD-9FED-8BBC411D0024}"/>
              </a:ext>
            </a:extLst>
          </p:cNvPr>
          <p:cNvSpPr txBox="1"/>
          <p:nvPr/>
        </p:nvSpPr>
        <p:spPr>
          <a:xfrm>
            <a:off x="8528286" y="284672"/>
            <a:ext cx="293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- Dashboard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BFD299-08D4-194E-3675-00F4BC71A740}"/>
              </a:ext>
            </a:extLst>
          </p:cNvPr>
          <p:cNvSpPr txBox="1"/>
          <p:nvPr/>
        </p:nvSpPr>
        <p:spPr>
          <a:xfrm>
            <a:off x="8202168" y="777873"/>
            <a:ext cx="36576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Session Overview: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Avg.( speed, impact, power )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Performance metrics: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vs Swing index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vs Swing index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vs Swing index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Stroke distribution: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smash, drop, clear, drive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and worst swing 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Player vs Pro comparison: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performance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Fatigue detection and consistency analysis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Profile Classification: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(Attacker, defensive, all-rounder, mixed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AI coach suggestions (actionable feedbacks):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swing speed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timing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power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consistency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8C4F43E-C0B6-9F70-52D2-9FE3FE978997}"/>
              </a:ext>
            </a:extLst>
          </p:cNvPr>
          <p:cNvSpPr txBox="1"/>
          <p:nvPr/>
        </p:nvSpPr>
        <p:spPr>
          <a:xfrm>
            <a:off x="3097393" y="2586834"/>
            <a:ext cx="2894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ym typeface="Wingdings" panose="05000000000000000000" pitchFamily="2" charset="2"/>
              </a:rPr>
              <a:t>=======</a:t>
            </a:r>
            <a:endParaRPr lang="en-IN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49FACDA-01A4-D87F-3129-E91F8680CEFF}"/>
              </a:ext>
            </a:extLst>
          </p:cNvPr>
          <p:cNvSpPr txBox="1"/>
          <p:nvPr/>
        </p:nvSpPr>
        <p:spPr>
          <a:xfrm>
            <a:off x="3451863" y="2468880"/>
            <a:ext cx="83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Wi-fi</a:t>
            </a:r>
          </a:p>
        </p:txBody>
      </p:sp>
    </p:spTree>
    <p:extLst>
      <p:ext uri="{BB962C8B-B14F-4D97-AF65-F5344CB8AC3E}">
        <p14:creationId xmlns:p14="http://schemas.microsoft.com/office/powerpoint/2010/main" val="289475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196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 Raaj</dc:creator>
  <cp:lastModifiedBy>Aswin Raaj</cp:lastModifiedBy>
  <cp:revision>4</cp:revision>
  <dcterms:created xsi:type="dcterms:W3CDTF">2026-05-03T17:53:50Z</dcterms:created>
  <dcterms:modified xsi:type="dcterms:W3CDTF">2026-05-03T19:39:59Z</dcterms:modified>
</cp:coreProperties>
</file>