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6" r:id="rId2"/>
    <p:sldId id="322" r:id="rId3"/>
    <p:sldId id="349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39" r:id="rId15"/>
    <p:sldId id="350" r:id="rId16"/>
    <p:sldId id="299" r:id="rId17"/>
    <p:sldId id="30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B0595"/>
    <a:srgbClr val="FF0909"/>
    <a:srgbClr val="B31D98"/>
    <a:srgbClr val="F4EBE2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48 212 24575,'1'-2'0,"1"0"0,-1 0 0,0 0 0,0-1 0,1 1 0,-2 0 0,1-1 0,0 1 0,0-1 0,-1 1 0,1-5 0,0 4 0,-1 0 0,1 0 0,-1 0 0,1 0 0,0 0 0,1 0 0,-1 0 0,0 0 0,1 1 0,2-4 0,2-1 0,1 1 0,0 0 0,0 1 0,0-1 0,1 1 0,0 1 0,0-1 0,10-3 0,-13 6 0,1 0 0,-1 0 0,1 0 0,0 1 0,-1-1 0,1 2 0,0-1 0,0 1 0,-1-1 0,1 2 0,0-1 0,0 0 0,0 1 0,6 2 0,-12-3 0,1 0 0,0 0 0,0 1 0,-1-1 0,1 0 0,0 1 0,0-1 0,-1 0 0,1 1 0,0-1 0,-1 1 0,1-1 0,0 1 0,-1-1 0,1 1 0,-1-1 0,1 1 0,-1 0 0,1-1 0,-1 1 0,0 0 0,1 0 0,-1-1 0,0 1 0,1 0 0,-1 0 0,0 1 0,0-1 0,0 0 0,-1 1 0,1-1 0,-1 1 0,1-1 0,-1 0 0,1 0 0,-1 1 0,0-1 0,1 0 0,-1 0 0,0 0 0,0 0 0,-1 1 0,-5 4 0,1 0 0,-1-1 0,-13 8 0,11-7 0,0-1 0,-1 0 0,1-1 0,-1 1 0,0-2 0,0 0 0,0 0 0,0-1 0,-1 0 0,-16 1 0,26-3 0,1 0 0,-1 0 0,1 0 0,-1 0 0,0 0 0,1 0 0,-1 0 0,1 0 0,-1 0 0,0 0 0,1-1 0,-1 1 0,1 0 0,-1 0 0,1-1 0,-1 1 0,1 0 0,-1-1 0,1 1 0,-1 0 0,1-1 0,-1 1 0,1-1 0,0 1 0,-1-1 0,1 1 0,0-1 0,-1 1 0,1-1 0,0 1 0,0-1 0,-1 0 0,1-1 0,1 1 0,-1 0 0,0 0 0,1-1 0,-1 1 0,1 0 0,-1 0 0,1 0 0,0-1 0,0 1 0,-1 0 0,1 0 0,2-1 0,34-28 0,-20 19 0,-12 7 0,0 1 0,0-1 0,0 1 0,0 0 0,1 1 0,-1-1 0,1 1 0,0 0 0,10-2 0,-16 5 0,0-1 0,1 0 0,-1 0 0,1 0 0,-1 0 0,1 0 0,-1 1 0,0-1 0,1 0 0,-1 0 0,0 1 0,1-1 0,-1 0 0,0 1 0,1-1 0,-1 0 0,0 1 0,0-1 0,1 0 0,-1 1 0,0-1 0,0 0 0,0 1 0,1-1 0,-1 1 0,0-1 0,0 1 0,0-1 0,0 1 0,0-1 0,0 0 0,0 1 0,0-1 0,0 1 0,0-1 0,0 1 0,0-1 0,0 0 0,0 1 0,-1-1 0,1 1 0,0-1 0,0 1 0,0-1 0,-1 1 0,-10 23 0,9-20 0,-10 27 0,9-23 0,0 0 0,-1 0 0,0-1 0,0 1 0,0-1 0,-7 9 0,9-14 0,0 0 0,0-1 0,0 1 0,0 0 0,0-1 0,-1 0 0,1 1 0,0-1 0,-1 0 0,1 0 0,-1-1 0,1 1 0,-1 0 0,1-1 0,-1 1 0,1-1 0,-1 0 0,1 0 0,-1 0 0,0 0 0,1 0 0,-1-1 0,1 1 0,-1-1 0,-3-1 0,4 1 0,1 1 0,-1 0 0,1-1 0,0 1 0,-1-1 0,1 0 0,0 1 0,-1-1 0,1 0 0,0 0 0,0 0 0,0 0 0,0 0 0,0 0 0,0 0 0,0 0 0,0-1 0,0 1 0,0 0 0,1-1 0,-1 1 0,0 0 0,1-1 0,-1 1 0,1-1 0,0 1 0,0 0 0,-1-1 0,1 1 0,0-1 0,0 1 0,0-1 0,0 1 0,0-1 0,1 1 0,-1-1 0,0 1 0,1-1 0,-1 1 0,1 0 0,0-1 0,-1 1 0,1 0 0,1-2 0,0-1 0,0 0 0,1 0 0,-1 0 0,1 0 0,0 1 0,0-1 0,0 1 0,0-1 0,1 1 0,0 0 0,-1 1 0,1-1 0,6-2 0,-7 4 0,1 0 0,-1 0 0,0 0 0,1 1 0,-1-1 0,0 1 0,1 0 0,-1 0 0,1 1 0,-1-1 0,0 1 0,1-1 0,-1 1 0,0 0 0,1 0 0,-1 1 0,0-1 0,0 1 0,0-1 0,0 1 0,0 0 0,-1 0 0,1 0 0,2 3 0,-4-4 0,0 1 0,1-1 0,-1 0 0,0 1 0,0 0 0,-1-1 0,1 1 0,0-1 0,0 1 0,-1 0 0,1 0 0,-1-1 0,1 1 0,-1 0 0,0 0 0,0 0 0,0-1 0,0 4 0,-1-3 0,1 0 0,-1 1 0,0-1 0,0 0 0,0 0 0,0 0 0,0 0 0,-1 0 0,1 0 0,0 0 0,-1 0 0,0-1 0,1 1 0,-1 0 0,0-1 0,0 0 0,-3 3 0,-1-1 0,1 0 0,-1-1 0,1 0 0,-1 0 0,0 0 0,0 0 0,0-1 0,0 0 0,-7 0 0,11-1 0,0 1 0,0-1 0,1 0 0,-1 0 0,0 0 0,0 0 0,0-1 0,0 1 0,1 0 0,-1-1 0,0 1 0,0-1 0,1 0 0,-1 1 0,0-1 0,1 0 0,-1 0 0,1 0 0,-1 0 0,1 0 0,-1-1 0,1 1 0,0 0 0,0-1 0,-1 1 0,1-1 0,0 1 0,0-1 0,1 1 0,-1-1 0,0 0 0,0 0 0,0-1 0,0-10 0,-1 1 0,1-1 0,1 0 0,3-22 0,-3 29 0,1 0 0,0 1 0,0-1 0,1 0 0,0 0 0,0 1 0,0-1 0,1 1 0,-1 0 0,1 0 0,1 0 0,4-6 0,-7 10 0,0 0 0,-1 0 0,1 0 0,0 0 0,0 1 0,0-1 0,1 0 0,-1 1 0,0-1 0,0 1 0,0-1 0,0 1 0,0 0 0,1-1 0,-1 1 0,0 0 0,0 0 0,1 0 0,-1 0 0,0 0 0,0 0 0,1 0 0,-1 0 0,0 0 0,2 1 0,0 1 0,0-1 0,0 1 0,-1-1 0,1 1 0,-1 0 0,1 0 0,-1 0 0,0 0 0,0 1 0,3 3 0,-1-1 0,0 1 0,0 0 0,-1 0 0,1 0 0,-1 0 0,-1 0 0,1 1 0,-1 0 0,1 9 0,-3-13 0,0 0 0,0 0 0,0 0 0,-1 0 0,1-1 0,-1 1 0,0 0 0,0 0 0,0 0 0,0-1 0,0 1 0,-1-1 0,1 1 0,-1-1 0,0 1 0,0-1 0,0 0 0,0 0 0,0 0 0,0 0 0,0 0 0,-1 0 0,1-1 0,-1 1 0,-3 1 0,2-1 0,0 0 0,0-1 0,0 1 0,0-1 0,0 0 0,0 0 0,-1-1 0,1 1 0,0-1 0,0 0 0,-1 0 0,1 0 0,0 0 0,-1-1 0,1 0 0,-8-2 0,10 2 0,0 0 0,1-1 0,-1 1 0,0 0 0,0-1 0,1 1 0,-1-1 0,1 0 0,-1 1 0,1-1 0,0 0 0,0 0 0,0 0 0,0 0 0,0 0 0,0 0 0,0 0 0,1 0 0,-1 0 0,1-1 0,-1 1 0,1 0 0,0 0 0,0-1 0,0 1 0,0 0 0,0 0 0,1 0 0,-1-1 0,1 1 0,1-3 0,-1 0 0,0 1 0,0-1 0,1 1 0,-1 0 0,1 0 0,0 0 0,1 0 0,-1 0 0,0 0 0,1 1 0,0-1 0,0 1 0,0 0 0,7-6 0,-6 7 0,0 1 0,0-1 0,0 1 0,0-1 0,1 1 0,-1 0 0,0 1 0,1-1 0,-1 1 0,0 0 0,1 0 0,-1 0 0,1 1 0,-1-1 0,0 1 0,0 0 0,1 0 0,-1 1 0,8 3 0,-9-3 0,1-1 0,-1 1 0,0 0 0,1 1 0,-1-1 0,0 0 0,-1 1 0,1 0 0,0 0 0,-1 0 0,1 0 0,-1 0 0,0 0 0,0 1 0,0-1 0,-1 0 0,1 1 0,-1 0 0,0-1 0,0 1 0,0 0 0,0 6 0,0-4 0,-1 0 0,0 1 0,0-1 0,-1 0 0,1 0 0,-1 0 0,-4 11 0,4-15 0,0 0 0,0 0 0,0-1 0,0 1 0,0 0 0,-1 0 0,1-1 0,-1 1 0,1-1 0,-1 0 0,0 1 0,1-1 0,-1 0 0,0 0 0,0 0 0,0 0 0,0 0 0,0 0 0,0-1 0,0 1 0,0-1 0,0 1 0,0-1 0,0 0 0,-4 0 0,-2 1 0,0-1 0,0 0 0,0-1 0,0 0 0,0 0 0,1 0 0,-1-1 0,0 0 0,1-1 0,-1 0 0,-7-4 0,12 5 0,0 0 0,0 0 0,0-1 0,0 1 0,0-1 0,0 1 0,1-1 0,-1 0 0,1 0 0,0-1 0,0 1 0,0 0 0,1-1 0,-1 1 0,1-1 0,-1 1 0,1-1 0,0 1 0,1-1 0,-1 0 0,1 0 0,-1 0 0,1 1 0,0-1 0,1-6 0,0 5 0,0 0 0,0 1 0,0-1 0,1 1 0,-1-1 0,1 1 0,0 0 0,1 0 0,-1 0 0,1 0 0,-1 0 0,1 0 0,0 1 0,0-1 0,1 1 0,-1 0 0,1 0 0,0 0 0,0 0 0,-1 1 0,2 0 0,-1 0 0,0 0 0,8-3 0,-8 4 0,-1 0 0,0 1 0,0-1 0,1 0 0,-1 1 0,0 0 0,1 0 0,-1 0 0,0 0 0,0 1 0,1-1 0,-1 1 0,0 0 0,0 0 0,0 0 0,1 0 0,-1 0 0,-1 1 0,1 0 0,0-1 0,0 1 0,0 0 0,-1 0 0,1 0 0,-1 1 0,0-1 0,0 1 0,0-1 0,0 1 0,0 0 0,0 0 0,-1 0 0,1 0 0,-1 0 0,2 4 0,-3-5 0,1 0 0,-1 0 0,0 0 0,1 0 0,-1 0 0,0-1 0,0 1 0,0 0 0,0 0 0,-1 0 0,1 0 0,0 0 0,-1 0 0,1 0 0,-1 0 0,0 0 0,0 0 0,0-1 0,0 1 0,0 0 0,0-1 0,0 1 0,0-1 0,-3 4 0,0-2 0,0 0 0,-1 1 0,1-1 0,0 0 0,-1-1 0,0 1 0,1-1 0,-1 0 0,0 0 0,-6 1 0,7-2 0,-1 0 0,1 0 0,-1-1 0,1 1 0,-1-1 0,0 0 0,1 0 0,-1-1 0,0 1 0,1-1 0,-7-2 0,9 3 0,0-1 0,0 0 0,0 0 0,0 0 0,0 0 0,1 0 0,-1-1 0,0 1 0,1 0 0,-1-1 0,1 1 0,0-1 0,-1 0 0,1 1 0,0-1 0,0 0 0,0 0 0,0 1 0,0-1 0,0 0 0,1 0 0,-1 0 0,1 0 0,-1 0 0,1-3 0,-1 2 0,1 0 0,0 0 0,-1 0 0,1 1 0,1-1 0,-1 0 0,0 0 0,1 0 0,-1 0 0,1 1 0,0-1 0,0 0 0,0 1 0,0-1 0,0 1 0,1-1 0,-1 1 0,1 0 0,0-1 0,-1 1 0,1 0 0,0 0 0,0 0 0,1 0 0,-1 1 0,0-1 0,1 0 0,-1 1 0,1 0 0,-1-1 0,1 1 0,-1 0 0,1 1 0,0-1 0,0 0 0,-1 1 0,1-1 0,0 1 0,0 0 0,0 0 0,-1 0 0,1 0 0,4 1 0,-3 0 0,-1-1 0,1 1 0,0-1 0,0 1 0,-1 0 0,1 1 0,-1-1 0,1 0 0,-1 1 0,0 0 0,1 0 0,-1 0 0,0 0 0,0 1 0,0-1 0,-1 1 0,1 0 0,0-1 0,-1 1 0,0 0 0,0 1 0,0-1 0,0 0 0,0 1 0,-1-1 0,1 1 0,-1-1 0,0 1 0,0 0 0,-1-1 0,1 1 0,0 6 0,-1-5 0,-1-1 0,1 1 0,-1-1 0,1 1 0,-1-1 0,0 0 0,-1 0 0,1 1 0,-1-1 0,0 0 0,-4 6 0,4-8 0,0 0 0,0 0 0,0 0 0,0 0 0,0 0 0,0 0 0,-1-1 0,1 1 0,-1-1 0,1 0 0,-1 0 0,1 0 0,-1 0 0,0 0 0,1-1 0,-1 1 0,0-1 0,0 1 0,-4-1 0,-18 2 0,17-1 0,1-1 0,-1 1 0,1-1 0,-1-1 0,-12-1 0,17 1 0,1 0 0,0 1 0,0-1 0,0 0 0,1 0 0,-1 0 0,0 0 0,0-1 0,0 1 0,1 0 0,-1-1 0,1 1 0,-1-1 0,1 0 0,-1 1 0,1-1 0,0 0 0,0 0 0,0 0 0,0 0 0,0 0 0,0 0 0,1 0 0,-1-4 0,-2-4 0,2-1 0,0 0 0,0 0 0,1 0 0,0-1 0,0 1 0,2 0 0,-1 0 0,1 1 0,1-1 0,0 0 0,9-20 0,-11 30 0,-1 0 0,1-1 0,0 1 0,0 0 0,0 0 0,0 0 0,0-1 0,0 1 0,0 0 0,0 0 0,0 0 0,1 1 0,-1-1 0,0 0 0,0 0 0,1 1 0,-1-1 0,1 1 0,-1-1 0,0 1 0,4-1 0,-2 1 0,0 0 0,0 0 0,0 0 0,0 1 0,0-1 0,0 1 0,0 0 0,0 0 0,0 0 0,3 2 0,3 1 0,0 1 0,-1 0 0,0 1 0,0 0 0,14 13 0,-16-13 0,-1 1 0,1-1 0,-1 1 0,0 1 0,-1-1 0,0 0 0,0 1 0,0 0 0,3 14 0,-6-19 0,-1-1 0,1 1 0,-1-1 0,0 1 0,0-1 0,0 1 0,0 0 0,0-1 0,0 1 0,-1-1 0,0 1 0,1-1 0,-1 1 0,0-1 0,0 0 0,0 1 0,0-1 0,-1 0 0,1 0 0,-1 0 0,1 0 0,-1 0 0,0 0 0,1 0 0,-1 0 0,0-1 0,0 1 0,-1-1 0,1 1 0,0-1 0,0 0 0,-1 0 0,1 0 0,0 0 0,-1-1 0,-4 2 0,2-1 0,0 0 0,0 0 0,0 0 0,0-1 0,0 0 0,1 0 0,-1 0 0,0 0 0,0-1 0,0 0 0,0 0 0,0 0 0,0-1 0,1 1 0,-1-1 0,1 0 0,-1-1 0,1 1 0,0-1 0,0 0 0,0 0 0,0 0 0,0 0 0,-5-7 0,6 6 0,0 1 0,1-1 0,-1 0 0,1 0 0,-1 0 0,1 0 0,1 0 0,-1 0 0,1-1 0,-1 1 0,1-1 0,0 1 0,1-1 0,-1 0 0,1 1 0,0-1 0,0 1 0,0-1 0,1 0 0,0 1 0,-1-1 0,2 1 0,-1-1 0,0 1 0,1 0 0,4-7 0,-4 7 0,0 0 0,1 0 0,0 0 0,-1 0 0,2 1 0,-1 0 0,0 0 0,1 0 0,-1 0 0,1 0 0,0 0 0,0 1 0,0 0 0,0 0 0,0 0 0,0 0 0,1 1 0,7-2 0,-6 2 0,-1 1 0,1 0 0,-1 0 0,1 0 0,-1 0 0,1 1 0,-1 0 0,1 1 0,-1-1 0,0 1 0,0 0 0,0 0 0,0 0 0,0 1 0,8 5 0,-9-5 0,-1 1 0,1 0 0,-1 0 0,1 0 0,-1 0 0,0 0 0,-1 1 0,1 0 0,-1-1 0,0 1 0,0 0 0,0 0 0,-1 0 0,1 0 0,-1 0 0,0 6 0,0-2 0,0 0 0,0 1 0,-1-1 0,0 1 0,-1-1 0,0 1 0,-1-1 0,-2 10 0,-3-4-1365,0-4-5461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5/3/2026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3 May 2026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38580698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76788"/>
            <a:ext cx="3508375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Aswin Raaj .R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Mani Balaji .S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Tharun .V.S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976688"/>
            <a:ext cx="4200189" cy="286232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2000" b="1" dirty="0" err="1">
                <a:latin typeface="+mj-lt"/>
              </a:rPr>
              <a:t>Dr.G.Pandiaraj</a:t>
            </a:r>
            <a:endParaRPr lang="en-US" sz="2000" b="1" dirty="0">
              <a:latin typeface="+mj-lt"/>
            </a:endParaRP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Electrical and Electronics Engineering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MSEC, Sivakasi</a:t>
            </a:r>
          </a:p>
          <a:p>
            <a:pPr eaLnBrk="1" hangingPunct="1">
              <a:buFontTx/>
              <a:buNone/>
              <a:defRPr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914400" y="188640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Badminton Swing Analyzer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MPU6050 with ML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DCE59-BC04-B491-175A-B16119A1E04C}"/>
              </a:ext>
            </a:extLst>
          </p:cNvPr>
          <p:cNvSpPr txBox="1"/>
          <p:nvPr/>
        </p:nvSpPr>
        <p:spPr>
          <a:xfrm>
            <a:off x="2915816" y="2836898"/>
            <a:ext cx="3508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–B2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12C2C-2C3A-F82F-F456-925E13A53409}"/>
              </a:ext>
            </a:extLst>
          </p:cNvPr>
          <p:cNvSpPr txBox="1"/>
          <p:nvPr/>
        </p:nvSpPr>
        <p:spPr>
          <a:xfrm>
            <a:off x="971600" y="908720"/>
            <a:ext cx="74888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Problem Statement: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There is </a:t>
            </a:r>
            <a:r>
              <a:rPr lang="en-US" strike="sngStrike" dirty="0" err="1">
                <a:solidFill>
                  <a:srgbClr val="FF0000"/>
                </a:solidFill>
                <a:latin typeface="+mj-lt"/>
              </a:rPr>
              <a:t>nTraditional</a:t>
            </a:r>
            <a:r>
              <a:rPr lang="en-US" strike="sngStrike" dirty="0">
                <a:solidFill>
                  <a:srgbClr val="FF0000"/>
                </a:solidFill>
                <a:latin typeface="+mj-lt"/>
              </a:rPr>
              <a:t> badminton training lacks performance analysis and depends on manual </a:t>
            </a:r>
            <a:r>
              <a:rPr lang="en-US" strike="sngStrike" dirty="0" err="1">
                <a:solidFill>
                  <a:srgbClr val="FF0000"/>
                </a:solidFill>
                <a:latin typeface="+mj-lt"/>
              </a:rPr>
              <a:t>observa</a:t>
            </a:r>
            <a:r>
              <a:rPr lang="en-US" strike="sngStrike" dirty="0">
                <a:solidFill>
                  <a:srgbClr val="FF0000"/>
                </a:solidFill>
                <a:latin typeface="+mj-lt"/>
              </a:rPr>
              <a:t>--------------</a:t>
            </a:r>
            <a:r>
              <a:rPr lang="en-US" strike="sngStrike" dirty="0" err="1">
                <a:solidFill>
                  <a:srgbClr val="FF0000"/>
                </a:solidFill>
                <a:latin typeface="+mj-lt"/>
              </a:rPr>
              <a:t>jnxoajojkqo</a:t>
            </a:r>
            <a:r>
              <a:rPr lang="en-US" strike="sngStrike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dirty="0" err="1">
                <a:latin typeface="+mj-lt"/>
              </a:rPr>
              <a:t>jnossjxo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jiio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tion</a:t>
            </a:r>
            <a:r>
              <a:rPr lang="en-US" dirty="0">
                <a:latin typeface="+mj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o automated system to measure swing quality, stroke type, and player efficiency accurately.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Motivation: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integrate embedded systems and machine learning for intelligent sports performance tracking.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provide feedback for improving player technique and training efficiency.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Objective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design a smart system that detects and classifies badminton strokes using sensor data and AI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analyze player performance metrics such as speed, impact, power, and consistency in real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29C24-B821-FDAA-25AD-88C505EC07E5}"/>
              </a:ext>
            </a:extLst>
          </p:cNvPr>
          <p:cNvSpPr txBox="1"/>
          <p:nvPr/>
        </p:nvSpPr>
        <p:spPr>
          <a:xfrm>
            <a:off x="2663788" y="11663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119509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883AE7-FFC7-679F-A716-6784360EBC34}"/>
              </a:ext>
            </a:extLst>
          </p:cNvPr>
          <p:cNvSpPr txBox="1"/>
          <p:nvPr/>
        </p:nvSpPr>
        <p:spPr>
          <a:xfrm>
            <a:off x="3059832" y="332656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Research papers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758CCD-17E6-DC45-EA20-F6275F2FB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986252"/>
              </p:ext>
            </p:extLst>
          </p:nvPr>
        </p:nvGraphicFramePr>
        <p:xfrm>
          <a:off x="1115616" y="838542"/>
          <a:ext cx="7344816" cy="4815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555786028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790295713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3137155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S.no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97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Research Paper 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Design of angle detection system based on MPU6050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Vibration detection prototype </a:t>
                      </a:r>
                    </a:p>
                    <a:p>
                      <a:r>
                        <a:rPr lang="en-IN" sz="2000" dirty="0"/>
                        <a:t>Using MPU6050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20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Author &amp; year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987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Key findings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Effective in detecting angles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Effective in detecting vibrations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Limitation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Need for calibration in different conditions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Interference of noise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4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What we improve in our project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Get offset values of racket position by keeping it stable for 3s (approx. 3000samples)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Using Kalman filter, reduce sensor drift and noise interference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029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CDD264-A548-642C-92A9-7A3A83C05720}"/>
              </a:ext>
            </a:extLst>
          </p:cNvPr>
          <p:cNvSpPr txBox="1"/>
          <p:nvPr/>
        </p:nvSpPr>
        <p:spPr>
          <a:xfrm>
            <a:off x="773832" y="579288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2"/>
                </a:solidFill>
              </a:rPr>
              <a:t>http://www.jurnal.nips.ru/sites/default/files/A&amp;SE-1-2015-11_0.pdf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21FFF-A1A0-6B3C-A0CC-7377E0ABADE8}"/>
              </a:ext>
            </a:extLst>
          </p:cNvPr>
          <p:cNvSpPr txBox="1"/>
          <p:nvPr/>
        </p:nvSpPr>
        <p:spPr>
          <a:xfrm>
            <a:off x="755576" y="6069880"/>
            <a:ext cx="7056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2"/>
                </a:solidFill>
              </a:rPr>
              <a:t>https://ijsrst.com/home/issue/view/article.php?id=IJSRST52310620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3F0218-044A-B66E-B2EC-E1F083C8AC78}"/>
              </a:ext>
            </a:extLst>
          </p:cNvPr>
          <p:cNvSpPr/>
          <p:nvPr/>
        </p:nvSpPr>
        <p:spPr bwMode="auto">
          <a:xfrm>
            <a:off x="1115616" y="4321348"/>
            <a:ext cx="7344816" cy="72008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2F078-EFD0-8988-F093-A7D57547298C}"/>
              </a:ext>
            </a:extLst>
          </p:cNvPr>
          <p:cNvSpPr/>
          <p:nvPr/>
        </p:nvSpPr>
        <p:spPr bwMode="auto">
          <a:xfrm>
            <a:off x="1115616" y="5567947"/>
            <a:ext cx="7344816" cy="72008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7042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2F528-5BB8-DA53-4416-4D9846E3459B}"/>
              </a:ext>
            </a:extLst>
          </p:cNvPr>
          <p:cNvSpPr txBox="1"/>
          <p:nvPr/>
        </p:nvSpPr>
        <p:spPr>
          <a:xfrm>
            <a:off x="827584" y="620688"/>
            <a:ext cx="37444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Principle: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The MPU6050 is a </a:t>
            </a:r>
            <a:r>
              <a:rPr lang="en-IN" b="1" dirty="0">
                <a:latin typeface="+mj-lt"/>
              </a:rPr>
              <a:t>6-axis IMU sensor</a:t>
            </a:r>
            <a:r>
              <a:rPr lang="en-IN" dirty="0">
                <a:latin typeface="+mj-lt"/>
              </a:rPr>
              <a:t>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Accelerometer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Gyroscope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Accelerometer</a:t>
            </a:r>
            <a:r>
              <a:rPr lang="en-IN" dirty="0">
                <a:latin typeface="+mj-lt"/>
              </a:rPr>
              <a:t> measures linear motion along X, Y, Z axes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Gyroscope</a:t>
            </a:r>
            <a:r>
              <a:rPr lang="en-IN" dirty="0">
                <a:latin typeface="+mj-lt"/>
              </a:rPr>
              <a:t> measures angular rotation of the racket </a:t>
            </a:r>
          </a:p>
          <a:p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b="1" dirty="0">
                <a:latin typeface="+mj-lt"/>
              </a:rPr>
              <a:t> </a:t>
            </a:r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08509-097A-0E85-D301-2F30F76EAFF1}"/>
              </a:ext>
            </a:extLst>
          </p:cNvPr>
          <p:cNvSpPr txBox="1"/>
          <p:nvPr/>
        </p:nvSpPr>
        <p:spPr>
          <a:xfrm>
            <a:off x="1647777" y="159023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MPU6050 IMU Sensor</a:t>
            </a:r>
            <a:endParaRPr lang="en-IN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26BB-6F0F-64B9-7960-9CAB32F36EB2}"/>
              </a:ext>
            </a:extLst>
          </p:cNvPr>
          <p:cNvSpPr txBox="1"/>
          <p:nvPr/>
        </p:nvSpPr>
        <p:spPr>
          <a:xfrm>
            <a:off x="4860032" y="908720"/>
            <a:ext cx="38116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Processing: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Sensor outputs raw data via </a:t>
            </a:r>
          </a:p>
          <a:p>
            <a:r>
              <a:rPr lang="en-IN" sz="1800" b="1" dirty="0">
                <a:latin typeface="+mj-lt"/>
              </a:rPr>
              <a:t>     I2C communication</a:t>
            </a:r>
            <a:r>
              <a:rPr lang="en-IN" sz="1800" dirty="0">
                <a:latin typeface="+mj-lt"/>
              </a:rPr>
              <a:t> to ESP32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Acceleration + angular velocity are continuously monitored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Total acceleration is computed to detect swing motion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D9346-5DB7-8D18-CD4C-04CE7F489416}"/>
              </a:ext>
            </a:extLst>
          </p:cNvPr>
          <p:cNvSpPr txBox="1"/>
          <p:nvPr/>
        </p:nvSpPr>
        <p:spPr>
          <a:xfrm>
            <a:off x="4105271" y="3485435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Role in Project: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Detects start and end of badminton swings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Captures </a:t>
            </a:r>
            <a:r>
              <a:rPr lang="en-IN" dirty="0">
                <a:solidFill>
                  <a:srgbClr val="CB0595"/>
                </a:solidFill>
                <a:latin typeface="+mj-lt"/>
              </a:rPr>
              <a:t>motion characteristics </a:t>
            </a:r>
            <a:r>
              <a:rPr lang="en-IN" dirty="0">
                <a:latin typeface="+mj-lt"/>
              </a:rPr>
              <a:t>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Speed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Impact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Direction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Provides input for feature extraction and ML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9951E-FB80-91FD-365D-722618D9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92" y="3598625"/>
            <a:ext cx="392771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4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E9BCF-16C2-4208-E143-E8663BCC9792}"/>
              </a:ext>
            </a:extLst>
          </p:cNvPr>
          <p:cNvSpPr txBox="1"/>
          <p:nvPr/>
        </p:nvSpPr>
        <p:spPr>
          <a:xfrm>
            <a:off x="827584" y="423150"/>
            <a:ext cx="8928992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Continuously read accelerometer &amp; gyroscope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Compute total acceleration magnitude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&gt;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START_THRESHOLD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sz="1600" dirty="0">
                <a:latin typeface="+mj-lt"/>
              </a:rPr>
              <a:t>Start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Track </a:t>
            </a:r>
            <a:r>
              <a:rPr lang="en-IN" sz="1600" b="1" dirty="0">
                <a:latin typeface="+mj-lt"/>
              </a:rPr>
              <a:t>peak speed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maximum impact</a:t>
            </a:r>
            <a:r>
              <a:rPr lang="en-IN" sz="1600" dirty="0">
                <a:latin typeface="+mj-lt"/>
              </a:rPr>
              <a:t> during motion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&lt;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END_THRESHOLD</a:t>
            </a:r>
            <a:r>
              <a:rPr lang="en-IN" sz="1600" dirty="0">
                <a:latin typeface="+mj-lt"/>
              </a:rPr>
              <a:t> AND duration &gt; </a:t>
            </a:r>
            <a:r>
              <a:rPr lang="en-IN" sz="1600" b="1" dirty="0">
                <a:latin typeface="+mj-lt"/>
              </a:rPr>
              <a:t>MIN_DURATION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End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Store swing data for further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Parameters ( Tuned ):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START_THRESHOLD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beginning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END_THRESHOLD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completion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MIN_DURATION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removes false short movements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COOLDOWN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avoids duplicate detection 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Ensures only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valid badminton strokes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are captured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Removes noise from random hand movement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Forms the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foundation for ML accuracy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27E42-74FD-9B3D-24D7-C8592605CEC7}"/>
              </a:ext>
            </a:extLst>
          </p:cNvPr>
          <p:cNvSpPr txBox="1"/>
          <p:nvPr/>
        </p:nvSpPr>
        <p:spPr>
          <a:xfrm>
            <a:off x="2267744" y="24738"/>
            <a:ext cx="49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Swing Detection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8830033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6AE160-8D8F-DD2F-C354-7E0542161DFE}"/>
              </a:ext>
            </a:extLst>
          </p:cNvPr>
          <p:cNvSpPr txBox="1"/>
          <p:nvPr/>
        </p:nvSpPr>
        <p:spPr>
          <a:xfrm>
            <a:off x="683568" y="980728"/>
            <a:ext cx="38884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Feature Engineering: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Raw IMU data is converted into meaningful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CB0595"/>
                </a:solidFill>
                <a:latin typeface="+mj-lt"/>
              </a:rPr>
              <a:t>Key features </a:t>
            </a:r>
            <a:r>
              <a:rPr lang="en-US" sz="1600" dirty="0">
                <a:latin typeface="+mj-lt"/>
              </a:rPr>
              <a:t>extracted: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Speed</a:t>
            </a:r>
            <a:r>
              <a:rPr lang="en-US" sz="1600" dirty="0">
                <a:latin typeface="+mj-lt"/>
              </a:rPr>
              <a:t> (from ang. velocity)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Impact</a:t>
            </a:r>
            <a:r>
              <a:rPr lang="en-US" sz="1600" dirty="0">
                <a:latin typeface="+mj-lt"/>
              </a:rPr>
              <a:t> (from acc. magnitude)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Duration</a:t>
            </a:r>
            <a:r>
              <a:rPr lang="en-US" sz="1600" dirty="0">
                <a:latin typeface="+mj-lt"/>
              </a:rPr>
              <a:t> (swing time)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CB0595"/>
                </a:solidFill>
                <a:latin typeface="+mj-lt"/>
              </a:rPr>
              <a:t>Derived features: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Power = </a:t>
            </a:r>
            <a:r>
              <a:rPr lang="en-US" sz="1600" dirty="0">
                <a:latin typeface="+mj-lt"/>
              </a:rPr>
              <a:t>Speed × Impact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Efficiency = </a:t>
            </a:r>
            <a:r>
              <a:rPr lang="en-US" sz="1600" dirty="0">
                <a:latin typeface="+mj-lt"/>
              </a:rPr>
              <a:t>Impact / Duration </a:t>
            </a:r>
          </a:p>
          <a:p>
            <a:pPr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6398E-15CC-F5AC-FF6B-5A396DEDE6A7}"/>
              </a:ext>
            </a:extLst>
          </p:cNvPr>
          <p:cNvSpPr txBox="1"/>
          <p:nvPr/>
        </p:nvSpPr>
        <p:spPr>
          <a:xfrm>
            <a:off x="4644008" y="3456559"/>
            <a:ext cx="4572000" cy="167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Classification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&lt; Weak Threshold → </a:t>
            </a:r>
            <a:r>
              <a:rPr lang="en-US" sz="1600" b="1" dirty="0">
                <a:latin typeface="+mj-lt"/>
              </a:rPr>
              <a:t>WEAK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between thresholds → </a:t>
            </a:r>
            <a:r>
              <a:rPr lang="en-US" sz="1600" b="1" dirty="0">
                <a:latin typeface="+mj-lt"/>
              </a:rPr>
              <a:t>MEDIUM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&gt; Strong Threshold → </a:t>
            </a:r>
            <a:r>
              <a:rPr lang="en-US" sz="1600" b="1" dirty="0">
                <a:latin typeface="+mj-lt"/>
              </a:rPr>
              <a:t>STRONG</a:t>
            </a:r>
            <a:endParaRPr lang="en-US" sz="16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AE201-AABA-103E-BD58-C6EA49E9B716}"/>
              </a:ext>
            </a:extLst>
          </p:cNvPr>
          <p:cNvSpPr txBox="1"/>
          <p:nvPr/>
        </p:nvSpPr>
        <p:spPr>
          <a:xfrm>
            <a:off x="2502388" y="188640"/>
            <a:ext cx="4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Feature Engineering &amp; Calibration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C7723-0445-9044-FE93-D0CF25A87C1F}"/>
              </a:ext>
            </a:extLst>
          </p:cNvPr>
          <p:cNvSpPr txBox="1"/>
          <p:nvPr/>
        </p:nvSpPr>
        <p:spPr>
          <a:xfrm>
            <a:off x="4644008" y="905451"/>
            <a:ext cx="4860984" cy="220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Calibration (Personalized Thresholding):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First </a:t>
            </a:r>
            <a:r>
              <a:rPr lang="en-US" sz="1600" b="1" dirty="0">
                <a:latin typeface="+mj-lt"/>
              </a:rPr>
              <a:t>30 swings </a:t>
            </a:r>
            <a:r>
              <a:rPr lang="en-US" sz="1600" dirty="0">
                <a:latin typeface="+mj-lt"/>
              </a:rPr>
              <a:t>recorded in </a:t>
            </a:r>
            <a:r>
              <a:rPr lang="en-US" sz="1600" b="1" dirty="0">
                <a:latin typeface="+mj-lt"/>
              </a:rPr>
              <a:t>calibration mode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Used to create </a:t>
            </a:r>
            <a:r>
              <a:rPr lang="en-US" sz="1600" b="1" dirty="0">
                <a:latin typeface="+mj-lt"/>
              </a:rPr>
              <a:t>player-specific baseline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Thresholds computed using: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25th </a:t>
            </a:r>
            <a:r>
              <a:rPr lang="en-US" sz="1600" dirty="0">
                <a:latin typeface="+mj-lt"/>
              </a:rPr>
              <a:t>percentile </a:t>
            </a:r>
            <a:r>
              <a:rPr lang="en-US" sz="1600" b="1" dirty="0">
                <a:latin typeface="+mj-lt"/>
              </a:rPr>
              <a:t>→ Weak threshold</a:t>
            </a:r>
            <a:r>
              <a:rPr lang="en-US" sz="1600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75th </a:t>
            </a:r>
            <a:r>
              <a:rPr lang="en-US" sz="1600" dirty="0">
                <a:latin typeface="+mj-lt"/>
              </a:rPr>
              <a:t>percentile</a:t>
            </a:r>
            <a:r>
              <a:rPr lang="en-US" sz="1600" b="1" dirty="0">
                <a:latin typeface="+mj-lt"/>
              </a:rPr>
              <a:t> → Strong threshold</a:t>
            </a:r>
            <a:r>
              <a:rPr lang="en-US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149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F5CDA-5F9C-F22F-E76E-B7B37D9FA28A}"/>
              </a:ext>
            </a:extLst>
          </p:cNvPr>
          <p:cNvSpPr txBox="1"/>
          <p:nvPr/>
        </p:nvSpPr>
        <p:spPr>
          <a:xfrm>
            <a:off x="800338" y="548680"/>
            <a:ext cx="405969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Sources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Real Sensor Data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Collected using ESP32 + IMU during gameplay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Includes speed, impact, duration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Synthetic Data (MATLAB Generated)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Created to simulate different swing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Used to balance dataset and improve robustness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D65B3-E5ED-7511-2D10-88C7BBF3A805}"/>
              </a:ext>
            </a:extLst>
          </p:cNvPr>
          <p:cNvSpPr txBox="1"/>
          <p:nvPr/>
        </p:nvSpPr>
        <p:spPr>
          <a:xfrm>
            <a:off x="5004048" y="4077072"/>
            <a:ext cx="4572000" cy="180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Final Dataset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Features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Speed, Impact, Duration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Power, Efficiency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&amp; Gyro metrics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BB183-64CE-45E6-A6FD-257A275C0060}"/>
              </a:ext>
            </a:extLst>
          </p:cNvPr>
          <p:cNvSpPr txBox="1"/>
          <p:nvPr/>
        </p:nvSpPr>
        <p:spPr>
          <a:xfrm>
            <a:off x="1894081" y="72903"/>
            <a:ext cx="6219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Machine Learning Pipeline (Training &amp;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2236-FDE8-EBA5-43CF-2E71D4569CEB}"/>
              </a:ext>
            </a:extLst>
          </p:cNvPr>
          <p:cNvSpPr txBox="1"/>
          <p:nvPr/>
        </p:nvSpPr>
        <p:spPr>
          <a:xfrm>
            <a:off x="5148064" y="756098"/>
            <a:ext cx="4572000" cy="324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Logic (MATLAB)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Generate signals</a:t>
            </a:r>
            <a:r>
              <a:rPr lang="en-IN" sz="1600" b="1" dirty="0">
                <a:latin typeface="+mj-lt"/>
              </a:rPr>
              <a:t> </a:t>
            </a:r>
            <a:r>
              <a:rPr lang="en-IN" sz="1600" dirty="0">
                <a:latin typeface="+mj-lt"/>
              </a:rPr>
              <a:t>based 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Angular velocity variations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Apply</a:t>
            </a:r>
            <a:r>
              <a:rPr lang="en-IN" sz="1600" dirty="0">
                <a:latin typeface="+mj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Noise injection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Scaling (weak → strong swings)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Time variation (fast vs slow strokes)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To Simulates realistic badminton swings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8B01E-E15B-92DD-446D-C378FC1AE31C}"/>
              </a:ext>
            </a:extLst>
          </p:cNvPr>
          <p:cNvSpPr txBox="1"/>
          <p:nvPr/>
        </p:nvSpPr>
        <p:spPr>
          <a:xfrm>
            <a:off x="800338" y="4105295"/>
            <a:ext cx="478766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Combine</a:t>
            </a:r>
            <a:r>
              <a:rPr lang="en-IN" sz="1600" b="1" dirty="0">
                <a:latin typeface="+mj-lt"/>
              </a:rPr>
              <a:t> real + synthetic data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Improves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Model generalization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Accuracy across players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Handling of edge cases </a:t>
            </a:r>
          </a:p>
        </p:txBody>
      </p:sp>
    </p:spTree>
    <p:extLst>
      <p:ext uri="{BB962C8B-B14F-4D97-AF65-F5344CB8AC3E}">
        <p14:creationId xmlns:p14="http://schemas.microsoft.com/office/powerpoint/2010/main" val="33181970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B8314-EE67-D681-28B4-DF4EF6B06412}"/>
              </a:ext>
            </a:extLst>
          </p:cNvPr>
          <p:cNvSpPr txBox="1"/>
          <p:nvPr/>
        </p:nvSpPr>
        <p:spPr>
          <a:xfrm>
            <a:off x="899592" y="836712"/>
            <a:ext cx="487828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Models Used: ( Random Forest 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CB0595"/>
                </a:solidFill>
                <a:latin typeface="+mj-lt"/>
              </a:rPr>
              <a:t>Swing Classification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Output: WEAK / MEDIUM / STRONG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CB0595"/>
                </a:solidFill>
                <a:latin typeface="+mj-lt"/>
              </a:rPr>
              <a:t>Stroke Classification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Output: SMASH / DROP / CLEAR / DRIVE </a:t>
            </a:r>
          </a:p>
          <a:p>
            <a:pPr>
              <a:buNone/>
            </a:pPr>
            <a:br>
              <a:rPr lang="en-IN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B0C05-3E79-514E-CC92-C4F3364AE4E0}"/>
              </a:ext>
            </a:extLst>
          </p:cNvPr>
          <p:cNvSpPr txBox="1"/>
          <p:nvPr/>
        </p:nvSpPr>
        <p:spPr>
          <a:xfrm>
            <a:off x="2915816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ML Models &amp; 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5E112-BE9B-35B5-66C9-BF20B4C65629}"/>
              </a:ext>
            </a:extLst>
          </p:cNvPr>
          <p:cNvSpPr txBox="1"/>
          <p:nvPr/>
        </p:nvSpPr>
        <p:spPr>
          <a:xfrm>
            <a:off x="3707904" y="2564904"/>
            <a:ext cx="504056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Training Process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Supervised learning </a:t>
            </a:r>
            <a:r>
              <a:rPr lang="en-IN" sz="1600" dirty="0">
                <a:latin typeface="+mj-lt"/>
              </a:rPr>
              <a:t>using labelled dataset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Input: engineered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Model learns patterns between motion and stroke type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FC629-F47C-0F83-F475-6C62D6BEE737}"/>
              </a:ext>
            </a:extLst>
          </p:cNvPr>
          <p:cNvSpPr txBox="1"/>
          <p:nvPr/>
        </p:nvSpPr>
        <p:spPr>
          <a:xfrm>
            <a:off x="1203698" y="4131640"/>
            <a:ext cx="457200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Model Deployment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Trained models saved as </a:t>
            </a:r>
            <a:r>
              <a:rPr lang="en-IN" sz="1600" b="1" dirty="0">
                <a:latin typeface="+mj-lt"/>
              </a:rPr>
              <a:t>.</a:t>
            </a:r>
            <a:r>
              <a:rPr lang="en-IN" sz="1600" b="1" dirty="0" err="1">
                <a:latin typeface="+mj-lt"/>
              </a:rPr>
              <a:t>pkl</a:t>
            </a:r>
            <a:r>
              <a:rPr lang="en-IN" sz="1600" b="1" dirty="0">
                <a:latin typeface="+mj-lt"/>
              </a:rPr>
              <a:t> files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Loaded in Python using </a:t>
            </a:r>
            <a:r>
              <a:rPr lang="en-IN" sz="1600" b="1" dirty="0" err="1">
                <a:latin typeface="+mj-lt"/>
              </a:rPr>
              <a:t>joblib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Used for real-time prediction after each swing </a:t>
            </a:r>
          </a:p>
        </p:txBody>
      </p:sp>
    </p:spTree>
    <p:extLst>
      <p:ext uri="{BB962C8B-B14F-4D97-AF65-F5344CB8AC3E}">
        <p14:creationId xmlns:p14="http://schemas.microsoft.com/office/powerpoint/2010/main" val="3845634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51A7F-00B3-5BC7-D875-7D7A919623BB}"/>
              </a:ext>
            </a:extLst>
          </p:cNvPr>
          <p:cNvSpPr txBox="1"/>
          <p:nvPr/>
        </p:nvSpPr>
        <p:spPr>
          <a:xfrm>
            <a:off x="3059832" y="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Performance Dashboard</a:t>
            </a:r>
          </a:p>
        </p:txBody>
      </p:sp>
    </p:spTree>
    <p:extLst>
      <p:ext uri="{BB962C8B-B14F-4D97-AF65-F5344CB8AC3E}">
        <p14:creationId xmlns:p14="http://schemas.microsoft.com/office/powerpoint/2010/main" val="1225623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F0000-CE40-AD69-A3B3-451D657F9FAE}"/>
              </a:ext>
            </a:extLst>
          </p:cNvPr>
          <p:cNvSpPr txBox="1"/>
          <p:nvPr/>
        </p:nvSpPr>
        <p:spPr>
          <a:xfrm>
            <a:off x="3383868" y="195608"/>
            <a:ext cx="2808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Key Innovations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91281-727B-49A6-9AFC-F9B42C1A2CD2}"/>
              </a:ext>
            </a:extLst>
          </p:cNvPr>
          <p:cNvSpPr txBox="1"/>
          <p:nvPr/>
        </p:nvSpPr>
        <p:spPr>
          <a:xfrm>
            <a:off x="899592" y="980728"/>
            <a:ext cx="40324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Hybrid Classification Approach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Combines </a:t>
            </a:r>
            <a:r>
              <a:rPr lang="en-IN" sz="1600" b="1" dirty="0">
                <a:latin typeface="+mj-lt"/>
              </a:rPr>
              <a:t>threshold-based detection with ML</a:t>
            </a:r>
            <a:r>
              <a:rPr lang="en-IN" sz="1600" dirty="0">
                <a:latin typeface="+mj-lt"/>
              </a:rPr>
              <a:t> prediction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Ensures </a:t>
            </a:r>
            <a:r>
              <a:rPr lang="en-IN" sz="1600" u="sng" dirty="0">
                <a:latin typeface="+mj-lt"/>
              </a:rPr>
              <a:t>high reliability + intelligent decision </a:t>
            </a:r>
            <a:r>
              <a:rPr lang="en-IN" sz="1600" dirty="0">
                <a:latin typeface="+mj-lt"/>
              </a:rPr>
              <a:t>making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u="sng" dirty="0">
                <a:latin typeface="+mj-lt"/>
              </a:rPr>
              <a:t>Improves system accuracy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Personalized Calibration System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Uses </a:t>
            </a:r>
            <a:r>
              <a:rPr lang="en-IN" sz="1600" b="1" dirty="0">
                <a:latin typeface="+mj-lt"/>
              </a:rPr>
              <a:t>first 30 swings as baseline 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Generates </a:t>
            </a:r>
            <a:r>
              <a:rPr lang="en-IN" sz="1600" u="sng" dirty="0">
                <a:latin typeface="+mj-lt"/>
              </a:rPr>
              <a:t>dynamic, player-specific thresholds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Adapts to different playing styles automatically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1733F-C070-F6C8-8975-5E4770038391}"/>
              </a:ext>
            </a:extLst>
          </p:cNvPr>
          <p:cNvSpPr txBox="1"/>
          <p:nvPr/>
        </p:nvSpPr>
        <p:spPr>
          <a:xfrm>
            <a:off x="4932040" y="980728"/>
            <a:ext cx="4572000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Augmentation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MATLAB-generated realistic swing 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Includes noise, variation, and scaling effects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u="sng" dirty="0">
                <a:latin typeface="+mj-lt"/>
              </a:rPr>
              <a:t>Improves model generalization </a:t>
            </a:r>
            <a:r>
              <a:rPr lang="en-IN" sz="1600" dirty="0">
                <a:latin typeface="+mj-lt"/>
              </a:rPr>
              <a:t>and robustness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Dual Machine Learning Models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Swing Model</a:t>
            </a:r>
            <a:r>
              <a:rPr lang="en-IN" sz="1600" dirty="0">
                <a:latin typeface="+mj-lt"/>
              </a:rPr>
              <a:t> → Weak / Medium / Strong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Stroke Model</a:t>
            </a:r>
            <a:r>
              <a:rPr lang="en-IN" sz="1600" dirty="0">
                <a:latin typeface="+mj-lt"/>
              </a:rPr>
              <a:t> → Smash / Drop / Clear / Drive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Enables </a:t>
            </a:r>
            <a:r>
              <a:rPr lang="en-IN" sz="1600" b="1" dirty="0">
                <a:latin typeface="+mj-lt"/>
              </a:rPr>
              <a:t>multi-level performance analysis</a:t>
            </a:r>
            <a:r>
              <a:rPr lang="en-IN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8896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4140E-6186-66CF-8F34-B8C45C1E0AF9}"/>
              </a:ext>
            </a:extLst>
          </p:cNvPr>
          <p:cNvSpPr txBox="1"/>
          <p:nvPr/>
        </p:nvSpPr>
        <p:spPr>
          <a:xfrm>
            <a:off x="2843808" y="145593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909"/>
                </a:solidFill>
                <a:latin typeface="+mj-lt"/>
              </a:rPr>
              <a:t>Key Challenges &amp; Solutions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13A095-7785-FE9A-E91F-EE6AFB33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45914"/>
              </p:ext>
            </p:extLst>
          </p:nvPr>
        </p:nvGraphicFramePr>
        <p:xfrm>
          <a:off x="1043608" y="1052736"/>
          <a:ext cx="7704856" cy="4610699"/>
        </p:xfrm>
        <a:graphic>
          <a:graphicData uri="http://schemas.openxmlformats.org/drawingml/2006/table">
            <a:tbl>
              <a:tblPr/>
              <a:tblGrid>
                <a:gridCol w="634509">
                  <a:extLst>
                    <a:ext uri="{9D8B030D-6E8A-4147-A177-3AD203B41FA5}">
                      <a16:colId xmlns:a16="http://schemas.microsoft.com/office/drawing/2014/main" val="3966177876"/>
                    </a:ext>
                  </a:extLst>
                </a:gridCol>
                <a:gridCol w="3974003">
                  <a:extLst>
                    <a:ext uri="{9D8B030D-6E8A-4147-A177-3AD203B41FA5}">
                      <a16:colId xmlns:a16="http://schemas.microsoft.com/office/drawing/2014/main" val="10537520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14335731"/>
                    </a:ext>
                  </a:extLst>
                </a:gridCol>
              </a:tblGrid>
              <a:tr h="3251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S.no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Challenges Faced</a:t>
                      </a:r>
                      <a:endParaRPr lang="en-IN" sz="2000" dirty="0"/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Solutions </a:t>
                      </a: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9841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1.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Sensor saturation during high-impact smashes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Applied </a:t>
                      </a:r>
                      <a:r>
                        <a:rPr lang="en-US" sz="1600" b="1" dirty="0"/>
                        <a:t>threshold tuning </a:t>
                      </a:r>
                      <a:r>
                        <a:rPr lang="en-US" sz="1600" dirty="0"/>
                        <a:t>and signal scaling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4465"/>
                  </a:ext>
                </a:extLst>
              </a:tr>
              <a:tr h="562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2.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Noise and drift in IMU data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Kalman filtering </a:t>
                      </a:r>
                      <a:r>
                        <a:rPr lang="en-US" sz="1600" dirty="0"/>
                        <a:t>and gravity compensation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12943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3.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Offset calibration instability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Implemented </a:t>
                      </a:r>
                      <a:r>
                        <a:rPr lang="en-US" sz="1600" b="1" dirty="0"/>
                        <a:t>proper sensor offset correction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40212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4.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Swing boundary detection (start/end)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Designed </a:t>
                      </a:r>
                      <a:r>
                        <a:rPr lang="en-IN" sz="1600" b="1" dirty="0"/>
                        <a:t>threshold + duration-based algorithm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42060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5.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False swing detection (random movements)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Added </a:t>
                      </a:r>
                      <a:r>
                        <a:rPr lang="en-US" sz="1600" b="1" dirty="0"/>
                        <a:t>minimum duration and cooldown logic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26758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6.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real-world dataset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Generated </a:t>
                      </a:r>
                      <a:r>
                        <a:rPr lang="en-US" sz="1600" b="1" dirty="0"/>
                        <a:t>synthetic data </a:t>
                      </a:r>
                      <a:r>
                        <a:rPr lang="en-US" sz="1600" dirty="0"/>
                        <a:t>using MATLAB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37417"/>
                  </a:ext>
                </a:extLst>
              </a:tr>
              <a:tr h="8037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7.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generalization across players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personalized calibration </a:t>
                      </a:r>
                      <a:r>
                        <a:rPr lang="en-US" sz="1600" dirty="0"/>
                        <a:t>(first 30 swings)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3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39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80E02-C592-8E80-D598-0DFEBB6DFB60}"/>
              </a:ext>
            </a:extLst>
          </p:cNvPr>
          <p:cNvSpPr txBox="1"/>
          <p:nvPr/>
        </p:nvSpPr>
        <p:spPr>
          <a:xfrm>
            <a:off x="593812" y="556005"/>
            <a:ext cx="451824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Seeed XIAO nRF52840 (MCU)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Has deep sleep mode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Ultra-low power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 longer battery life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Native Bluetooth (BLE)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direct mobile connectivity </a:t>
            </a:r>
          </a:p>
          <a:p>
            <a:pPr lvl="1"/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ICM42688 IMU Sensor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Higher accuracy &amp; lower noise than MPU6050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Better motion tracking for fast swings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200 </a:t>
            </a:r>
            <a:r>
              <a:rPr lang="en-IN" b="1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mAh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Li-Po Battery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Compact and lightweight design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Optimized for wearable usage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50C60-6478-D6AB-097E-1C48C327F622}"/>
              </a:ext>
            </a:extLst>
          </p:cNvPr>
          <p:cNvSpPr txBox="1"/>
          <p:nvPr/>
        </p:nvSpPr>
        <p:spPr>
          <a:xfrm>
            <a:off x="4906330" y="556005"/>
            <a:ext cx="457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Need fo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 upgrade :</a:t>
            </a:r>
            <a:endParaRPr lang="en-IN" sz="18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Improved </a:t>
            </a:r>
            <a:r>
              <a:rPr lang="en-IN" sz="1600" b="1" dirty="0">
                <a:latin typeface="+mj-lt"/>
              </a:rPr>
              <a:t>measurement accuracy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Reduced </a:t>
            </a:r>
            <a:r>
              <a:rPr lang="en-IN" sz="1600" b="1" dirty="0">
                <a:latin typeface="+mj-lt"/>
              </a:rPr>
              <a:t>power consumption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Significant </a:t>
            </a:r>
            <a:r>
              <a:rPr lang="en-IN" sz="1600" b="1" dirty="0">
                <a:latin typeface="+mj-lt"/>
              </a:rPr>
              <a:t>weight reduction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Enhanced </a:t>
            </a:r>
            <a:r>
              <a:rPr lang="en-IN" sz="1600" b="1" dirty="0">
                <a:latin typeface="+mj-lt"/>
              </a:rPr>
              <a:t>real-time performance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6DF56-1BDF-8898-5135-171084E57544}"/>
              </a:ext>
            </a:extLst>
          </p:cNvPr>
          <p:cNvSpPr txBox="1"/>
          <p:nvPr/>
        </p:nvSpPr>
        <p:spPr>
          <a:xfrm>
            <a:off x="4927559" y="2276872"/>
            <a:ext cx="42164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System Enhancement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Bluetooth Low Energy (</a:t>
            </a:r>
            <a:r>
              <a:rPr lang="en-IN" sz="1800" b="1" dirty="0">
                <a:latin typeface="+mj-lt"/>
              </a:rPr>
              <a:t>BLE</a:t>
            </a:r>
            <a:r>
              <a:rPr lang="en-IN" sz="1800" dirty="0">
                <a:latin typeface="+mj-lt"/>
              </a:rPr>
              <a:t>) data streaming – low latency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Direct integration with </a:t>
            </a:r>
            <a:r>
              <a:rPr lang="en-IN" sz="1800" b="1" dirty="0">
                <a:latin typeface="+mj-lt"/>
              </a:rPr>
              <a:t>mobile app / offline web app</a:t>
            </a:r>
            <a:r>
              <a:rPr lang="en-IN" sz="18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No need for Wi-Fi hotspot (portable system)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5EB5B-E540-225F-5546-81DF93264849}"/>
              </a:ext>
            </a:extLst>
          </p:cNvPr>
          <p:cNvSpPr txBox="1"/>
          <p:nvPr/>
        </p:nvSpPr>
        <p:spPr>
          <a:xfrm>
            <a:off x="2706069" y="5070889"/>
            <a:ext cx="486098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Product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Real-time coaching via mobile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Scalable for </a:t>
            </a:r>
            <a:r>
              <a:rPr lang="en-IN" sz="1800" b="1" dirty="0">
                <a:latin typeface="+mj-lt"/>
              </a:rPr>
              <a:t>sports analytics platforms</a:t>
            </a:r>
            <a:endParaRPr lang="en-IN" sz="18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A4DBE-9D24-251C-CA20-AAA363601C9B}"/>
              </a:ext>
            </a:extLst>
          </p:cNvPr>
          <p:cNvSpPr txBox="1"/>
          <p:nvPr/>
        </p:nvSpPr>
        <p:spPr>
          <a:xfrm>
            <a:off x="2627784" y="72566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909"/>
                </a:solidFill>
                <a:latin typeface="+mj-lt"/>
              </a:rPr>
              <a:t>Future Scope &amp; Next version (v3.0) </a:t>
            </a:r>
          </a:p>
        </p:txBody>
      </p:sp>
    </p:spTree>
    <p:extLst>
      <p:ext uri="{BB962C8B-B14F-4D97-AF65-F5344CB8AC3E}">
        <p14:creationId xmlns:p14="http://schemas.microsoft.com/office/powerpoint/2010/main" val="2484423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F7B946-FE4D-2AC2-53FB-BD3056DE7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270265"/>
              </p:ext>
            </p:extLst>
          </p:nvPr>
        </p:nvGraphicFramePr>
        <p:xfrm>
          <a:off x="1043608" y="1268760"/>
          <a:ext cx="7772400" cy="3566160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315710872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637174220"/>
                    </a:ext>
                  </a:extLst>
                </a:gridCol>
                <a:gridCol w="3091880">
                  <a:extLst>
                    <a:ext uri="{9D8B030D-6E8A-4147-A177-3AD203B41FA5}">
                      <a16:colId xmlns:a16="http://schemas.microsoft.com/office/drawing/2014/main" val="3206024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Current Prototype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v3.0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2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MCU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ESP32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Seeed XIAO nRF52840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3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MPU6050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ICM42688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1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Wi-Fi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79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1000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9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~100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~13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063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 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 – 10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12 – 14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5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Weight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~50 g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~15 g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2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3876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77B621-D04E-D6F9-48E1-80A94E9ABD4F}"/>
              </a:ext>
            </a:extLst>
          </p:cNvPr>
          <p:cNvSpPr txBox="1"/>
          <p:nvPr/>
        </p:nvSpPr>
        <p:spPr>
          <a:xfrm>
            <a:off x="1979712" y="332656"/>
            <a:ext cx="569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Current prototype vs next version (v3.0)</a:t>
            </a:r>
          </a:p>
        </p:txBody>
      </p:sp>
    </p:spTree>
    <p:extLst>
      <p:ext uri="{BB962C8B-B14F-4D97-AF65-F5344CB8AC3E}">
        <p14:creationId xmlns:p14="http://schemas.microsoft.com/office/powerpoint/2010/main" val="308672136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0A2243-D423-F22C-65AB-A645DD341637}"/>
              </a:ext>
            </a:extLst>
          </p:cNvPr>
          <p:cNvSpPr/>
          <p:nvPr/>
        </p:nvSpPr>
        <p:spPr bwMode="auto">
          <a:xfrm rot="8729465">
            <a:off x="2844130" y="3251394"/>
            <a:ext cx="3682406" cy="172415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4" name="Cylinder 63">
            <a:extLst>
              <a:ext uri="{FF2B5EF4-FFF2-40B4-BE49-F238E27FC236}">
                <a16:creationId xmlns:a16="http://schemas.microsoft.com/office/drawing/2014/main" id="{E5E988DE-DBC4-0FF3-9BC1-8262064C9819}"/>
              </a:ext>
            </a:extLst>
          </p:cNvPr>
          <p:cNvSpPr/>
          <p:nvPr/>
        </p:nvSpPr>
        <p:spPr bwMode="auto">
          <a:xfrm rot="3295707">
            <a:off x="3117033" y="3609068"/>
            <a:ext cx="283289" cy="1411613"/>
          </a:xfrm>
          <a:prstGeom prst="can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4E679-E73B-8A51-F073-B643B746EFE1}"/>
              </a:ext>
            </a:extLst>
          </p:cNvPr>
          <p:cNvSpPr txBox="1"/>
          <p:nvPr/>
        </p:nvSpPr>
        <p:spPr>
          <a:xfrm>
            <a:off x="3301653" y="114994"/>
            <a:ext cx="3431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Next Version (v3.0)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578781-7EDC-C2FD-5A09-C1CB5AD48C46}"/>
              </a:ext>
            </a:extLst>
          </p:cNvPr>
          <p:cNvSpPr/>
          <p:nvPr/>
        </p:nvSpPr>
        <p:spPr bwMode="auto">
          <a:xfrm rot="3829639">
            <a:off x="6348538" y="345128"/>
            <a:ext cx="1931121" cy="254086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 extrusionH="38100">
            <a:bevelT w="31750"/>
            <a:bevelB w="107950"/>
          </a:sp3d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E1804-7A92-1D68-6A06-A8E6AA8F68A0}"/>
              </a:ext>
            </a:extLst>
          </p:cNvPr>
          <p:cNvCxnSpPr>
            <a:cxnSpLocks/>
          </p:cNvCxnSpPr>
          <p:nvPr/>
        </p:nvCxnSpPr>
        <p:spPr bwMode="auto">
          <a:xfrm>
            <a:off x="6169795" y="1416003"/>
            <a:ext cx="1107371" cy="11964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AFC027-B188-BD14-FCD6-1AA874A99B5E}"/>
              </a:ext>
            </a:extLst>
          </p:cNvPr>
          <p:cNvCxnSpPr>
            <a:cxnSpLocks/>
          </p:cNvCxnSpPr>
          <p:nvPr/>
        </p:nvCxnSpPr>
        <p:spPr bwMode="auto">
          <a:xfrm>
            <a:off x="6361937" y="1120395"/>
            <a:ext cx="1341117" cy="137868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8C6E66-6655-3E8D-7E12-C07B9FC424BA}"/>
              </a:ext>
            </a:extLst>
          </p:cNvPr>
          <p:cNvCxnSpPr>
            <a:cxnSpLocks/>
          </p:cNvCxnSpPr>
          <p:nvPr/>
        </p:nvCxnSpPr>
        <p:spPr bwMode="auto">
          <a:xfrm>
            <a:off x="6592134" y="848388"/>
            <a:ext cx="1399318" cy="140464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E6DAD3-1CB4-13B3-C87A-FF545C5A050C}"/>
              </a:ext>
            </a:extLst>
          </p:cNvPr>
          <p:cNvCxnSpPr>
            <a:cxnSpLocks/>
          </p:cNvCxnSpPr>
          <p:nvPr/>
        </p:nvCxnSpPr>
        <p:spPr bwMode="auto">
          <a:xfrm>
            <a:off x="6889484" y="752531"/>
            <a:ext cx="1297133" cy="133833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16DD13-232B-C21D-8B89-980168EB6CA6}"/>
              </a:ext>
            </a:extLst>
          </p:cNvPr>
          <p:cNvCxnSpPr>
            <a:cxnSpLocks/>
          </p:cNvCxnSpPr>
          <p:nvPr/>
        </p:nvCxnSpPr>
        <p:spPr bwMode="auto">
          <a:xfrm>
            <a:off x="6041997" y="1695570"/>
            <a:ext cx="894428" cy="9169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D6440-5488-E932-A6FA-9A60DE75C5A0}"/>
              </a:ext>
            </a:extLst>
          </p:cNvPr>
          <p:cNvCxnSpPr>
            <a:cxnSpLocks/>
          </p:cNvCxnSpPr>
          <p:nvPr/>
        </p:nvCxnSpPr>
        <p:spPr bwMode="auto">
          <a:xfrm>
            <a:off x="7171182" y="615475"/>
            <a:ext cx="1219891" cy="132430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81F179-9496-DBED-64DB-5722BE190571}"/>
              </a:ext>
            </a:extLst>
          </p:cNvPr>
          <p:cNvCxnSpPr>
            <a:cxnSpLocks/>
          </p:cNvCxnSpPr>
          <p:nvPr/>
        </p:nvCxnSpPr>
        <p:spPr bwMode="auto">
          <a:xfrm>
            <a:off x="7637097" y="578751"/>
            <a:ext cx="856736" cy="8809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FD2F2-8F11-E4A8-9475-B52C2BDA373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24001" y="675333"/>
            <a:ext cx="1895446" cy="142373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2CF693-4784-A9BC-0A3A-403F69129C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41793" y="825149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F3DD70-2EC0-F682-E205-4E433882E186}"/>
              </a:ext>
            </a:extLst>
          </p:cNvPr>
          <p:cNvCxnSpPr>
            <a:cxnSpLocks/>
          </p:cNvCxnSpPr>
          <p:nvPr/>
        </p:nvCxnSpPr>
        <p:spPr bwMode="auto">
          <a:xfrm flipV="1">
            <a:off x="6470827" y="1083355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264B36-7CCA-0FD2-BF90-4E66488C1B32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3833" y="1373019"/>
            <a:ext cx="1587549" cy="12464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CADF9C-23C6-DD54-07E8-E3CA3ADCEBFA}"/>
              </a:ext>
            </a:extLst>
          </p:cNvPr>
          <p:cNvCxnSpPr>
            <a:cxnSpLocks/>
          </p:cNvCxnSpPr>
          <p:nvPr/>
        </p:nvCxnSpPr>
        <p:spPr bwMode="auto">
          <a:xfrm flipV="1">
            <a:off x="7223913" y="1813380"/>
            <a:ext cx="1117222" cy="7847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762229-AD7C-B8DA-33AE-E7AD39352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8222" y="598515"/>
            <a:ext cx="1569870" cy="115443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290304-4DD8-4E14-D6C3-1ECE5420A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5619" y="675638"/>
            <a:ext cx="967962" cy="7770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35133F7D-D9EC-4F41-060E-72423F607211}"/>
              </a:ext>
            </a:extLst>
          </p:cNvPr>
          <p:cNvSpPr/>
          <p:nvPr/>
        </p:nvSpPr>
        <p:spPr bwMode="auto">
          <a:xfrm rot="16971922">
            <a:off x="6121995" y="2041883"/>
            <a:ext cx="376443" cy="507577"/>
          </a:xfrm>
          <a:prstGeom prst="diagStripe">
            <a:avLst>
              <a:gd name="adj" fmla="val 46774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84607F-6AA1-7D5C-9732-A5083333E320}"/>
              </a:ext>
            </a:extLst>
          </p:cNvPr>
          <p:cNvSpPr/>
          <p:nvPr/>
        </p:nvSpPr>
        <p:spPr bwMode="auto">
          <a:xfrm rot="19460736">
            <a:off x="5936100" y="2283341"/>
            <a:ext cx="315523" cy="153144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1B0BB4-FE27-EC0A-1B92-F95FCFE52077}"/>
              </a:ext>
            </a:extLst>
          </p:cNvPr>
          <p:cNvSpPr/>
          <p:nvPr/>
        </p:nvSpPr>
        <p:spPr bwMode="auto">
          <a:xfrm>
            <a:off x="3774393" y="3878007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9D12E4-F130-E073-7325-2C4D589A9B92}"/>
              </a:ext>
            </a:extLst>
          </p:cNvPr>
          <p:cNvSpPr txBox="1"/>
          <p:nvPr/>
        </p:nvSpPr>
        <p:spPr>
          <a:xfrm>
            <a:off x="4737476" y="788284"/>
            <a:ext cx="13241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>
                <a:latin typeface="+mj-lt"/>
              </a:rPr>
              <a:t>ICM42688</a:t>
            </a:r>
          </a:p>
          <a:p>
            <a:pPr>
              <a:buNone/>
            </a:pPr>
            <a:r>
              <a:rPr lang="en-IN" dirty="0">
                <a:latin typeface="+mj-lt"/>
              </a:rPr>
              <a:t>(IMU)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B0BA34-A943-6D42-B852-C7A8BD4DAF9B}"/>
              </a:ext>
            </a:extLst>
          </p:cNvPr>
          <p:cNvSpPr txBox="1"/>
          <p:nvPr/>
        </p:nvSpPr>
        <p:spPr>
          <a:xfrm>
            <a:off x="5450026" y="3871086"/>
            <a:ext cx="25007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Seeed XIAO studio nRF52840 </a:t>
            </a:r>
            <a:r>
              <a:rPr lang="en-IN" sz="1400" dirty="0">
                <a:latin typeface="+mj-lt"/>
              </a:rPr>
              <a:t>microcontroller</a:t>
            </a:r>
            <a:r>
              <a:rPr lang="en-IN" dirty="0">
                <a:latin typeface="+mj-lt"/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DC74D4-1D29-B2B1-9D4A-DA135C237549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 bwMode="auto">
          <a:xfrm>
            <a:off x="5399551" y="1434615"/>
            <a:ext cx="649677" cy="86307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E391FFB-0105-9793-B352-102311AB0CA1}"/>
              </a:ext>
            </a:extLst>
          </p:cNvPr>
          <p:cNvSpPr/>
          <p:nvPr/>
        </p:nvSpPr>
        <p:spPr bwMode="auto">
          <a:xfrm rot="19439583">
            <a:off x="2619777" y="4547413"/>
            <a:ext cx="402231" cy="188741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90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3ECC84-79A5-047B-4A66-BC127BDF9790}"/>
              </a:ext>
            </a:extLst>
          </p:cNvPr>
          <p:cNvSpPr/>
          <p:nvPr/>
        </p:nvSpPr>
        <p:spPr bwMode="auto">
          <a:xfrm>
            <a:off x="2230757" y="5659435"/>
            <a:ext cx="3286554" cy="6340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3.7V Li-Po 200mah </a:t>
            </a:r>
            <a:r>
              <a:rPr kumimoji="0" lang="en-I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battery,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TP4056 </a:t>
            </a:r>
            <a:r>
              <a:rPr lang="en-IN" sz="1400" dirty="0">
                <a:latin typeface="+mj-lt"/>
              </a:rPr>
              <a:t>charging module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9ADF326-E855-7F11-8573-DE5BC49A2F43}"/>
              </a:ext>
            </a:extLst>
          </p:cNvPr>
          <p:cNvCxnSpPr>
            <a:cxnSpLocks/>
            <a:stCxn id="54" idx="1"/>
            <a:endCxn id="53" idx="2"/>
          </p:cNvCxnSpPr>
          <p:nvPr/>
        </p:nvCxnSpPr>
        <p:spPr bwMode="auto">
          <a:xfrm flipV="1">
            <a:off x="2230757" y="4718124"/>
            <a:ext cx="645615" cy="12583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2BB37E-9021-7FD4-0AFE-5AC4792AE656}"/>
              </a:ext>
            </a:extLst>
          </p:cNvPr>
          <p:cNvCxnSpPr/>
          <p:nvPr/>
        </p:nvCxnSpPr>
        <p:spPr bwMode="auto">
          <a:xfrm flipV="1">
            <a:off x="4121143" y="24990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EAAC17-27CC-18D5-A62D-B6214B58A40C}"/>
              </a:ext>
            </a:extLst>
          </p:cNvPr>
          <p:cNvCxnSpPr/>
          <p:nvPr/>
        </p:nvCxnSpPr>
        <p:spPr bwMode="auto">
          <a:xfrm flipV="1">
            <a:off x="4100224" y="24733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1ABFE9-32DA-9932-135C-F5160F2B41A5}"/>
              </a:ext>
            </a:extLst>
          </p:cNvPr>
          <p:cNvCxnSpPr>
            <a:cxnSpLocks/>
          </p:cNvCxnSpPr>
          <p:nvPr/>
        </p:nvCxnSpPr>
        <p:spPr bwMode="auto">
          <a:xfrm flipV="1">
            <a:off x="4071663" y="2438397"/>
            <a:ext cx="1877606" cy="1306662"/>
          </a:xfrm>
          <a:prstGeom prst="line">
            <a:avLst/>
          </a:prstGeom>
          <a:noFill/>
          <a:ln w="9525" cap="flat" cmpd="sng" algn="ctr">
            <a:solidFill>
              <a:srgbClr val="CB059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C3C17F4-F6A6-F894-69EA-6FDE792A1CF0}"/>
              </a:ext>
            </a:extLst>
          </p:cNvPr>
          <p:cNvCxnSpPr/>
          <p:nvPr/>
        </p:nvCxnSpPr>
        <p:spPr bwMode="auto">
          <a:xfrm flipV="1">
            <a:off x="4057249" y="24059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646F293-3868-4B49-2A69-99823B46341E}"/>
              </a:ext>
            </a:extLst>
          </p:cNvPr>
          <p:cNvSpPr/>
          <p:nvPr/>
        </p:nvSpPr>
        <p:spPr bwMode="auto">
          <a:xfrm rot="19566419">
            <a:off x="3733694" y="3751911"/>
            <a:ext cx="447677" cy="140884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7D42E6-D604-4A83-9F3E-EF4835E64850}"/>
              </a:ext>
            </a:extLst>
          </p:cNvPr>
          <p:cNvCxnSpPr>
            <a:cxnSpLocks/>
            <a:stCxn id="45" idx="1"/>
          </p:cNvCxnSpPr>
          <p:nvPr/>
        </p:nvCxnSpPr>
        <p:spPr bwMode="auto">
          <a:xfrm flipH="1" flipV="1">
            <a:off x="3885273" y="3887547"/>
            <a:ext cx="1564753" cy="30670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A20FBE-7BFE-4F27-FC93-EF7B9A0EC5E3}"/>
              </a:ext>
            </a:extLst>
          </p:cNvPr>
          <p:cNvSpPr txBox="1"/>
          <p:nvPr/>
        </p:nvSpPr>
        <p:spPr>
          <a:xfrm>
            <a:off x="5341760" y="4815309"/>
            <a:ext cx="28929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Push button: (Calibration mode, Game mode ), LEDs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4BC63C-8D42-4C38-0D12-4E08430238D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774393" y="4103355"/>
            <a:ext cx="1567367" cy="9753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14:cNvPr>
              <p14:cNvContentPartPr/>
              <p14:nvPr/>
            </p14:nvContentPartPr>
            <p14:xfrm>
              <a:off x="3697620" y="4049880"/>
              <a:ext cx="92880" cy="900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8980" y="4041240"/>
                <a:ext cx="110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14:cNvPr>
              <p14:cNvContentPartPr/>
              <p14:nvPr/>
            </p14:nvContentPartPr>
            <p14:xfrm>
              <a:off x="-1828920" y="822720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37560" y="814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28323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AAA9D-0394-2730-12C6-75A6256CEE4F}"/>
              </a:ext>
            </a:extLst>
          </p:cNvPr>
          <p:cNvSpPr txBox="1"/>
          <p:nvPr/>
        </p:nvSpPr>
        <p:spPr>
          <a:xfrm>
            <a:off x="2987824" y="188640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Gantt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2FBBC-A5CC-58C0-6B38-51078E8A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36712"/>
            <a:ext cx="8002117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062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521494" y="260648"/>
            <a:ext cx="81010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63DFC-A076-EED5-6B98-FF0C79C8F702}"/>
              </a:ext>
            </a:extLst>
          </p:cNvPr>
          <p:cNvSpPr txBox="1"/>
          <p:nvPr/>
        </p:nvSpPr>
        <p:spPr>
          <a:xfrm>
            <a:off x="1115616" y="105273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</a:rPr>
              <a:t>Rodrigues, João Victor Oliveira, et al. "Performance evaluation of accelerometers ADXL345 and MPU6050 exposed to random vibrational input."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Research, Society and Development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10.15 (2021): e286101523082-e286101523082.</a:t>
            </a:r>
          </a:p>
          <a:p>
            <a:endParaRPr lang="en-US" sz="1400" dirty="0"/>
          </a:p>
          <a:p>
            <a:r>
              <a:rPr lang="en-US" sz="1400" b="0" i="0" dirty="0">
                <a:effectLst/>
                <a:latin typeface="Arial" panose="020B0604020202020204" pitchFamily="34" charset="0"/>
              </a:rPr>
              <a:t>Fedorov, D. S., et al. "Using of measuring system MPU6050 for the determination of the angular velocities and linear accelerations."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Automatics &amp; Software Enginery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11.1 (2015): 75-80.</a:t>
            </a:r>
          </a:p>
          <a:p>
            <a:endParaRPr lang="en-US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Jacob, Alvin, Wan </a:t>
            </a:r>
            <a:r>
              <a:rPr lang="en-IN" sz="1400" b="0" i="0" dirty="0" err="1">
                <a:effectLst/>
                <a:latin typeface="Arial" panose="020B0604020202020204" pitchFamily="34" charset="0"/>
              </a:rPr>
              <a:t>Nurshazwani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 Wan Zakaria, and Mohd Razali Bin Md </a:t>
            </a:r>
            <a:r>
              <a:rPr lang="en-IN" sz="1400" b="0" i="0" dirty="0" err="1">
                <a:effectLst/>
                <a:latin typeface="Arial" panose="020B0604020202020204" pitchFamily="34" charset="0"/>
              </a:rPr>
              <a:t>Tomari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"Implementation of IMU sensor for elbow movement measurement of badminton players."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2016 2nd IEEE International Symposium on Robotics and Manufacturing Automation (ROMA)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2016.</a:t>
            </a:r>
          </a:p>
          <a:p>
            <a:endParaRPr lang="en-IN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Li, Li, and Feng Li. "Recognizing badminton hitting movements Based on Multi-sensor trajectory recognition algorithm."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2023 3rd International Conference on Information Technology and Contemporary Sports (TCS)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2023.</a:t>
            </a:r>
          </a:p>
          <a:p>
            <a:endParaRPr lang="en-IN" sz="1400" dirty="0"/>
          </a:p>
          <a:p>
            <a:r>
              <a:rPr lang="en-IN" sz="1400" dirty="0">
                <a:latin typeface="+mj-lt"/>
              </a:rPr>
              <a:t>https://ijsrst.com/home/issue/view/article.php?id=IJSRST52310620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https://pubmed.ncbi.nlm.nih.gov/38580698/</a:t>
            </a:r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</a:rPr>
              <a:t>http://www.jurnal.nips.ru/sites/default/files/A&amp;SE-1-2015-11_0.pdf</a:t>
            </a:r>
          </a:p>
          <a:p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endParaRPr lang="en-IN" sz="1400" b="0" i="0" dirty="0">
              <a:effectLst/>
              <a:latin typeface="Arial" panose="020B0604020202020204" pitchFamily="34" charset="0"/>
            </a:endParaRPr>
          </a:p>
          <a:p>
            <a:endParaRPr lang="en-IN" sz="1400" dirty="0"/>
          </a:p>
          <a:p>
            <a:endParaRPr lang="en-IN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6683</TotalTime>
  <Words>1393</Words>
  <Application>Microsoft Office PowerPoint</Application>
  <PresentationFormat>On-screen Show (4:3)</PresentationFormat>
  <Paragraphs>278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925</cp:revision>
  <dcterms:created xsi:type="dcterms:W3CDTF">2015-03-06T06:18:00Z</dcterms:created>
  <dcterms:modified xsi:type="dcterms:W3CDTF">2026-05-03T17:51:31Z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