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6" r:id="rId2"/>
    <p:sldId id="322" r:id="rId3"/>
    <p:sldId id="337" r:id="rId4"/>
    <p:sldId id="338" r:id="rId5"/>
    <p:sldId id="349" r:id="rId6"/>
    <p:sldId id="351" r:id="rId7"/>
    <p:sldId id="324" r:id="rId8"/>
    <p:sldId id="348" r:id="rId9"/>
    <p:sldId id="346" r:id="rId10"/>
    <p:sldId id="339" r:id="rId11"/>
    <p:sldId id="352" r:id="rId12"/>
    <p:sldId id="353" r:id="rId13"/>
    <p:sldId id="354" r:id="rId14"/>
    <p:sldId id="355" r:id="rId15"/>
    <p:sldId id="335" r:id="rId16"/>
    <p:sldId id="350" r:id="rId17"/>
    <p:sldId id="299" r:id="rId18"/>
    <p:sldId id="304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909"/>
    <a:srgbClr val="CB0595"/>
    <a:srgbClr val="F4EBE2"/>
    <a:srgbClr val="B31D98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6 November 2025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19575" cy="2492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 err="1">
                <a:latin typeface="+mj-lt"/>
              </a:rPr>
              <a:t>Dr.G.Pandiaraj</a:t>
            </a:r>
            <a:endParaRPr lang="en-US" sz="2000" b="1" dirty="0">
              <a:latin typeface="+mj-lt"/>
            </a:endParaRP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914400" y="188640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DCE59-BC04-B491-175A-B16119A1E04C}"/>
              </a:ext>
            </a:extLst>
          </p:cNvPr>
          <p:cNvSpPr txBox="1"/>
          <p:nvPr/>
        </p:nvSpPr>
        <p:spPr>
          <a:xfrm>
            <a:off x="2915816" y="2836898"/>
            <a:ext cx="350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–B2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878484-867C-2E84-AC51-DB3165144C14}"/>
              </a:ext>
            </a:extLst>
          </p:cNvPr>
          <p:cNvSpPr txBox="1"/>
          <p:nvPr/>
        </p:nvSpPr>
        <p:spPr>
          <a:xfrm>
            <a:off x="1187624" y="2924944"/>
            <a:ext cx="7704856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design a low-cost badminton swing analyzer utilizing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MPU6050 and ESP32 MCU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support players in improving their skills through measurable swing parameters and visual feedback of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603E6-108F-C9CD-3C50-AAABE7C36D47}"/>
              </a:ext>
            </a:extLst>
          </p:cNvPr>
          <p:cNvSpPr txBox="1"/>
          <p:nvPr/>
        </p:nvSpPr>
        <p:spPr>
          <a:xfrm>
            <a:off x="827584" y="54519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Problem Statement: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43D70-F367-437B-62D3-19C71503CE3C}"/>
              </a:ext>
            </a:extLst>
          </p:cNvPr>
          <p:cNvSpPr txBox="1"/>
          <p:nvPr/>
        </p:nvSpPr>
        <p:spPr>
          <a:xfrm>
            <a:off x="1187624" y="1016165"/>
            <a:ext cx="5544616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Players lack affordable swing analytics tools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Existing solutions are costly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A4E8D-B6C9-C5FA-7A5F-2E7E29185D87}"/>
              </a:ext>
            </a:extLst>
          </p:cNvPr>
          <p:cNvSpPr txBox="1"/>
          <p:nvPr/>
        </p:nvSpPr>
        <p:spPr>
          <a:xfrm>
            <a:off x="971600" y="227687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24A51-20A6-95B9-4588-C7AA077A7EC1}"/>
              </a:ext>
            </a:extLst>
          </p:cNvPr>
          <p:cNvSpPr txBox="1"/>
          <p:nvPr/>
        </p:nvSpPr>
        <p:spPr>
          <a:xfrm>
            <a:off x="2771800" y="11663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+mj-lt"/>
              </a:rPr>
              <a:t>Working of MPU 6050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12ACC-93B3-F1B9-B21F-E6B5BCDB576A}"/>
              </a:ext>
            </a:extLst>
          </p:cNvPr>
          <p:cNvSpPr txBox="1"/>
          <p:nvPr/>
        </p:nvSpPr>
        <p:spPr>
          <a:xfrm>
            <a:off x="899592" y="639852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n-lt"/>
              </a:rPr>
              <a:t>IMU </a:t>
            </a:r>
            <a:r>
              <a:rPr lang="en-IN" sz="2000" dirty="0">
                <a:latin typeface="+mn-lt"/>
              </a:rPr>
              <a:t>– Measures</a:t>
            </a:r>
            <a:r>
              <a:rPr lang="en-US" sz="2000" dirty="0">
                <a:latin typeface="+mn-lt"/>
              </a:rPr>
              <a:t> body's specific force, angular rate, using accelerometers, gyroscopes .Used in robotics, aerospace, and motion tracking in sports</a:t>
            </a:r>
            <a:endParaRPr lang="en-IN" sz="20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52C2C-C26D-0F35-B8D1-E422B88DC52B}"/>
              </a:ext>
            </a:extLst>
          </p:cNvPr>
          <p:cNvSpPr txBox="1"/>
          <p:nvPr/>
        </p:nvSpPr>
        <p:spPr>
          <a:xfrm>
            <a:off x="831923" y="1556792"/>
            <a:ext cx="83120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n-lt"/>
              </a:rPr>
              <a:t>MPU6050 uses MEMS technology - 6 axis motion tracking device( 3-axis accelerometer, 3-axis gyroscope, temperature sensor and DMP)</a:t>
            </a:r>
          </a:p>
          <a:p>
            <a:endParaRPr lang="en-IN" sz="2000" dirty="0">
              <a:latin typeface="+mn-lt"/>
            </a:endParaRPr>
          </a:p>
          <a:p>
            <a:r>
              <a:rPr lang="en-IN" sz="2000" b="1" dirty="0">
                <a:latin typeface="+mn-lt"/>
              </a:rPr>
              <a:t>Accelerometer </a:t>
            </a:r>
            <a:r>
              <a:rPr lang="en-IN" sz="2000" dirty="0">
                <a:latin typeface="+mn-lt"/>
              </a:rPr>
              <a:t>– measures(static and dynamic </a:t>
            </a:r>
            <a:r>
              <a:rPr lang="en-IN" sz="2000" dirty="0" err="1">
                <a:latin typeface="+mn-lt"/>
              </a:rPr>
              <a:t>acc</a:t>
            </a:r>
            <a:r>
              <a:rPr lang="en-IN" sz="2000" dirty="0">
                <a:latin typeface="+mn-lt"/>
              </a:rPr>
              <a:t>) , capacitive sensing – variation of C = applied acc.</a:t>
            </a:r>
          </a:p>
          <a:p>
            <a:r>
              <a:rPr lang="en-IN" sz="2000" dirty="0">
                <a:latin typeface="+mn-lt"/>
              </a:rPr>
              <a:t>AD: high accuracy, low power consumption</a:t>
            </a:r>
          </a:p>
          <a:p>
            <a:endParaRPr lang="en-IN" sz="2000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b="1" dirty="0">
              <a:latin typeface="+mn-lt"/>
            </a:endParaRPr>
          </a:p>
          <a:p>
            <a:endParaRPr lang="en-IN" sz="2000" dirty="0"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F1575C-2753-7892-45F9-3A2B9224A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1" y="3502294"/>
            <a:ext cx="4892205" cy="282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596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B7D0F-0894-FF71-7D75-C7FB567FBA8C}"/>
              </a:ext>
            </a:extLst>
          </p:cNvPr>
          <p:cNvSpPr/>
          <p:nvPr/>
        </p:nvSpPr>
        <p:spPr bwMode="auto">
          <a:xfrm>
            <a:off x="1240184" y="332656"/>
            <a:ext cx="1800200" cy="17281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1AA166-0DD5-F52E-E3E5-B9C234716AED}"/>
              </a:ext>
            </a:extLst>
          </p:cNvPr>
          <p:cNvSpPr/>
          <p:nvPr/>
        </p:nvSpPr>
        <p:spPr bwMode="auto">
          <a:xfrm>
            <a:off x="2627784" y="548680"/>
            <a:ext cx="72008" cy="72008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685BFC-2431-2BBF-1757-3F1E64726991}"/>
              </a:ext>
            </a:extLst>
          </p:cNvPr>
          <p:cNvSpPr txBox="1"/>
          <p:nvPr/>
        </p:nvSpPr>
        <p:spPr>
          <a:xfrm>
            <a:off x="899592" y="5970766"/>
            <a:ext cx="656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+mn-lt"/>
              </a:rPr>
              <a:t>Similar sensors</a:t>
            </a:r>
            <a:r>
              <a:rPr lang="en-IN" sz="2000" dirty="0">
                <a:latin typeface="+mn-lt"/>
              </a:rPr>
              <a:t>:  ADXL345 , MPU9250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A6ED67-BA2F-88F5-6F0D-9A10FAC47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930513"/>
            <a:ext cx="5004556" cy="33947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511E71-DADF-E033-53D4-5FE468EB0CA8}"/>
              </a:ext>
            </a:extLst>
          </p:cNvPr>
          <p:cNvSpPr txBox="1"/>
          <p:nvPr/>
        </p:nvSpPr>
        <p:spPr>
          <a:xfrm>
            <a:off x="3563888" y="5412425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+mj-lt"/>
              </a:rPr>
              <a:t>MPU6050 sensor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3D526-1584-E663-8F70-250111B39A99}"/>
              </a:ext>
            </a:extLst>
          </p:cNvPr>
          <p:cNvSpPr txBox="1"/>
          <p:nvPr/>
        </p:nvSpPr>
        <p:spPr>
          <a:xfrm>
            <a:off x="1115616" y="322488"/>
            <a:ext cx="77768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+mn-lt"/>
              </a:rPr>
              <a:t>Gyroscope </a:t>
            </a:r>
            <a:r>
              <a:rPr lang="en-IN" sz="1800" dirty="0">
                <a:latin typeface="+mn-lt"/>
              </a:rPr>
              <a:t>– measures orientation and </a:t>
            </a:r>
            <a:r>
              <a:rPr lang="en-IN" sz="1800" dirty="0" err="1">
                <a:latin typeface="+mn-lt"/>
              </a:rPr>
              <a:t>ang.V</a:t>
            </a:r>
            <a:r>
              <a:rPr lang="en-IN" sz="1800" dirty="0">
                <a:latin typeface="+mn-lt"/>
              </a:rPr>
              <a:t>, Variation of C= applied </a:t>
            </a:r>
            <a:r>
              <a:rPr lang="en-IN" sz="1800" dirty="0" err="1">
                <a:latin typeface="+mn-lt"/>
              </a:rPr>
              <a:t>ang.rate</a:t>
            </a:r>
            <a:endParaRPr lang="en-IN" sz="1800" b="1" dirty="0">
              <a:latin typeface="+mn-lt"/>
            </a:endParaRPr>
          </a:p>
          <a:p>
            <a:r>
              <a:rPr lang="en-IN" sz="1800" dirty="0">
                <a:latin typeface="+mn-lt"/>
              </a:rPr>
              <a:t>Follows Coriolis Effect . Have 4 proof mass – detect roll(x) ,pitch(y), yaw(z)</a:t>
            </a:r>
          </a:p>
          <a:p>
            <a:endParaRPr lang="en-IN" sz="1800" dirty="0">
              <a:latin typeface="+mn-lt"/>
            </a:endParaRPr>
          </a:p>
          <a:p>
            <a:r>
              <a:rPr lang="en-IN" sz="1800" dirty="0">
                <a:latin typeface="+mn-lt"/>
              </a:rPr>
              <a:t>When mass moves in spec. direction with V and ext. ang. Rate applied – produce -</a:t>
            </a:r>
            <a:r>
              <a:rPr lang="en-IN" sz="1800" b="1" i="1" dirty="0">
                <a:latin typeface="+mn-lt"/>
              </a:rPr>
              <a:t>Coriolis Effect </a:t>
            </a:r>
            <a:r>
              <a:rPr lang="en-IN" sz="1800" dirty="0">
                <a:latin typeface="+mn-lt"/>
              </a:rPr>
              <a:t>.- generates a force – moves in perpendicular direction</a:t>
            </a:r>
          </a:p>
          <a:p>
            <a:endParaRPr lang="en-IN" sz="1800" dirty="0">
              <a:latin typeface="+mn-lt"/>
            </a:endParaRPr>
          </a:p>
          <a:p>
            <a:endParaRPr lang="en-IN" sz="1800" dirty="0">
              <a:latin typeface="+mn-lt"/>
            </a:endParaRPr>
          </a:p>
          <a:p>
            <a:endParaRPr lang="en-IN" sz="1800" dirty="0">
              <a:latin typeface="+mn-lt"/>
            </a:endParaRPr>
          </a:p>
          <a:p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796577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83AE7-FFC7-679F-A716-6784360EBC34}"/>
              </a:ext>
            </a:extLst>
          </p:cNvPr>
          <p:cNvSpPr txBox="1"/>
          <p:nvPr/>
        </p:nvSpPr>
        <p:spPr>
          <a:xfrm>
            <a:off x="3059832" y="332656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Research papers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758CCD-17E6-DC45-EA20-F6275F2FB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369555"/>
              </p:ext>
            </p:extLst>
          </p:nvPr>
        </p:nvGraphicFramePr>
        <p:xfrm>
          <a:off x="1259632" y="1280879"/>
          <a:ext cx="7344816" cy="4114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555786028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79029571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137155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97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Research Paper 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Design of angle detection system based on MPU6050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Vibration detection prototype </a:t>
                      </a:r>
                    </a:p>
                    <a:p>
                      <a:r>
                        <a:rPr lang="en-IN" sz="2000" dirty="0"/>
                        <a:t>Using MPU6050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20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Key findings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Effective in detecting angles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Effective in detecting vibrations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Limitation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Need for calibration in different conditions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Interference of noise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What we improve in our project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Get offset values of racket position by keeping it stable for 3s (approx. 3000samples)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Using Kalman filter, reduce sensor drift and noise interference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029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CDD264-A548-642C-92A9-7A3A83C05720}"/>
              </a:ext>
            </a:extLst>
          </p:cNvPr>
          <p:cNvSpPr txBox="1"/>
          <p:nvPr/>
        </p:nvSpPr>
        <p:spPr>
          <a:xfrm>
            <a:off x="773832" y="579288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</a:rPr>
              <a:t>http://www.jurnal.nips.ru/sites/default/files/A&amp;SE-1-2015-11_0.pdf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21FFF-A1A0-6B3C-A0CC-7377E0ABADE8}"/>
              </a:ext>
            </a:extLst>
          </p:cNvPr>
          <p:cNvSpPr txBox="1"/>
          <p:nvPr/>
        </p:nvSpPr>
        <p:spPr>
          <a:xfrm>
            <a:off x="755576" y="6069880"/>
            <a:ext cx="7056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</a:rPr>
              <a:t>https://ijsrst.com/home/issue/view/article.php?id=IJSRST52310620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F0218-044A-B66E-B2EC-E1F083C8AC78}"/>
              </a:ext>
            </a:extLst>
          </p:cNvPr>
          <p:cNvSpPr/>
          <p:nvPr/>
        </p:nvSpPr>
        <p:spPr bwMode="auto">
          <a:xfrm>
            <a:off x="1259632" y="4077072"/>
            <a:ext cx="7344816" cy="72008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2F078-EFD0-8988-F093-A7D57547298C}"/>
              </a:ext>
            </a:extLst>
          </p:cNvPr>
          <p:cNvSpPr/>
          <p:nvPr/>
        </p:nvSpPr>
        <p:spPr bwMode="auto">
          <a:xfrm>
            <a:off x="1259632" y="5323671"/>
            <a:ext cx="7344816" cy="72008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7042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6763B-6820-BCF8-6241-7CB9C03D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23" y="872716"/>
            <a:ext cx="8650577" cy="51125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650087-90CE-5150-9811-B9011A36210C}"/>
              </a:ext>
            </a:extLst>
          </p:cNvPr>
          <p:cNvSpPr txBox="1"/>
          <p:nvPr/>
        </p:nvSpPr>
        <p:spPr>
          <a:xfrm>
            <a:off x="3275856" y="250880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Calibration of sensor</a:t>
            </a:r>
          </a:p>
        </p:txBody>
      </p:sp>
    </p:spTree>
    <p:extLst>
      <p:ext uri="{BB962C8B-B14F-4D97-AF65-F5344CB8AC3E}">
        <p14:creationId xmlns:p14="http://schemas.microsoft.com/office/powerpoint/2010/main" val="20852429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E5E90C5-76EA-B209-0B15-335E2323403B}"/>
              </a:ext>
            </a:extLst>
          </p:cNvPr>
          <p:cNvSpPr txBox="1"/>
          <p:nvPr/>
        </p:nvSpPr>
        <p:spPr>
          <a:xfrm>
            <a:off x="3203848" y="116632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75E5-1D6C-AADD-514D-EF368D2E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19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969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B481A-59D1-23D1-3542-E538D015C877}"/>
              </a:ext>
            </a:extLst>
          </p:cNvPr>
          <p:cNvSpPr txBox="1"/>
          <p:nvPr/>
        </p:nvSpPr>
        <p:spPr>
          <a:xfrm>
            <a:off x="2123728" y="260648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+mj-lt"/>
              </a:rPr>
              <a:t>Swing Metrics to be measured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59CB99-3EA2-6398-BDD4-4A3764994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003290"/>
              </p:ext>
            </p:extLst>
          </p:nvPr>
        </p:nvGraphicFramePr>
        <p:xfrm>
          <a:off x="1331640" y="1268760"/>
          <a:ext cx="6984775" cy="292543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91433">
                  <a:extLst>
                    <a:ext uri="{9D8B030D-6E8A-4147-A177-3AD203B41FA5}">
                      <a16:colId xmlns:a16="http://schemas.microsoft.com/office/drawing/2014/main" val="3386230356"/>
                    </a:ext>
                  </a:extLst>
                </a:gridCol>
                <a:gridCol w="3046671">
                  <a:extLst>
                    <a:ext uri="{9D8B030D-6E8A-4147-A177-3AD203B41FA5}">
                      <a16:colId xmlns:a16="http://schemas.microsoft.com/office/drawing/2014/main" val="2513233891"/>
                    </a:ext>
                  </a:extLst>
                </a:gridCol>
                <a:gridCol w="3046671">
                  <a:extLst>
                    <a:ext uri="{9D8B030D-6E8A-4147-A177-3AD203B41FA5}">
                      <a16:colId xmlns:a16="http://schemas.microsoft.com/office/drawing/2014/main" val="2580208364"/>
                    </a:ext>
                  </a:extLst>
                </a:gridCol>
              </a:tblGrid>
              <a:tr h="4637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S.no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Swing Metrics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Need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333142"/>
                  </a:ext>
                </a:extLst>
              </a:tr>
              <a:tr h="8205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1.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Swing speed (km/hr) – from </a:t>
                      </a:r>
                      <a:r>
                        <a:rPr lang="en-IN" sz="2000" dirty="0" err="1"/>
                        <a:t>acc.data</a:t>
                      </a:r>
                      <a:endParaRPr lang="en-IN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To measure swing speed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182310"/>
                  </a:ext>
                </a:extLst>
              </a:tr>
              <a:tr h="11773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2.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Peak angular velocity(</a:t>
                      </a:r>
                      <a:r>
                        <a:rPr lang="en-IN" sz="2000" dirty="0" err="1"/>
                        <a:t>deg</a:t>
                      </a:r>
                      <a:r>
                        <a:rPr lang="en-IN" sz="2000" dirty="0"/>
                        <a:t>/s) – from </a:t>
                      </a:r>
                      <a:r>
                        <a:rPr lang="en-IN" sz="2000" dirty="0" err="1"/>
                        <a:t>gyro.data</a:t>
                      </a:r>
                      <a:endParaRPr lang="en-IN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To measure fastness of swing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94949"/>
                  </a:ext>
                </a:extLst>
              </a:tr>
              <a:tr h="4637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3.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Impact force (m/s^2)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/>
                        <a:t>Solidness of the hit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655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9717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E9FA8B-57F4-E016-E052-2BAA6CDC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027283"/>
              </p:ext>
            </p:extLst>
          </p:nvPr>
        </p:nvGraphicFramePr>
        <p:xfrm>
          <a:off x="1259632" y="908720"/>
          <a:ext cx="7200800" cy="31458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118599303"/>
                    </a:ext>
                  </a:extLst>
                </a:gridCol>
                <a:gridCol w="3620880">
                  <a:extLst>
                    <a:ext uri="{9D8B030D-6E8A-4147-A177-3AD203B41FA5}">
                      <a16:colId xmlns:a16="http://schemas.microsoft.com/office/drawing/2014/main" val="3991523037"/>
                    </a:ext>
                  </a:extLst>
                </a:gridCol>
                <a:gridCol w="1563696">
                  <a:extLst>
                    <a:ext uri="{9D8B030D-6E8A-4147-A177-3AD203B41FA5}">
                      <a16:colId xmlns:a16="http://schemas.microsoft.com/office/drawing/2014/main" val="169864346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198326072"/>
                    </a:ext>
                  </a:extLst>
                </a:gridCol>
              </a:tblGrid>
              <a:tr h="725976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</a:t>
                      </a: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ight in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Price(</a:t>
                      </a:r>
                      <a:r>
                        <a:rPr lang="en-IN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</a:t>
                      </a: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(approx.)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35665"/>
                  </a:ext>
                </a:extLst>
              </a:tr>
              <a:tr h="38403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MPU6050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308974"/>
                  </a:ext>
                </a:extLst>
              </a:tr>
              <a:tr h="38403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ESP32 DEVKIT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83826"/>
                  </a:ext>
                </a:extLst>
              </a:tr>
              <a:tr h="38403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TP4056 Charging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286494"/>
                  </a:ext>
                </a:extLst>
              </a:tr>
              <a:tr h="38403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3.7V 1000mAh Li-po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728093"/>
                  </a:ext>
                </a:extLst>
              </a:tr>
              <a:tr h="4103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Badminton Racket -</a:t>
                      </a:r>
                      <a:r>
                        <a:rPr lang="en-IN" sz="2000" b="0" i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Hardware</a:t>
                      </a:r>
                      <a:endParaRPr lang="en-IN" sz="1800" b="0" i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29457"/>
                  </a:ext>
                </a:extLst>
              </a:tr>
              <a:tr h="473463">
                <a:tc>
                  <a:txBody>
                    <a:bodyPr/>
                    <a:lstStyle/>
                    <a:p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80+36=116g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1450rs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9972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AF5D5A-B68A-11CD-0DAA-6AEB68D38D4E}"/>
              </a:ext>
            </a:extLst>
          </p:cNvPr>
          <p:cNvSpPr txBox="1"/>
          <p:nvPr/>
        </p:nvSpPr>
        <p:spPr>
          <a:xfrm>
            <a:off x="2699792" y="188640"/>
            <a:ext cx="4104456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baseline="30000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Bill of Materials and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F8B60-4764-28BF-4106-C14F76806E1F}"/>
              </a:ext>
            </a:extLst>
          </p:cNvPr>
          <p:cNvSpPr txBox="1"/>
          <p:nvPr/>
        </p:nvSpPr>
        <p:spPr>
          <a:xfrm>
            <a:off x="5436096" y="5085184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Approx. price = </a:t>
            </a:r>
            <a:r>
              <a:rPr lang="en-IN" sz="2000" b="1" dirty="0"/>
              <a:t>1500rs</a:t>
            </a:r>
          </a:p>
        </p:txBody>
      </p:sp>
    </p:spTree>
    <p:extLst>
      <p:ext uri="{BB962C8B-B14F-4D97-AF65-F5344CB8AC3E}">
        <p14:creationId xmlns:p14="http://schemas.microsoft.com/office/powerpoint/2010/main" val="34910578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A2243-D423-F22C-65AB-A645DD341637}"/>
              </a:ext>
            </a:extLst>
          </p:cNvPr>
          <p:cNvSpPr/>
          <p:nvPr/>
        </p:nvSpPr>
        <p:spPr bwMode="auto">
          <a:xfrm rot="8729465">
            <a:off x="2880355" y="3295096"/>
            <a:ext cx="3682406" cy="17241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E5E988DE-DBC4-0FF3-9BC1-8262064C9819}"/>
              </a:ext>
            </a:extLst>
          </p:cNvPr>
          <p:cNvSpPr/>
          <p:nvPr/>
        </p:nvSpPr>
        <p:spPr bwMode="auto">
          <a:xfrm rot="3295707">
            <a:off x="3153258" y="3652770"/>
            <a:ext cx="283289" cy="1411613"/>
          </a:xfrm>
          <a:prstGeom prst="can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4E679-E73B-8A51-F073-B643B746EFE1}"/>
              </a:ext>
            </a:extLst>
          </p:cNvPr>
          <p:cNvSpPr txBox="1"/>
          <p:nvPr/>
        </p:nvSpPr>
        <p:spPr>
          <a:xfrm>
            <a:off x="3301654" y="114994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Prototype Design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578781-7EDC-C2FD-5A09-C1CB5AD48C46}"/>
              </a:ext>
            </a:extLst>
          </p:cNvPr>
          <p:cNvSpPr/>
          <p:nvPr/>
        </p:nvSpPr>
        <p:spPr bwMode="auto">
          <a:xfrm rot="3829639">
            <a:off x="6348538" y="345128"/>
            <a:ext cx="1931121" cy="254086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 extrusionH="38100">
            <a:bevelT w="31750"/>
            <a:bevelB w="107950"/>
          </a:sp3d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E1804-7A92-1D68-6A06-A8E6AA8F68A0}"/>
              </a:ext>
            </a:extLst>
          </p:cNvPr>
          <p:cNvCxnSpPr>
            <a:cxnSpLocks/>
          </p:cNvCxnSpPr>
          <p:nvPr/>
        </p:nvCxnSpPr>
        <p:spPr bwMode="auto">
          <a:xfrm>
            <a:off x="6206020" y="1459705"/>
            <a:ext cx="1107371" cy="11964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FC027-B188-BD14-FCD6-1AA874A99B5E}"/>
              </a:ext>
            </a:extLst>
          </p:cNvPr>
          <p:cNvCxnSpPr>
            <a:cxnSpLocks/>
          </p:cNvCxnSpPr>
          <p:nvPr/>
        </p:nvCxnSpPr>
        <p:spPr bwMode="auto">
          <a:xfrm>
            <a:off x="6398162" y="1164097"/>
            <a:ext cx="1341117" cy="13786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C6E66-6655-3E8D-7E12-C07B9FC424BA}"/>
              </a:ext>
            </a:extLst>
          </p:cNvPr>
          <p:cNvCxnSpPr>
            <a:cxnSpLocks/>
          </p:cNvCxnSpPr>
          <p:nvPr/>
        </p:nvCxnSpPr>
        <p:spPr bwMode="auto">
          <a:xfrm>
            <a:off x="6628359" y="892090"/>
            <a:ext cx="1399318" cy="14046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6DAD3-1CB4-13B3-C87A-FF545C5A050C}"/>
              </a:ext>
            </a:extLst>
          </p:cNvPr>
          <p:cNvCxnSpPr>
            <a:cxnSpLocks/>
          </p:cNvCxnSpPr>
          <p:nvPr/>
        </p:nvCxnSpPr>
        <p:spPr bwMode="auto">
          <a:xfrm>
            <a:off x="6889484" y="752531"/>
            <a:ext cx="1297133" cy="13383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16DD13-232B-C21D-8B89-980168EB6CA6}"/>
              </a:ext>
            </a:extLst>
          </p:cNvPr>
          <p:cNvCxnSpPr>
            <a:cxnSpLocks/>
          </p:cNvCxnSpPr>
          <p:nvPr/>
        </p:nvCxnSpPr>
        <p:spPr bwMode="auto">
          <a:xfrm>
            <a:off x="6078222" y="1739272"/>
            <a:ext cx="894428" cy="9169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D6440-5488-E932-A6FA-9A60DE75C5A0}"/>
              </a:ext>
            </a:extLst>
          </p:cNvPr>
          <p:cNvCxnSpPr>
            <a:cxnSpLocks/>
          </p:cNvCxnSpPr>
          <p:nvPr/>
        </p:nvCxnSpPr>
        <p:spPr bwMode="auto">
          <a:xfrm>
            <a:off x="7171182" y="615475"/>
            <a:ext cx="1219891" cy="132430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1F179-9496-DBED-64DB-5722BE190571}"/>
              </a:ext>
            </a:extLst>
          </p:cNvPr>
          <p:cNvCxnSpPr>
            <a:cxnSpLocks/>
          </p:cNvCxnSpPr>
          <p:nvPr/>
        </p:nvCxnSpPr>
        <p:spPr bwMode="auto">
          <a:xfrm>
            <a:off x="7637097" y="578751"/>
            <a:ext cx="856736" cy="8809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FD2F2-8F11-E4A8-9475-B52C2BDA37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24001" y="675333"/>
            <a:ext cx="1895446" cy="142373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2CF693-4784-A9BC-0A3A-403F69129C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78018" y="868851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F3DD70-2EC0-F682-E205-4E433882E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0827" y="1083355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4B36-7CCA-0FD2-BF90-4E66488C1B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833" y="1373019"/>
            <a:ext cx="1587549" cy="1246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CADF9C-23C6-DD54-07E8-E3CA3ADCE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0138" y="1857082"/>
            <a:ext cx="1117222" cy="7847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62229-AD7C-B8DA-33AE-E7AD39352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8222" y="598515"/>
            <a:ext cx="1569870" cy="115443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90304-4DD8-4E14-D6C3-1ECE5420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5619" y="675638"/>
            <a:ext cx="967962" cy="7770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35133F7D-D9EC-4F41-060E-72423F607211}"/>
              </a:ext>
            </a:extLst>
          </p:cNvPr>
          <p:cNvSpPr/>
          <p:nvPr/>
        </p:nvSpPr>
        <p:spPr bwMode="auto">
          <a:xfrm rot="16971922">
            <a:off x="6158220" y="2085585"/>
            <a:ext cx="376443" cy="507577"/>
          </a:xfrm>
          <a:prstGeom prst="diagStripe">
            <a:avLst>
              <a:gd name="adj" fmla="val 46774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4607F-6AA1-7D5C-9732-A5083333E320}"/>
              </a:ext>
            </a:extLst>
          </p:cNvPr>
          <p:cNvSpPr/>
          <p:nvPr/>
        </p:nvSpPr>
        <p:spPr bwMode="auto">
          <a:xfrm rot="19460736">
            <a:off x="5972325" y="2327043"/>
            <a:ext cx="315523" cy="153144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1B0BB4-FE27-EC0A-1B92-F95FCFE52077}"/>
              </a:ext>
            </a:extLst>
          </p:cNvPr>
          <p:cNvSpPr/>
          <p:nvPr/>
        </p:nvSpPr>
        <p:spPr bwMode="auto">
          <a:xfrm>
            <a:off x="3810618" y="3921709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D12E4-F130-E073-7325-2C4D589A9B92}"/>
              </a:ext>
            </a:extLst>
          </p:cNvPr>
          <p:cNvSpPr txBox="1"/>
          <p:nvPr/>
        </p:nvSpPr>
        <p:spPr>
          <a:xfrm>
            <a:off x="4100182" y="1640888"/>
            <a:ext cx="1324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MPU 6050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B0BA34-A943-6D42-B852-C7A8BD4DAF9B}"/>
              </a:ext>
            </a:extLst>
          </p:cNvPr>
          <p:cNvSpPr txBox="1"/>
          <p:nvPr/>
        </p:nvSpPr>
        <p:spPr>
          <a:xfrm>
            <a:off x="5518701" y="3906168"/>
            <a:ext cx="207692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ESP32 MCU and 3.7V Li-Po battery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DC74D4-1D29-B2B1-9D4A-DA135C237549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 bwMode="auto">
          <a:xfrm>
            <a:off x="4762257" y="2010220"/>
            <a:ext cx="1323196" cy="33117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91FFB-0105-9793-B352-102311AB0CA1}"/>
              </a:ext>
            </a:extLst>
          </p:cNvPr>
          <p:cNvSpPr/>
          <p:nvPr/>
        </p:nvSpPr>
        <p:spPr bwMode="auto">
          <a:xfrm rot="19439583">
            <a:off x="2656002" y="4591115"/>
            <a:ext cx="402231" cy="18874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90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3ECC84-79A5-047B-4A66-BC127BDF9790}"/>
              </a:ext>
            </a:extLst>
          </p:cNvPr>
          <p:cNvSpPr/>
          <p:nvPr/>
        </p:nvSpPr>
        <p:spPr bwMode="auto">
          <a:xfrm>
            <a:off x="3288940" y="5785364"/>
            <a:ext cx="3286554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TP4056 </a:t>
            </a:r>
            <a:r>
              <a:rPr lang="en-IN" sz="1600" dirty="0"/>
              <a:t>charging module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ADF326-E855-7F11-8573-DE5BC49A2F43}"/>
              </a:ext>
            </a:extLst>
          </p:cNvPr>
          <p:cNvCxnSpPr>
            <a:cxnSpLocks/>
            <a:stCxn id="54" idx="1"/>
            <a:endCxn id="53" idx="2"/>
          </p:cNvCxnSpPr>
          <p:nvPr/>
        </p:nvCxnSpPr>
        <p:spPr bwMode="auto">
          <a:xfrm flipH="1" flipV="1">
            <a:off x="2912597" y="4761826"/>
            <a:ext cx="376343" cy="119281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2BB37E-9021-7FD4-0AFE-5AC4792AE656}"/>
              </a:ext>
            </a:extLst>
          </p:cNvPr>
          <p:cNvCxnSpPr/>
          <p:nvPr/>
        </p:nvCxnSpPr>
        <p:spPr bwMode="auto">
          <a:xfrm flipV="1">
            <a:off x="4157368" y="2542782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EAAC17-27CC-18D5-A62D-B6214B58A40C}"/>
              </a:ext>
            </a:extLst>
          </p:cNvPr>
          <p:cNvCxnSpPr/>
          <p:nvPr/>
        </p:nvCxnSpPr>
        <p:spPr bwMode="auto">
          <a:xfrm flipV="1">
            <a:off x="4136449" y="2517082"/>
            <a:ext cx="1865367" cy="1306920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1ABFE9-32DA-9932-135C-F5160F2B41A5}"/>
              </a:ext>
            </a:extLst>
          </p:cNvPr>
          <p:cNvCxnSpPr>
            <a:cxnSpLocks/>
          </p:cNvCxnSpPr>
          <p:nvPr/>
        </p:nvCxnSpPr>
        <p:spPr bwMode="auto">
          <a:xfrm flipV="1">
            <a:off x="4107888" y="2482099"/>
            <a:ext cx="1877606" cy="1306662"/>
          </a:xfrm>
          <a:prstGeom prst="line">
            <a:avLst/>
          </a:prstGeom>
          <a:noFill/>
          <a:ln w="9525" cap="flat" cmpd="sng" algn="ctr">
            <a:solidFill>
              <a:srgbClr val="CB059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3C17F4-F6A6-F894-69EA-6FDE792A1CF0}"/>
              </a:ext>
            </a:extLst>
          </p:cNvPr>
          <p:cNvCxnSpPr/>
          <p:nvPr/>
        </p:nvCxnSpPr>
        <p:spPr bwMode="auto">
          <a:xfrm flipV="1">
            <a:off x="4093474" y="2449682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646F293-3868-4B49-2A69-99823B46341E}"/>
              </a:ext>
            </a:extLst>
          </p:cNvPr>
          <p:cNvSpPr/>
          <p:nvPr/>
        </p:nvSpPr>
        <p:spPr bwMode="auto">
          <a:xfrm rot="19566419">
            <a:off x="3769919" y="3795613"/>
            <a:ext cx="447677" cy="140884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D42E6-D604-4A83-9F3E-EF4835E64850}"/>
              </a:ext>
            </a:extLst>
          </p:cNvPr>
          <p:cNvCxnSpPr>
            <a:cxnSpLocks/>
            <a:stCxn id="45" idx="1"/>
          </p:cNvCxnSpPr>
          <p:nvPr/>
        </p:nvCxnSpPr>
        <p:spPr bwMode="auto">
          <a:xfrm flipH="1" flipV="1">
            <a:off x="3953948" y="3922629"/>
            <a:ext cx="1564753" cy="30670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83239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BFD2B4-FA91-10C9-34A7-33D65D81DFF4}"/>
              </a:ext>
            </a:extLst>
          </p:cNvPr>
          <p:cNvSpPr txBox="1"/>
          <p:nvPr/>
        </p:nvSpPr>
        <p:spPr>
          <a:xfrm>
            <a:off x="2987824" y="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Swing Speed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A5014-0BE9-8C70-7467-B2074175A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560"/>
            <a:ext cx="9087837" cy="509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691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DDB77-9A98-D963-C2A9-2979F08F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356"/>
            <a:ext cx="9100224" cy="5064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9E4AE8-560F-47C0-893E-0C0F316DE081}"/>
              </a:ext>
            </a:extLst>
          </p:cNvPr>
          <p:cNvSpPr txBox="1"/>
          <p:nvPr/>
        </p:nvSpPr>
        <p:spPr>
          <a:xfrm>
            <a:off x="2915816" y="11663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Angular Velocity Graph</a:t>
            </a:r>
          </a:p>
        </p:txBody>
      </p:sp>
    </p:spTree>
    <p:extLst>
      <p:ext uri="{BB962C8B-B14F-4D97-AF65-F5344CB8AC3E}">
        <p14:creationId xmlns:p14="http://schemas.microsoft.com/office/powerpoint/2010/main" val="2525873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C8783-627C-6670-77D8-DD1F93CBA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941"/>
            <a:ext cx="9144000" cy="5014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F0E516-05A1-7FFF-2EFD-989A3354C7FA}"/>
              </a:ext>
            </a:extLst>
          </p:cNvPr>
          <p:cNvSpPr txBox="1"/>
          <p:nvPr/>
        </p:nvSpPr>
        <p:spPr>
          <a:xfrm>
            <a:off x="3275856" y="116632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Impact Force Graph</a:t>
            </a:r>
          </a:p>
        </p:txBody>
      </p:sp>
    </p:spTree>
    <p:extLst>
      <p:ext uri="{BB962C8B-B14F-4D97-AF65-F5344CB8AC3E}">
        <p14:creationId xmlns:p14="http://schemas.microsoft.com/office/powerpoint/2010/main" val="190860576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03253-A99E-E669-12FB-D61670201CEF}"/>
              </a:ext>
            </a:extLst>
          </p:cNvPr>
          <p:cNvSpPr txBox="1"/>
          <p:nvPr/>
        </p:nvSpPr>
        <p:spPr>
          <a:xfrm>
            <a:off x="3095836" y="116632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Session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9EF04-8B0B-14B7-2681-DCDF7A7F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836712"/>
            <a:ext cx="7344816" cy="465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483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16126-907D-8A2E-426A-DC1088B36213}"/>
              </a:ext>
            </a:extLst>
          </p:cNvPr>
          <p:cNvSpPr txBox="1"/>
          <p:nvPr/>
        </p:nvSpPr>
        <p:spPr>
          <a:xfrm>
            <a:off x="982728" y="1331113"/>
            <a:ext cx="756084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</a:rPr>
              <a:t>Sensor Drift and Noise interference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</a:rPr>
              <a:t>Power Consumption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</a:rPr>
              <a:t>Calibration complexity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4C3BB-74C3-D71A-5A70-BBC0DD9981F9}"/>
              </a:ext>
            </a:extLst>
          </p:cNvPr>
          <p:cNvSpPr txBox="1"/>
          <p:nvPr/>
        </p:nvSpPr>
        <p:spPr>
          <a:xfrm>
            <a:off x="899592" y="977170"/>
            <a:ext cx="7727112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408DA-24E5-5E0D-CD1E-3870222C5731}"/>
              </a:ext>
            </a:extLst>
          </p:cNvPr>
          <p:cNvSpPr txBox="1"/>
          <p:nvPr/>
        </p:nvSpPr>
        <p:spPr>
          <a:xfrm>
            <a:off x="2483768" y="138991"/>
            <a:ext cx="4176464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FF0000"/>
                </a:solidFill>
                <a:latin typeface="+mj-lt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6803057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3207F6-F8AC-2BD6-F912-5E33648663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" t="1456"/>
          <a:stretch/>
        </p:blipFill>
        <p:spPr>
          <a:xfrm>
            <a:off x="633424" y="992919"/>
            <a:ext cx="7877153" cy="4872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CAAA9D-0394-2730-12C6-75A6256CEE4F}"/>
              </a:ext>
            </a:extLst>
          </p:cNvPr>
          <p:cNvSpPr txBox="1"/>
          <p:nvPr/>
        </p:nvSpPr>
        <p:spPr>
          <a:xfrm>
            <a:off x="2987824" y="18864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40514062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</a:t>
            </a:r>
            <a:r>
              <a:rPr lang="en-IN" sz="1400" b="0" i="0" dirty="0" err="1">
                <a:effectLst/>
                <a:latin typeface="Arial" panose="020B0604020202020204" pitchFamily="34" charset="0"/>
              </a:rPr>
              <a:t>Nurshazwani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 Wan Zakaria, and Mohd Razali Bin Md </a:t>
            </a:r>
            <a:r>
              <a:rPr lang="en-IN" sz="1400" b="0" i="0" dirty="0" err="1">
                <a:effectLst/>
                <a:latin typeface="Arial" panose="020B0604020202020204" pitchFamily="34" charset="0"/>
              </a:rPr>
              <a:t>Tomari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6482</TotalTime>
  <Words>737</Words>
  <Application>Microsoft Office PowerPoint</Application>
  <PresentationFormat>On-screen Show (4:3)</PresentationFormat>
  <Paragraphs>135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898</cp:revision>
  <dcterms:created xsi:type="dcterms:W3CDTF">2015-03-06T06:18:00Z</dcterms:created>
  <dcterms:modified xsi:type="dcterms:W3CDTF">2025-11-06T05:01:51Z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