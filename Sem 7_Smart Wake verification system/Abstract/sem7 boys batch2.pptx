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6" r:id="rId2"/>
    <p:sldId id="355" r:id="rId3"/>
    <p:sldId id="356" r:id="rId4"/>
    <p:sldId id="357" r:id="rId5"/>
    <p:sldId id="359" r:id="rId6"/>
    <p:sldId id="358" r:id="rId7"/>
    <p:sldId id="360" r:id="rId8"/>
    <p:sldId id="369" r:id="rId9"/>
    <p:sldId id="361" r:id="rId10"/>
    <p:sldId id="362" r:id="rId11"/>
    <p:sldId id="363" r:id="rId12"/>
    <p:sldId id="371" r:id="rId13"/>
    <p:sldId id="367" r:id="rId14"/>
    <p:sldId id="364" r:id="rId15"/>
    <p:sldId id="365" r:id="rId16"/>
    <p:sldId id="370" r:id="rId17"/>
    <p:sldId id="368" r:id="rId18"/>
    <p:sldId id="304" r:id="rId19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909"/>
    <a:srgbClr val="CB0595"/>
    <a:srgbClr val="F4EBE2"/>
    <a:srgbClr val="B31D98"/>
    <a:srgbClr val="FFDA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7" autoAdjust="0"/>
    <p:restoredTop sz="94624" autoAdjust="0"/>
  </p:normalViewPr>
  <p:slideViewPr>
    <p:cSldViewPr>
      <p:cViewPr varScale="1">
        <p:scale>
          <a:sx n="89" d="100"/>
          <a:sy n="89" d="100"/>
        </p:scale>
        <p:origin x="1546" y="58"/>
      </p:cViewPr>
      <p:guideLst>
        <p:guide orient="horz" pos="2160"/>
        <p:guide pos="2928"/>
      </p:guideLst>
    </p:cSldViewPr>
  </p:slideViewPr>
  <p:outlineViewPr>
    <p:cViewPr>
      <p:scale>
        <a:sx n="33" d="100"/>
        <a:sy n="33" d="100"/>
      </p:scale>
      <p:origin x="0" y="4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CF7680E-169A-A704-87FE-4ADC0A5903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E2A24E-CE6B-15F2-B907-C34DF809814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8AAC2CB-9909-4597-A297-626359C96841}" type="datetimeFigureOut">
              <a:rPr lang="en-US"/>
              <a:pPr>
                <a:defRPr/>
              </a:pPr>
              <a:t>7/24/2026</a:t>
            </a:fld>
            <a:endParaRPr lang="en-US" dirty="0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50453D9-7178-AE84-A41F-997C94023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C655B9-77D0-4B47-3392-6D0863D75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EA624-C286-2413-5595-12355B7633C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C0E5F-C13E-ABC7-EE67-6F693542E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6BBB4D-4916-494C-BF68-66BAB50853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25B34BBB-AC75-B6A5-988D-A7E2B5268E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9325E3CB-FF91-56E2-F384-061C96C4A617}"/>
              </a:ext>
            </a:extLst>
          </p:cNvPr>
          <p:cNvSpPr>
            <a:spLocks noGrp="1"/>
          </p:cNvSpPr>
          <p:nvPr>
            <p:ph type="body" idx="3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EC1899E-10C7-E286-7C5A-6193CDD464D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2A9AE41-0D2A-8177-3552-2D65D02EB7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E8EFA0-8B82-4E8F-83AB-751EC3FCF2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350699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170E70E-9F5C-F2B6-1AC3-41B5A78A30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6469CC-9E20-4468-066D-7A6ACC3C476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689518-C392-463E-AD8A-A8268765D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96425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97950C-C4BC-4E33-24BA-545FDA5B4F7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46EB078-EF0D-EF8A-C7EA-B7798280E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573971-39CA-46CF-A895-61FAB428F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21949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FA8E5E-9CC8-1E02-4019-EA2D3352FA2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1AFC90B-C151-9FFA-F2E1-FC5B78CA7C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B9629F-B0F8-4D9F-9141-82A53696BFB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397124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B83DA635-4A46-6AC2-B6EF-5BA02CCEF7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200FD7-8D8B-70CB-2887-CD078F9B62D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940B97-C6A5-4BC4-8266-53C67604F3F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890618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F3C5371-6321-CA22-9693-C9CB652798F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C2B3D6-5B3A-7B95-9EF7-9F1B150327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70BF8-D139-4659-89E5-5F851F75F54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670496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45DBCD2E-B548-3100-B472-C43538D6E13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98449C9F-4F23-45D5-29A1-7E607AA6D9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9DF58-7ECB-44FF-9950-625F3172FF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8327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2A58542-EB59-5CE2-F351-5C1A14692AD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A5FA53-17C6-C86E-2617-1936235B2F8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955833-97CF-48E6-BA91-773693F6C0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262974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C6BACE-9708-B7C3-652A-3EA7175488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A96E1D-9B83-9D09-72C7-9097C45DF27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7AC6A0-C935-4611-B957-BD76BFBB1B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4829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B38AF2D-8758-B239-FE6B-2198C009BE0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FD493F2-BF53-D93F-F717-F1342F389AB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70BA3C-B5B3-49B5-844D-83F2066BA1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68971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BD9DBB6-2121-C3F1-CB6B-DE0E2D0845E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9BFF119-593A-FF7C-3E7C-73A01A466AC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AD8F4-1758-4CB0-A1B8-A47B84BBF78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20019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3B8D885-228D-A51A-23CC-BC5022A98B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C8099FB-3C3C-3E67-0F7D-6A5B2F4F22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266424-2A66-4F3B-AFF3-B6811C4084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850375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0BFD69-F9D0-8156-7896-63E8213885F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21C937E-613D-ED9C-A42F-1E2C139D795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73D7BB-74AD-430A-B6C1-F79F4FF35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00523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pic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51F56E-8F12-41C3-094A-E072E899A34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16278CF-8470-37D3-7F78-99D5AB78AF5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3C231-2E8B-4C9E-9FCF-D646EFC782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60509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5DA51F5-0CA2-5BFA-0DC0-4DD165D8A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76C1F61-F817-AE0F-CF82-2D7B8F4E5E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40A0874-7104-AFBF-1116-69634E31CB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fontAlgn="auto" hangingPunct="1">
              <a:spcBef>
                <a:spcPct val="0"/>
              </a:spcBef>
              <a:spcAft>
                <a:spcPts val="0"/>
              </a:spcAft>
              <a:buFontTx/>
              <a:buNone/>
              <a:defRPr sz="1400" b="0">
                <a:solidFill>
                  <a:srgbClr val="0000FF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818E478-B68F-C1E2-1935-6D6D4C42B0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18300" y="63500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AAFF3DE-0B95-4689-9E52-034F7E7E02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Line 7">
            <a:extLst>
              <a:ext uri="{FF2B5EF4-FFF2-40B4-BE49-F238E27FC236}">
                <a16:creationId xmlns:a16="http://schemas.microsoft.com/office/drawing/2014/main" id="{DE25827C-87BA-3254-4AAA-16A930F4A2A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85800" y="990600"/>
            <a:ext cx="84582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031" name="Text Box 9">
            <a:extLst>
              <a:ext uri="{FF2B5EF4-FFF2-40B4-BE49-F238E27FC236}">
                <a16:creationId xmlns:a16="http://schemas.microsoft.com/office/drawing/2014/main" id="{F7D50A28-A522-6E34-2AF9-FF9F53F84D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4400" y="6248400"/>
            <a:ext cx="19812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en-US" sz="1200" dirty="0">
              <a:latin typeface="Verdana" panose="020B0604030504040204" pitchFamily="34" charset="0"/>
            </a:endParaRPr>
          </a:p>
        </p:txBody>
      </p:sp>
      <p:sp>
        <p:nvSpPr>
          <p:cNvPr id="1032" name="Text Box 10">
            <a:extLst>
              <a:ext uri="{FF2B5EF4-FFF2-40B4-BE49-F238E27FC236}">
                <a16:creationId xmlns:a16="http://schemas.microsoft.com/office/drawing/2014/main" id="{50122BE8-8277-CE9B-4B6F-0B13B8347B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00" y="6324600"/>
            <a:ext cx="2895600" cy="2746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1D98EE8B-037D-4AA1-9C79-2D0BD37144CF}" type="datetime3">
              <a:rPr lang="en-US" sz="1200" smtClean="0">
                <a:solidFill>
                  <a:srgbClr val="0000FF"/>
                </a:solidFill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24 July 2026</a:t>
            </a:fld>
            <a:endParaRPr lang="en-US" sz="1200" dirty="0">
              <a:solidFill>
                <a:srgbClr val="0000FF"/>
              </a:solidFill>
              <a:latin typeface="Verdana" panose="020B0604030504040204" pitchFamily="34" charset="0"/>
            </a:endParaRPr>
          </a:p>
        </p:txBody>
      </p:sp>
      <p:sp>
        <p:nvSpPr>
          <p:cNvPr id="1033" name="Text Box 11">
            <a:extLst>
              <a:ext uri="{FF2B5EF4-FFF2-40B4-BE49-F238E27FC236}">
                <a16:creationId xmlns:a16="http://schemas.microsoft.com/office/drawing/2014/main" id="{0498752C-4BA1-BFAA-57D0-32606EFF93F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988300" y="6583363"/>
            <a:ext cx="1155700" cy="2746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4572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fld id="{03F5EF0B-FE30-4A8B-A3C8-A04FF47E8BDE}" type="slidenum">
              <a:rPr lang="en-US" altLang="en-US" sz="1200" smtClean="0">
                <a:latin typeface="Verdana" panose="020B0604030504040204" pitchFamily="34" charset="0"/>
              </a:rPr>
              <a:pPr eaLnBrk="1" hangingPunct="1">
                <a:spcBef>
                  <a:spcPct val="50000"/>
                </a:spcBef>
                <a:defRPr/>
              </a:pPr>
              <a:t>‹#›</a:t>
            </a:fld>
            <a:endParaRPr lang="en-US" altLang="en-US" sz="120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/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16/j.measurement.2024.116144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Box 1">
            <a:extLst>
              <a:ext uri="{FF2B5EF4-FFF2-40B4-BE49-F238E27FC236}">
                <a16:creationId xmlns:a16="http://schemas.microsoft.com/office/drawing/2014/main" id="{05CD8D97-BCE2-C28E-EDCA-98AA6C981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30174"/>
            <a:ext cx="86106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br>
              <a:rPr lang="en-US" altLang="en-US"/>
            </a:br>
            <a:endParaRPr lang="en-US" altLang="en-US" b="1">
              <a:cs typeface="Times New Roman" panose="02020603050405020304" pitchFamily="18" charset="0"/>
            </a:endParaRPr>
          </a:p>
        </p:txBody>
      </p:sp>
      <p:sp>
        <p:nvSpPr>
          <p:cNvPr id="3075" name="TextBox 2">
            <a:extLst>
              <a:ext uri="{FF2B5EF4-FFF2-40B4-BE49-F238E27FC236}">
                <a16:creationId xmlns:a16="http://schemas.microsoft.com/office/drawing/2014/main" id="{CB1A0DFA-A208-FCD2-7BCA-ACAC53E518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472" y="3976688"/>
            <a:ext cx="3508375" cy="1631216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cs typeface="Times New Roman" panose="02020603050405020304" pitchFamily="18" charset="0"/>
              </a:rPr>
              <a:t>Team Members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Aswin Raaj .R (23BEE030)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Mani Balaji .S (23BEE043)</a:t>
            </a:r>
          </a:p>
          <a:p>
            <a:pPr marL="457200" indent="-457200">
              <a:spcBef>
                <a:spcPct val="0"/>
              </a:spcBef>
              <a:buFontTx/>
              <a:buAutoNum type="arabicPeriod"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Tharun .V.S     (23BEE057)</a:t>
            </a:r>
          </a:p>
        </p:txBody>
      </p:sp>
      <p:sp>
        <p:nvSpPr>
          <p:cNvPr id="3076" name="TextBox 3">
            <a:extLst>
              <a:ext uri="{FF2B5EF4-FFF2-40B4-BE49-F238E27FC236}">
                <a16:creationId xmlns:a16="http://schemas.microsoft.com/office/drawing/2014/main" id="{88701D58-5D33-1B3B-4DD4-4CC9BD059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1113" y="3992474"/>
            <a:ext cx="3743332" cy="23144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Guided by</a:t>
            </a:r>
            <a:endParaRPr lang="en-US" altLang="en-US" sz="2000" dirty="0">
              <a:cs typeface="Times New Roman" panose="02020603050405020304" pitchFamily="18" charset="0"/>
            </a:endParaRPr>
          </a:p>
          <a:p>
            <a:pPr algn="just">
              <a:buFontTx/>
              <a:buNone/>
              <a:defRPr/>
            </a:pPr>
            <a:r>
              <a:rPr lang="en-US" sz="1800" b="1" dirty="0">
                <a:latin typeface="+mj-lt"/>
              </a:rPr>
              <a:t>Dr.G.Pandiaraj</a:t>
            </a:r>
          </a:p>
          <a:p>
            <a:pPr algn="just">
              <a:buFontTx/>
              <a:buNone/>
              <a:defRPr/>
            </a:pPr>
            <a:r>
              <a:rPr lang="en-US" sz="1800" dirty="0">
                <a:latin typeface="+mj-lt"/>
              </a:rPr>
              <a:t>Assistant Professor (Sl. Grade)</a:t>
            </a:r>
          </a:p>
          <a:p>
            <a:pPr algn="just">
              <a:buFontTx/>
              <a:buNone/>
              <a:defRPr/>
            </a:pPr>
            <a:r>
              <a:rPr lang="en-US" sz="1800" dirty="0">
                <a:latin typeface="+mj-lt"/>
              </a:rPr>
              <a:t>Electrical and Electronics Engineering</a:t>
            </a:r>
          </a:p>
          <a:p>
            <a:pPr eaLnBrk="1" hangingPunct="1">
              <a:buFontTx/>
              <a:buNone/>
              <a:defRPr/>
            </a:pPr>
            <a:endParaRPr lang="en-US" altLang="en-US" sz="1800" dirty="0">
              <a:cs typeface="Calibri" panose="020F0502020204030204" pitchFamily="34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A1A34-8A56-BFF5-690D-DE6E7D4010CC}"/>
              </a:ext>
            </a:extLst>
          </p:cNvPr>
          <p:cNvSpPr txBox="1"/>
          <p:nvPr/>
        </p:nvSpPr>
        <p:spPr>
          <a:xfrm>
            <a:off x="1115616" y="964896"/>
            <a:ext cx="7500937" cy="169277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Behavioural Wakefulness Verification System (BWVS)</a:t>
            </a:r>
            <a:br>
              <a:rPr lang="en-IN" sz="3600" dirty="0">
                <a:solidFill>
                  <a:srgbClr val="FF0000"/>
                </a:solidFill>
              </a:rPr>
            </a:br>
            <a:r>
              <a:rPr lang="en-IN" sz="2000" dirty="0">
                <a:solidFill>
                  <a:srgbClr val="002060"/>
                </a:solidFill>
                <a:latin typeface="+mj-lt"/>
              </a:rPr>
              <a:t>An Intelligent Non-Contact Wakefulness Verification System using </a:t>
            </a:r>
          </a:p>
          <a:p>
            <a:pPr algn="ctr"/>
            <a:r>
              <a:rPr lang="en-IN" sz="2000" dirty="0">
                <a:solidFill>
                  <a:srgbClr val="002060"/>
                </a:solidFill>
                <a:latin typeface="+mj-lt"/>
              </a:rPr>
              <a:t>24 GHz mmWave Radar</a:t>
            </a:r>
            <a:endParaRPr lang="en-IN" sz="36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202CF5-0C24-7FA3-BB4A-542CA9C1C021}"/>
              </a:ext>
            </a:extLst>
          </p:cNvPr>
          <p:cNvSpPr txBox="1"/>
          <p:nvPr/>
        </p:nvSpPr>
        <p:spPr>
          <a:xfrm>
            <a:off x="3419872" y="106954"/>
            <a:ext cx="309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+mj-lt"/>
              </a:rPr>
              <a:t>Project Phase 1</a:t>
            </a:r>
            <a:endParaRPr lang="en-IN" sz="2800" b="1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0FA828-3D2B-88C5-AF7A-0743533A8D3D}"/>
              </a:ext>
            </a:extLst>
          </p:cNvPr>
          <p:cNvSpPr txBox="1"/>
          <p:nvPr/>
        </p:nvSpPr>
        <p:spPr>
          <a:xfrm>
            <a:off x="3209900" y="2881312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+mj-lt"/>
              </a:rPr>
              <a:t>Boys Batch -2</a:t>
            </a:r>
            <a:endParaRPr lang="en-IN" sz="2800" b="1" dirty="0">
              <a:solidFill>
                <a:srgbClr val="002060"/>
              </a:solidFill>
              <a:latin typeface="+mj-lt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0AD085-B00E-10AD-25CD-E4BAD07BC256}"/>
              </a:ext>
            </a:extLst>
          </p:cNvPr>
          <p:cNvSpPr txBox="1"/>
          <p:nvPr/>
        </p:nvSpPr>
        <p:spPr>
          <a:xfrm>
            <a:off x="3360752" y="87601"/>
            <a:ext cx="31554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Problem Statement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00C70-740F-1AF8-8DA0-F174975C884D}"/>
              </a:ext>
            </a:extLst>
          </p:cNvPr>
          <p:cNvSpPr txBox="1"/>
          <p:nvPr/>
        </p:nvSpPr>
        <p:spPr>
          <a:xfrm>
            <a:off x="1115616" y="980728"/>
            <a:ext cx="7200800" cy="2499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+mj-lt"/>
              </a:rPr>
              <a:t>Conventional alarm systems assume that waking up is a single event.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However, in reality: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Users often stop the alarm and immediately return to sleep.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Existing alarms only verify alarm dismissal.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Temporary body movement is mistaken as genuine wakefulness.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False wake-ups reduce productivity and affect daily routines.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0F2490-B17A-344E-EF1C-A2682B12E571}"/>
              </a:ext>
            </a:extLst>
          </p:cNvPr>
          <p:cNvSpPr txBox="1"/>
          <p:nvPr/>
        </p:nvSpPr>
        <p:spPr>
          <a:xfrm>
            <a:off x="1115616" y="422108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FF0000"/>
                </a:solidFill>
                <a:latin typeface="+mj-lt"/>
              </a:rPr>
              <a:t>Core Problem</a:t>
            </a:r>
            <a:endParaRPr lang="en-IN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FCBF21-9F3E-A395-8B6A-44B67E843CF8}"/>
              </a:ext>
            </a:extLst>
          </p:cNvPr>
          <p:cNvSpPr txBox="1"/>
          <p:nvPr/>
        </p:nvSpPr>
        <p:spPr>
          <a:xfrm>
            <a:off x="1043608" y="456933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+mj-lt"/>
              </a:rPr>
              <a:t>The Problem: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E9A44-F9BA-F947-62FF-CDC1C4AA1B67}"/>
              </a:ext>
            </a:extLst>
          </p:cNvPr>
          <p:cNvSpPr txBox="1"/>
          <p:nvPr/>
        </p:nvSpPr>
        <p:spPr>
          <a:xfrm>
            <a:off x="1230071" y="4661321"/>
            <a:ext cx="74168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Existing alarm systems cannot reliably distinguish between temporary awakening and sustained wakefulness.</a:t>
            </a:r>
          </a:p>
        </p:txBody>
      </p:sp>
    </p:spTree>
    <p:extLst>
      <p:ext uri="{BB962C8B-B14F-4D97-AF65-F5344CB8AC3E}">
        <p14:creationId xmlns:p14="http://schemas.microsoft.com/office/powerpoint/2010/main" val="70852759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12E8A-C964-20B1-9E33-4B188489143E}"/>
              </a:ext>
            </a:extLst>
          </p:cNvPr>
          <p:cNvSpPr txBox="1"/>
          <p:nvPr/>
        </p:nvSpPr>
        <p:spPr>
          <a:xfrm>
            <a:off x="3275856" y="116632"/>
            <a:ext cx="2664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Motivation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876A82-0F21-549A-302B-76E7D127191A}"/>
              </a:ext>
            </a:extLst>
          </p:cNvPr>
          <p:cNvSpPr txBox="1"/>
          <p:nvPr/>
        </p:nvSpPr>
        <p:spPr>
          <a:xfrm>
            <a:off x="1259632" y="578297"/>
            <a:ext cx="6408712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Why is this important?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Daily issues caused by ineffective wake-up systems: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Missing classes or work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Sleep inertia after alarm dismissal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Repeated snoozing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Lack of behavioural verification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No monitoring after alarm completion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endParaRPr lang="en-IN" dirty="0">
              <a:latin typeface="+mj-lt"/>
            </a:endParaRPr>
          </a:p>
          <a:p>
            <a:pPr>
              <a:buNone/>
            </a:pPr>
            <a:r>
              <a:rPr lang="en-IN" dirty="0">
                <a:solidFill>
                  <a:srgbClr val="002060"/>
                </a:solidFill>
                <a:latin typeface="+mj-lt"/>
              </a:rPr>
              <a:t>Current systems answer:</a:t>
            </a:r>
          </a:p>
          <a:p>
            <a:pPr>
              <a:buNone/>
            </a:pPr>
            <a:r>
              <a:rPr lang="en-IN" dirty="0">
                <a:latin typeface="+mj-lt"/>
              </a:rPr>
              <a:t>"</a:t>
            </a:r>
            <a:r>
              <a:rPr lang="en-IN" sz="2000" dirty="0">
                <a:solidFill>
                  <a:srgbClr val="FF0000"/>
                </a:solidFill>
                <a:latin typeface="+mj-lt"/>
              </a:rPr>
              <a:t>Was the alarm stopped?"</a:t>
            </a:r>
          </a:p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			Our project answers:</a:t>
            </a:r>
          </a:p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+mj-lt"/>
              </a:rPr>
              <a:t>			"Is the user actually awake?"</a:t>
            </a:r>
          </a:p>
        </p:txBody>
      </p:sp>
    </p:spTree>
    <p:extLst>
      <p:ext uri="{BB962C8B-B14F-4D97-AF65-F5344CB8AC3E}">
        <p14:creationId xmlns:p14="http://schemas.microsoft.com/office/powerpoint/2010/main" val="201386626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29E79C-D675-31A0-188E-EB9771A4D38E}"/>
              </a:ext>
            </a:extLst>
          </p:cNvPr>
          <p:cNvSpPr txBox="1"/>
          <p:nvPr/>
        </p:nvSpPr>
        <p:spPr>
          <a:xfrm>
            <a:off x="3635896" y="188640"/>
            <a:ext cx="2304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44131-9574-F8BE-17B5-D369AF79BD25}"/>
              </a:ext>
            </a:extLst>
          </p:cNvPr>
          <p:cNvSpPr txBox="1"/>
          <p:nvPr/>
        </p:nvSpPr>
        <p:spPr>
          <a:xfrm>
            <a:off x="1187624" y="1052736"/>
            <a:ext cx="7632848" cy="4315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Primary Objective :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Develop an embedded system capable of verifying sustained wakefulness using non-contact sensing.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Specific Objectives :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Detect human presence without wearable devices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Differentiate temporary movement from purposeful activity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Introduce a cognitive wake-up challenge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Monitor wakefulness after alarm dismissal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Reduce false wake-up confirmations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Log wakefulness sessions for later analysis</a:t>
            </a:r>
          </a:p>
        </p:txBody>
      </p:sp>
    </p:spTree>
    <p:extLst>
      <p:ext uri="{BB962C8B-B14F-4D97-AF65-F5344CB8AC3E}">
        <p14:creationId xmlns:p14="http://schemas.microsoft.com/office/powerpoint/2010/main" val="142681929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692D8-92FF-BC46-C408-0F5DA030BF62}"/>
              </a:ext>
            </a:extLst>
          </p:cNvPr>
          <p:cNvSpPr txBox="1"/>
          <p:nvPr/>
        </p:nvSpPr>
        <p:spPr>
          <a:xfrm>
            <a:off x="3059832" y="260649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FB4468-9BFE-96E9-E728-EFBB672A33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160565"/>
              </p:ext>
            </p:extLst>
          </p:nvPr>
        </p:nvGraphicFramePr>
        <p:xfrm>
          <a:off x="1043608" y="1052736"/>
          <a:ext cx="7772400" cy="307848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129998312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1796004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Existing Method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Limitation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7863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Conventional Alarm Clock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Stops after button press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999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Smartphone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Easily snoozed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2196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PIR Motion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Detects only large movement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3948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Camera-based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Privacy concerns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704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Wearable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User 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6142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Smart Home Motion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Cannot verify sustained wakefulness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88022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944420-E726-14E9-516B-98F94050066C}"/>
              </a:ext>
            </a:extLst>
          </p:cNvPr>
          <p:cNvSpPr txBox="1"/>
          <p:nvPr/>
        </p:nvSpPr>
        <p:spPr>
          <a:xfrm>
            <a:off x="859632" y="4725144"/>
            <a:ext cx="79563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rgbClr val="FF0000"/>
                </a:solidFill>
                <a:latin typeface="+mj-lt"/>
              </a:rPr>
              <a:t>Research Gap</a:t>
            </a:r>
          </a:p>
          <a:p>
            <a:pPr>
              <a:buNone/>
            </a:pPr>
            <a:r>
              <a:rPr lang="en-IN" sz="2000" dirty="0">
                <a:solidFill>
                  <a:srgbClr val="002060"/>
                </a:solidFill>
                <a:latin typeface="+mj-lt"/>
              </a:rPr>
              <a:t>No affordable embedded system verifies sustained behavioural wakefulness using non-contact sensing.</a:t>
            </a:r>
          </a:p>
        </p:txBody>
      </p:sp>
    </p:spTree>
    <p:extLst>
      <p:ext uri="{BB962C8B-B14F-4D97-AF65-F5344CB8AC3E}">
        <p14:creationId xmlns:p14="http://schemas.microsoft.com/office/powerpoint/2010/main" val="42200257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F4E3BC-1E6A-D7A9-7825-DE1303C662CF}"/>
              </a:ext>
            </a:extLst>
          </p:cNvPr>
          <p:cNvSpPr txBox="1"/>
          <p:nvPr/>
        </p:nvSpPr>
        <p:spPr>
          <a:xfrm>
            <a:off x="3347864" y="188640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PIR vs mmWave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0327426-644E-C605-1AE9-A804AE2C23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32324"/>
              </p:ext>
            </p:extLst>
          </p:nvPr>
        </p:nvGraphicFramePr>
        <p:xfrm>
          <a:off x="1009836" y="908720"/>
          <a:ext cx="7772400" cy="3200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33005606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41486471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34631634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PIR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HLK-LD2410C mmWave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68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 Stationary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0979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Works in Darkness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30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Motion Sensitivity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6231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 Reliability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9445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Micro-motion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3296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Distance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388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 Wakefulness 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Limited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Excellent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990776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08E3B86-616F-A86C-0D48-4B327DBD5802}"/>
              </a:ext>
            </a:extLst>
          </p:cNvPr>
          <p:cNvSpPr txBox="1"/>
          <p:nvPr/>
        </p:nvSpPr>
        <p:spPr>
          <a:xfrm>
            <a:off x="1009836" y="522920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+mj-lt"/>
              </a:rPr>
              <a:t>Selected Sensor:</a:t>
            </a:r>
            <a:r>
              <a:rPr lang="en-IN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IN" sz="2000" dirty="0">
                <a:latin typeface="+mj-lt"/>
              </a:rPr>
              <a:t>HLK-LD2410C</a:t>
            </a:r>
          </a:p>
        </p:txBody>
      </p:sp>
    </p:spTree>
    <p:extLst>
      <p:ext uri="{BB962C8B-B14F-4D97-AF65-F5344CB8AC3E}">
        <p14:creationId xmlns:p14="http://schemas.microsoft.com/office/powerpoint/2010/main" val="277255358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LK-LD2410C 24GHz mm Wave Human Presence Sensor - Bluetooth, Pre-Soldered Header">
            <a:extLst>
              <a:ext uri="{FF2B5EF4-FFF2-40B4-BE49-F238E27FC236}">
                <a16:creationId xmlns:a16="http://schemas.microsoft.com/office/drawing/2014/main" id="{EBC56A6C-5C97-2621-0A89-D3D8B8847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168" y="598329"/>
            <a:ext cx="2952328" cy="29523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CE2F4D-449F-E4A0-80A6-1881A45FBDFC}"/>
              </a:ext>
            </a:extLst>
          </p:cNvPr>
          <p:cNvSpPr txBox="1"/>
          <p:nvPr/>
        </p:nvSpPr>
        <p:spPr>
          <a:xfrm>
            <a:off x="2915816" y="136664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Why mmWave Radar?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49234F-CD70-9712-D586-45D7B8A3BDF9}"/>
              </a:ext>
            </a:extLst>
          </p:cNvPr>
          <p:cNvSpPr txBox="1"/>
          <p:nvPr/>
        </p:nvSpPr>
        <p:spPr>
          <a:xfrm>
            <a:off x="827584" y="836712"/>
            <a:ext cx="568863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>
                <a:latin typeface="+mj-lt"/>
              </a:rPr>
              <a:t>The HLK-LD2410C radar continuously emits 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24 GHz frequency-modulated electromagnetic waves.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By analyzing reflected signals, it can detect: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Human presence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Distance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Macro movement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Micro movement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Stationary things </a:t>
            </a:r>
          </a:p>
          <a:p>
            <a:pPr>
              <a:buNone/>
            </a:pPr>
            <a:r>
              <a:rPr lang="en-IN" sz="2000" dirty="0">
                <a:latin typeface="+mj-lt"/>
              </a:rPr>
              <a:t>Unlike PIR, it does not depend on infrared radiation.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FC39EE-6727-2487-EE9F-B9B6DD4D7AA7}"/>
              </a:ext>
            </a:extLst>
          </p:cNvPr>
          <p:cNvSpPr txBox="1"/>
          <p:nvPr/>
        </p:nvSpPr>
        <p:spPr>
          <a:xfrm>
            <a:off x="989348" y="5304764"/>
            <a:ext cx="84249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002060"/>
                </a:solidFill>
                <a:latin typeface="+mj-lt"/>
              </a:rPr>
              <a:t>The radar divides space into multiple configurable distance gates, allowing continuous tracking of human presence and movement.</a:t>
            </a:r>
          </a:p>
        </p:txBody>
      </p:sp>
    </p:spTree>
    <p:extLst>
      <p:ext uri="{BB962C8B-B14F-4D97-AF65-F5344CB8AC3E}">
        <p14:creationId xmlns:p14="http://schemas.microsoft.com/office/powerpoint/2010/main" val="303428997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316410-DB0A-8D80-A396-539812B8F2F5}"/>
              </a:ext>
            </a:extLst>
          </p:cNvPr>
          <p:cNvSpPr txBox="1"/>
          <p:nvPr/>
        </p:nvSpPr>
        <p:spPr>
          <a:xfrm>
            <a:off x="1691680" y="116632"/>
            <a:ext cx="6768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mmWave Radar Data Sheet Study – </a:t>
            </a:r>
            <a:r>
              <a:rPr lang="en-IN" b="1" dirty="0" err="1">
                <a:solidFill>
                  <a:srgbClr val="FF0000"/>
                </a:solidFill>
              </a:rPr>
              <a:t>HiLink</a:t>
            </a:r>
            <a:r>
              <a:rPr lang="en-IN" b="1" dirty="0">
                <a:solidFill>
                  <a:srgbClr val="FF0000"/>
                </a:solidFill>
              </a:rPr>
              <a:t>(HLK) LD2410C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945671-7155-0A42-1E70-B17C462FAB7E}"/>
              </a:ext>
            </a:extLst>
          </p:cNvPr>
          <p:cNvSpPr txBox="1"/>
          <p:nvPr/>
        </p:nvSpPr>
        <p:spPr>
          <a:xfrm>
            <a:off x="755576" y="889936"/>
            <a:ext cx="82089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Detection angle: +/-60 </a:t>
            </a:r>
            <a:r>
              <a:rPr lang="en-IN" dirty="0" err="1">
                <a:latin typeface="+mj-lt"/>
              </a:rPr>
              <a:t>deg</a:t>
            </a:r>
            <a:endParaRPr lang="en-IN" dirty="0">
              <a:latin typeface="+mj-lt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Resolution: 0.75m each (0 to 20 gates) – configured separately through HLK app via Bluetooth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Detection Range: 6m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Operating Voltage: 3.3v , Current Consumption: 80mA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Pins: TX, RX, GND, VCC, OUT ( 0 – human present, 1 – absent )</a:t>
            </a:r>
          </a:p>
          <a:p>
            <a:endParaRPr lang="en-IN" dirty="0">
              <a:latin typeface="+mj-lt"/>
            </a:endParaRPr>
          </a:p>
          <a:p>
            <a:endParaRPr lang="en-IN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A8D26-959C-0867-EBE6-9C64F11806B1}"/>
              </a:ext>
            </a:extLst>
          </p:cNvPr>
          <p:cNvSpPr txBox="1"/>
          <p:nvPr/>
        </p:nvSpPr>
        <p:spPr>
          <a:xfrm>
            <a:off x="755576" y="3198260"/>
            <a:ext cx="82089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+mj-lt"/>
              </a:rPr>
              <a:t>UART Communication</a:t>
            </a:r>
            <a:r>
              <a:rPr lang="en-IN" dirty="0">
                <a:latin typeface="+mj-lt"/>
              </a:rPr>
              <a:t>: - sends a packet containing, 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Target State (0-no target, 1-moving target, 2-stationary target, 3-moving+stationary)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Movement target distance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Stationary distance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Movement energy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Stationary energy</a:t>
            </a: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>
                <a:latin typeface="+mj-lt"/>
              </a:rPr>
              <a:t>Detection distance</a:t>
            </a:r>
          </a:p>
        </p:txBody>
      </p:sp>
    </p:spTree>
    <p:extLst>
      <p:ext uri="{BB962C8B-B14F-4D97-AF65-F5344CB8AC3E}">
        <p14:creationId xmlns:p14="http://schemas.microsoft.com/office/powerpoint/2010/main" val="117660971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07FD7B-2597-5FEF-258D-D576902F7D7F}"/>
              </a:ext>
            </a:extLst>
          </p:cNvPr>
          <p:cNvSpPr txBox="1"/>
          <p:nvPr/>
        </p:nvSpPr>
        <p:spPr>
          <a:xfrm>
            <a:off x="2483768" y="188640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Working Principle of mmWave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E8E9-E9DF-AD52-F884-13EC169891D0}"/>
              </a:ext>
            </a:extLst>
          </p:cNvPr>
          <p:cNvSpPr txBox="1"/>
          <p:nvPr/>
        </p:nvSpPr>
        <p:spPr>
          <a:xfrm>
            <a:off x="3275856" y="836712"/>
            <a:ext cx="4572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+mj-lt"/>
              </a:rPr>
              <a:t>    24 GHz Signal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      Transmitted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Reflects from Human Body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       Received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Distance Calculation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Movement Energy </a:t>
            </a:r>
          </a:p>
          <a:p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Presence Detection </a:t>
            </a:r>
            <a:br>
              <a:rPr lang="en-IN" sz="2000" dirty="0">
                <a:latin typeface="+mj-lt"/>
              </a:rPr>
            </a:br>
            <a:r>
              <a:rPr lang="en-IN" sz="2000" dirty="0">
                <a:latin typeface="+mj-lt"/>
              </a:rPr>
              <a:t>	↓ </a:t>
            </a:r>
          </a:p>
          <a:p>
            <a:r>
              <a:rPr lang="en-IN" sz="2000" dirty="0">
                <a:latin typeface="+mj-lt"/>
              </a:rPr>
              <a:t>         ESP32</a:t>
            </a:r>
          </a:p>
        </p:txBody>
      </p:sp>
    </p:spTree>
    <p:extLst>
      <p:ext uri="{BB962C8B-B14F-4D97-AF65-F5344CB8AC3E}">
        <p14:creationId xmlns:p14="http://schemas.microsoft.com/office/powerpoint/2010/main" val="146085703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A261C1-C2A1-BD3C-D1A5-8750D7178B56}"/>
              </a:ext>
            </a:extLst>
          </p:cNvPr>
          <p:cNvSpPr txBox="1"/>
          <p:nvPr/>
        </p:nvSpPr>
        <p:spPr>
          <a:xfrm>
            <a:off x="2843808" y="11663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Proposed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29BB93-5147-0F38-1222-DB22F9EC6474}"/>
              </a:ext>
            </a:extLst>
          </p:cNvPr>
          <p:cNvSpPr txBox="1"/>
          <p:nvPr/>
        </p:nvSpPr>
        <p:spPr>
          <a:xfrm>
            <a:off x="1043608" y="1196752"/>
            <a:ext cx="4572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   Alarm Trigger </a:t>
            </a:r>
          </a:p>
          <a:p>
            <a:r>
              <a:rPr lang="en-IN" dirty="0"/>
              <a:t>	↓</a:t>
            </a:r>
          </a:p>
          <a:p>
            <a:r>
              <a:rPr lang="en-IN" dirty="0"/>
              <a:t> Challenge Phase </a:t>
            </a:r>
          </a:p>
          <a:p>
            <a:r>
              <a:rPr lang="en-IN" dirty="0"/>
              <a:t>	↓ </a:t>
            </a:r>
          </a:p>
          <a:p>
            <a:r>
              <a:rPr lang="en-IN" dirty="0"/>
              <a:t>Behaviour Verification </a:t>
            </a:r>
          </a:p>
          <a:p>
            <a:r>
              <a:rPr lang="en-IN" dirty="0"/>
              <a:t>	↓ </a:t>
            </a:r>
          </a:p>
          <a:p>
            <a:r>
              <a:rPr lang="en-IN" dirty="0"/>
              <a:t>Wake Stabilization </a:t>
            </a:r>
          </a:p>
          <a:p>
            <a:r>
              <a:rPr lang="en-IN" dirty="0"/>
              <a:t>	↓ </a:t>
            </a:r>
          </a:p>
          <a:p>
            <a:r>
              <a:rPr lang="en-IN" dirty="0"/>
              <a:t>Session Complete </a:t>
            </a:r>
          </a:p>
          <a:p>
            <a:r>
              <a:rPr lang="en-IN" dirty="0"/>
              <a:t>	↓ </a:t>
            </a:r>
          </a:p>
          <a:p>
            <a:r>
              <a:rPr lang="en-IN" dirty="0"/>
              <a:t>   Data Logging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44437-1C77-E013-3CFD-598670FF551A}"/>
              </a:ext>
            </a:extLst>
          </p:cNvPr>
          <p:cNvSpPr txBox="1"/>
          <p:nvPr/>
        </p:nvSpPr>
        <p:spPr>
          <a:xfrm>
            <a:off x="4283968" y="836712"/>
            <a:ext cx="4572000" cy="364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Challenge Phase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/>
              <a:t>Activates cognitive response 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Verification Phase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/>
              <a:t>Observes behavioural activity 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Stabilization Phase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/>
              <a:t>Detects possible relapse into sleep </a:t>
            </a:r>
          </a:p>
          <a:p>
            <a:pPr>
              <a:lnSpc>
                <a:spcPct val="150000"/>
              </a:lnSpc>
              <a:buClr>
                <a:srgbClr val="002060"/>
              </a:buClr>
            </a:pPr>
            <a:r>
              <a:rPr lang="en-IN" sz="2000" b="1" dirty="0">
                <a:solidFill>
                  <a:srgbClr val="002060"/>
                </a:solidFill>
                <a:latin typeface="+mj-lt"/>
              </a:rPr>
              <a:t>Logging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dirty="0"/>
              <a:t>Stores wakefulness session for analysis</a:t>
            </a:r>
          </a:p>
        </p:txBody>
      </p:sp>
    </p:spTree>
    <p:extLst>
      <p:ext uri="{BB962C8B-B14F-4D97-AF65-F5344CB8AC3E}">
        <p14:creationId xmlns:p14="http://schemas.microsoft.com/office/powerpoint/2010/main" val="275081012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E81C0A-83A9-77CA-4D3F-969A8F1CFBDC}"/>
              </a:ext>
            </a:extLst>
          </p:cNvPr>
          <p:cNvSpPr txBox="1"/>
          <p:nvPr/>
        </p:nvSpPr>
        <p:spPr>
          <a:xfrm>
            <a:off x="3491880" y="12368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Block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8A5ABB-0011-5BBF-8830-89C1F9099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2696"/>
            <a:ext cx="9144000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2365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97304D-73D7-E1E9-F268-DE0F545D6EA6}"/>
              </a:ext>
            </a:extLst>
          </p:cNvPr>
          <p:cNvSpPr txBox="1"/>
          <p:nvPr/>
        </p:nvSpPr>
        <p:spPr>
          <a:xfrm>
            <a:off x="3203848" y="188640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System 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1C0267-F854-88DE-ABF3-7DAF8F1AB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" y="1052736"/>
            <a:ext cx="9144000" cy="45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63075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1CEF8A-8EB2-3285-CF8E-0446661E9211}"/>
              </a:ext>
            </a:extLst>
          </p:cNvPr>
          <p:cNvSpPr txBox="1"/>
          <p:nvPr/>
        </p:nvSpPr>
        <p:spPr>
          <a:xfrm>
            <a:off x="2987824" y="188640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Hardware components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C3B345C-4AF8-7829-11D7-E31E5B7AE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6869144"/>
              </p:ext>
            </p:extLst>
          </p:nvPr>
        </p:nvGraphicFramePr>
        <p:xfrm>
          <a:off x="901824" y="1052736"/>
          <a:ext cx="7772400" cy="42672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3551083602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592305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>
                          <a:latin typeface="+mj-lt"/>
                        </a:rPr>
                        <a:t>Component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latin typeface="+mj-lt"/>
                        </a:rPr>
                        <a:t>Purpose</a:t>
                      </a:r>
                    </a:p>
                  </a:txBody>
                  <a:tcPr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688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j-lt"/>
                        </a:rPr>
                        <a:t>ESP32 – S3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Main controller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3293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HLK-LD2410C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Presence &amp; movement sensing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30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RTC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Alarm scheduling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7266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LEDs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Challenge indication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612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Push Buttons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Cognitive challenge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5619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j-lt"/>
                        </a:rPr>
                        <a:t>Buzzer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Alarm output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71942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LDR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Ambient light detection (future support)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9355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SD Card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+mj-lt"/>
                        </a:rPr>
                        <a:t>Session logging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01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j-lt"/>
                        </a:rPr>
                        <a:t>Power Supply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+mj-lt"/>
                        </a:rPr>
                        <a:t>System power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42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24960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218310-C1F9-60D9-7D5B-9069EAB52C19}"/>
              </a:ext>
            </a:extLst>
          </p:cNvPr>
          <p:cNvSpPr txBox="1"/>
          <p:nvPr/>
        </p:nvSpPr>
        <p:spPr>
          <a:xfrm>
            <a:off x="3599892" y="188640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Advantages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3A8FDC-2DA0-3F32-CFD1-7595821CBD46}"/>
              </a:ext>
            </a:extLst>
          </p:cNvPr>
          <p:cNvSpPr txBox="1"/>
          <p:nvPr/>
        </p:nvSpPr>
        <p:spPr>
          <a:xfrm>
            <a:off x="1331640" y="1102177"/>
            <a:ext cx="7812360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Non-contact operation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Privacy preserving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Detects stationary humans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Detects micro movements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Behavioural verification instead of simple motion detection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Multi-stage wake-up approach </a:t>
            </a:r>
          </a:p>
          <a:p>
            <a:pPr marL="342900" indent="-34290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Data logging support</a:t>
            </a:r>
          </a:p>
        </p:txBody>
      </p:sp>
    </p:spTree>
    <p:extLst>
      <p:ext uri="{BB962C8B-B14F-4D97-AF65-F5344CB8AC3E}">
        <p14:creationId xmlns:p14="http://schemas.microsoft.com/office/powerpoint/2010/main" val="68852079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D497E9-5024-E376-528E-56A0AF228B50}"/>
              </a:ext>
            </a:extLst>
          </p:cNvPr>
          <p:cNvSpPr txBox="1"/>
          <p:nvPr/>
        </p:nvSpPr>
        <p:spPr>
          <a:xfrm>
            <a:off x="3059832" y="188640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Future Enhancements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FA248-463B-BB63-B1EA-02989B38B60C}"/>
              </a:ext>
            </a:extLst>
          </p:cNvPr>
          <p:cNvSpPr txBox="1"/>
          <p:nvPr/>
        </p:nvSpPr>
        <p:spPr>
          <a:xfrm>
            <a:off x="1043608" y="1052736"/>
            <a:ext cx="4572000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Behavioural confidence scoring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Adaptive wakefulness models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Machine learning based personalization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Multi-sensor data fusion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Smart room integration </a:t>
            </a:r>
          </a:p>
          <a:p>
            <a:pPr marL="285750" indent="-285750">
              <a:lnSpc>
                <a:spcPct val="150000"/>
              </a:lnSpc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IN" sz="2000" dirty="0">
                <a:latin typeface="+mj-lt"/>
              </a:rPr>
              <a:t>Long-term wakefulness analytics</a:t>
            </a:r>
          </a:p>
        </p:txBody>
      </p:sp>
    </p:spTree>
    <p:extLst>
      <p:ext uri="{BB962C8B-B14F-4D97-AF65-F5344CB8AC3E}">
        <p14:creationId xmlns:p14="http://schemas.microsoft.com/office/powerpoint/2010/main" val="15174582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">
            <a:extLst>
              <a:ext uri="{FF2B5EF4-FFF2-40B4-BE49-F238E27FC236}">
                <a16:creationId xmlns:a16="http://schemas.microsoft.com/office/drawing/2014/main" id="{429571EE-C61B-FE5F-D1C8-D905DC878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8" y="136525"/>
            <a:ext cx="4111625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13"/>
              </a:spcBef>
              <a:spcAft>
                <a:spcPts val="13"/>
              </a:spcAft>
              <a:buSzPct val="100000"/>
            </a:pPr>
            <a:r>
              <a:rPr lang="en-IN" altLang="en-US" sz="4400">
                <a:solidFill>
                  <a:srgbClr val="000000"/>
                </a:solidFill>
                <a:latin typeface="Times New Roman" panose="02020603050405020304" pitchFamily="18" charset="0"/>
              </a:rPr>
              <a:t>GANTT CHART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439E67-3C0D-9650-4314-1410E28BA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304672"/>
              </p:ext>
            </p:extLst>
          </p:nvPr>
        </p:nvGraphicFramePr>
        <p:xfrm>
          <a:off x="990600" y="904875"/>
          <a:ext cx="7772399" cy="4295757"/>
        </p:xfrm>
        <a:graphic>
          <a:graphicData uri="http://schemas.openxmlformats.org/drawingml/2006/table">
            <a:tbl>
              <a:tblPr/>
              <a:tblGrid>
                <a:gridCol w="477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73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24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2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72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157910">
                <a:tc>
                  <a:txBody>
                    <a:bodyPr/>
                    <a:lstStyle/>
                    <a:p>
                      <a:r>
                        <a:rPr lang="en-US" sz="1800" dirty="0"/>
                        <a:t>Sl.</a:t>
                      </a:r>
                    </a:p>
                    <a:p>
                      <a:r>
                        <a:rPr lang="en-US" sz="1800" dirty="0"/>
                        <a:t>No.</a:t>
                      </a:r>
                    </a:p>
                  </a:txBody>
                  <a:tcPr marL="62340" marR="62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Task</a:t>
                      </a:r>
                    </a:p>
                  </a:txBody>
                  <a:tcPr marL="62340" marR="6234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b="0" dirty="0">
                        <a:solidFill>
                          <a:srgbClr val="222222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July-26</a:t>
                      </a:r>
                    </a:p>
                  </a:txBody>
                  <a:tcPr marL="62340" marR="62340" marT="0" marB="0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b="0" dirty="0">
                        <a:solidFill>
                          <a:srgbClr val="222222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Aug-26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b="0" dirty="0">
                        <a:solidFill>
                          <a:srgbClr val="222222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Sep-26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b="0" dirty="0">
                        <a:solidFill>
                          <a:srgbClr val="222222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Oct-26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IN" sz="1800" b="0" dirty="0">
                        <a:solidFill>
                          <a:srgbClr val="222222"/>
                        </a:solidFill>
                        <a:latin typeface="Times New Roman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Nov-26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989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1.</a:t>
                      </a:r>
                      <a:endParaRPr lang="en-US" sz="1800" b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latin typeface="+mj-lt"/>
                          <a:ea typeface="Calibri"/>
                          <a:cs typeface="Times New Roman"/>
                        </a:rPr>
                        <a:t>Title Selection,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latin typeface="+mj-lt"/>
                          <a:ea typeface="Calibri"/>
                          <a:cs typeface="Times New Roman"/>
                        </a:rPr>
                        <a:t>System Design,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latin typeface="+mj-lt"/>
                          <a:ea typeface="Calibri"/>
                          <a:cs typeface="Times New Roman"/>
                        </a:rPr>
                        <a:t>Components Selection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2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2.</a:t>
                      </a: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latin typeface="+mj-lt"/>
                          <a:ea typeface="Calibri"/>
                          <a:cs typeface="Times New Roman"/>
                        </a:rPr>
                        <a:t>Components Purchase and Assemble, System firmware design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1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0" dirty="0">
                          <a:solidFill>
                            <a:srgbClr val="222222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3.</a:t>
                      </a: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400" b="0" dirty="0">
                          <a:solidFill>
                            <a:srgbClr val="222222"/>
                          </a:solidFill>
                          <a:latin typeface="+mj-lt"/>
                          <a:ea typeface="Calibri"/>
                          <a:cs typeface="Times New Roman"/>
                        </a:rPr>
                        <a:t>Testing and Validating prototype against edge cases</a:t>
                      </a:r>
                      <a:endParaRPr lang="en-US" sz="1400" b="0" dirty="0"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solidFill>
                          <a:schemeClr val="tx2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771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b="0" dirty="0">
                          <a:latin typeface="Calibri"/>
                          <a:ea typeface="Calibri"/>
                          <a:cs typeface="Times New Roman"/>
                        </a:rPr>
                        <a:t>4.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latin typeface="+mj-lt"/>
                          <a:ea typeface="Calibri"/>
                          <a:cs typeface="Times New Roman"/>
                        </a:rPr>
                        <a:t>Final Prototype and Report Submission</a:t>
                      </a: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2340" marR="6234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291174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3DD19E-2C50-E786-C31F-47406FC0D39F}"/>
              </a:ext>
            </a:extLst>
          </p:cNvPr>
          <p:cNvSpPr txBox="1"/>
          <p:nvPr/>
        </p:nvSpPr>
        <p:spPr>
          <a:xfrm>
            <a:off x="3383868" y="188640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</a:rPr>
              <a:t>References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E2CF3E-D0DD-43E9-0B7E-F825E6231D23}"/>
              </a:ext>
            </a:extLst>
          </p:cNvPr>
          <p:cNvSpPr txBox="1"/>
          <p:nvPr/>
        </p:nvSpPr>
        <p:spPr>
          <a:xfrm>
            <a:off x="1188132" y="908720"/>
            <a:ext cx="748832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Hao, Z., Wang, Y., Li, F.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et al.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Detection of vital signs based on </a:t>
            </a:r>
            <a:r>
              <a:rPr lang="en-IN" b="0" i="0" dirty="0" err="1">
                <a:solidFill>
                  <a:srgbClr val="222222"/>
                </a:solidFill>
                <a:effectLst/>
                <a:latin typeface="+mj-lt"/>
              </a:rPr>
              <a:t>millimeter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 wave radar. </a:t>
            </a:r>
            <a:r>
              <a:rPr lang="en-IN" b="0" i="1" dirty="0">
                <a:solidFill>
                  <a:srgbClr val="222222"/>
                </a:solidFill>
                <a:effectLst/>
                <a:latin typeface="+mj-lt"/>
              </a:rPr>
              <a:t>Sci Rep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 </a:t>
            </a:r>
            <a:r>
              <a:rPr lang="en-IN" b="1" i="0" dirty="0">
                <a:solidFill>
                  <a:srgbClr val="222222"/>
                </a:solidFill>
                <a:effectLst/>
                <a:latin typeface="+mj-lt"/>
              </a:rPr>
              <a:t>15</a:t>
            </a:r>
            <a:r>
              <a:rPr lang="en-IN" b="0" i="0" dirty="0">
                <a:solidFill>
                  <a:srgbClr val="222222"/>
                </a:solidFill>
                <a:effectLst/>
                <a:latin typeface="+mj-lt"/>
              </a:rPr>
              <a:t>, 28112 (2025). https://doi.org/10.1038/s41598-025-09112-w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En-Kang Wu, Qi-Gao Fan, Ming-Chao Li, Ji-Hao Zhang, Jie Jia, Tian Qiang, Cong Wang, Xiao-Feng Gu, Jun-Ge Liang,</a:t>
            </a:r>
          </a:p>
          <a:p>
            <a:r>
              <a:rPr lang="en-IN" i="1" dirty="0">
                <a:latin typeface="+mj-lt"/>
              </a:rPr>
              <a:t>Non-contact monitoring of human cardiorespiratory activity during sleep using FMCW </a:t>
            </a:r>
            <a:r>
              <a:rPr lang="en-IN" i="1" dirty="0" err="1">
                <a:latin typeface="+mj-lt"/>
              </a:rPr>
              <a:t>millimeter</a:t>
            </a:r>
            <a:r>
              <a:rPr lang="en-IN" i="1" dirty="0">
                <a:latin typeface="+mj-lt"/>
              </a:rPr>
              <a:t> wave radar, </a:t>
            </a:r>
            <a:r>
              <a:rPr lang="en-IN" dirty="0">
                <a:latin typeface="+mj-lt"/>
              </a:rPr>
              <a:t>2025, 116144,</a:t>
            </a:r>
          </a:p>
          <a:p>
            <a:r>
              <a:rPr lang="en-IN" dirty="0">
                <a:latin typeface="+mj-lt"/>
              </a:rPr>
              <a:t>ISSN 0263-2241, </a:t>
            </a:r>
            <a:r>
              <a:rPr lang="en-IN" dirty="0">
                <a:latin typeface="+mj-lt"/>
                <a:hlinkClick r:id="rId2"/>
              </a:rPr>
              <a:t>https://doi.org/10.1016/j.measurement.2024.116144</a:t>
            </a:r>
            <a:r>
              <a:rPr lang="en-IN" dirty="0">
                <a:latin typeface="+mj-lt"/>
              </a:rPr>
              <a:t>.</a:t>
            </a:r>
          </a:p>
          <a:p>
            <a:endParaRPr lang="en-IN" dirty="0">
              <a:latin typeface="+mj-lt"/>
            </a:endParaRPr>
          </a:p>
          <a:p>
            <a:r>
              <a:rPr lang="en-IN" dirty="0">
                <a:latin typeface="+mj-lt"/>
              </a:rPr>
              <a:t>M. Alizadeh, G. Shaker, J. C. </a:t>
            </a:r>
            <a:r>
              <a:rPr lang="en-IN" dirty="0" err="1">
                <a:latin typeface="+mj-lt"/>
              </a:rPr>
              <a:t>M.c</a:t>
            </a:r>
            <a:r>
              <a:rPr lang="en-IN" dirty="0">
                <a:latin typeface="+mj-lt"/>
              </a:rPr>
              <a:t> D. Almeida, P. P. Morita and S. Safavi-Naeini, "</a:t>
            </a:r>
            <a:r>
              <a:rPr lang="en-IN" i="1" dirty="0">
                <a:latin typeface="+mj-lt"/>
              </a:rPr>
              <a:t>Remote Monitoring of Human Vital Signs Using mm-Wave FMCW Radar</a:t>
            </a:r>
            <a:r>
              <a:rPr lang="en-IN" dirty="0">
                <a:latin typeface="+mj-lt"/>
              </a:rPr>
              <a:t>," in </a:t>
            </a:r>
            <a:r>
              <a:rPr lang="en-IN" i="1" dirty="0">
                <a:latin typeface="+mj-lt"/>
              </a:rPr>
              <a:t>IEEE Access</a:t>
            </a:r>
            <a:r>
              <a:rPr lang="en-IN" dirty="0">
                <a:latin typeface="+mj-lt"/>
              </a:rPr>
              <a:t>, vol. 7, pp. 54958-54968, 2019, </a:t>
            </a:r>
            <a:r>
              <a:rPr lang="en-IN" dirty="0" err="1">
                <a:latin typeface="+mj-lt"/>
              </a:rPr>
              <a:t>doi</a:t>
            </a:r>
            <a:r>
              <a:rPr lang="en-IN" dirty="0">
                <a:latin typeface="+mj-lt"/>
              </a:rPr>
              <a:t>: 10.1109/ACCESS.2019.2912956. </a:t>
            </a:r>
          </a:p>
          <a:p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90942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2FF227-8F5B-4241-30F4-B49EB5839066}"/>
              </a:ext>
            </a:extLst>
          </p:cNvPr>
          <p:cNvSpPr txBox="1"/>
          <p:nvPr/>
        </p:nvSpPr>
        <p:spPr>
          <a:xfrm>
            <a:off x="3203575" y="2270125"/>
            <a:ext cx="3024188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sz="4000" dirty="0">
                <a:latin typeface="+mj-lt"/>
              </a:rPr>
              <a:t>Thank You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>
        <a:spAutoFit/>
      </a:bodyPr>
      <a:lstStyle>
        <a:defPPr marL="45720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6909</TotalTime>
  <Words>920</Words>
  <Application>Microsoft Office PowerPoint</Application>
  <PresentationFormat>On-screen Show (4:3)</PresentationFormat>
  <Paragraphs>222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Verdana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Administrator</dc:creator>
  <cp:lastModifiedBy>Aswin Raaj</cp:lastModifiedBy>
  <cp:revision>924</cp:revision>
  <dcterms:created xsi:type="dcterms:W3CDTF">2015-03-06T06:18:00Z</dcterms:created>
  <dcterms:modified xsi:type="dcterms:W3CDTF">2026-07-24T08:41:53Z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1033-11.2.0.9984</vt:lpwstr>
  </property>
</Properties>
</file>